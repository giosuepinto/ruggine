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Noto Sans SC"/>
      <p:regular r:id="rId36"/>
      <p:bold r:id="rId37"/>
    </p:embeddedFont>
    <p:embeddedFont>
      <p:font typeface="Hedvig Letters Sans"/>
      <p:regular r:id="rId38"/>
    </p:embeddedFont>
    <p:embeddedFont>
      <p:font typeface="Quattrocento Sans"/>
      <p:regular r:id="rId39"/>
      <p:bold r:id="rId40"/>
      <p:italic r:id="rId41"/>
      <p:boldItalic r:id="rId42"/>
    </p:embeddedFont>
    <p:embeddedFont>
      <p:font typeface="Sorts Mill Goudy"/>
      <p:regular r:id="rId43"/>
      <p: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bold.fntdata"/><Relationship Id="rId20" Type="http://schemas.openxmlformats.org/officeDocument/2006/relationships/slide" Target="slides/slide14.xml"/><Relationship Id="rId42" Type="http://schemas.openxmlformats.org/officeDocument/2006/relationships/font" Target="fonts/QuattrocentoSans-boldItalic.fntdata"/><Relationship Id="rId41" Type="http://schemas.openxmlformats.org/officeDocument/2006/relationships/font" Target="fonts/QuattrocentoSans-italic.fntdata"/><Relationship Id="rId22" Type="http://schemas.openxmlformats.org/officeDocument/2006/relationships/slide" Target="slides/slide16.xml"/><Relationship Id="rId44" Type="http://schemas.openxmlformats.org/officeDocument/2006/relationships/font" Target="fonts/SortsMillGoudy-italic.fntdata"/><Relationship Id="rId21" Type="http://schemas.openxmlformats.org/officeDocument/2006/relationships/slide" Target="slides/slide15.xml"/><Relationship Id="rId43" Type="http://schemas.openxmlformats.org/officeDocument/2006/relationships/font" Target="fonts/SortsMillGoudy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SC-bold.fntdata"/><Relationship Id="rId14" Type="http://schemas.openxmlformats.org/officeDocument/2006/relationships/slide" Target="slides/slide8.xml"/><Relationship Id="rId36" Type="http://schemas.openxmlformats.org/officeDocument/2006/relationships/font" Target="fonts/NotoSansSC-regular.fntdata"/><Relationship Id="rId17" Type="http://schemas.openxmlformats.org/officeDocument/2006/relationships/slide" Target="slides/slide11.xml"/><Relationship Id="rId39" Type="http://schemas.openxmlformats.org/officeDocument/2006/relationships/font" Target="fonts/QuattrocentoSans-regular.fntdata"/><Relationship Id="rId16" Type="http://schemas.openxmlformats.org/officeDocument/2006/relationships/slide" Target="slides/slide10.xml"/><Relationship Id="rId38" Type="http://schemas.openxmlformats.org/officeDocument/2006/relationships/font" Target="fonts/HedvigLetters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1046d6a4_2_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ca1046d6a4_2_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a1046d6a4_2_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a1046d6a4_2_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ca1046d6a4_2_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ca1046d6a4_2_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1046d6a4_2_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a1046d6a4_2_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a1046d6a4_2_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a1046d6a4_2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a1046d6a4_2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a1046d6a4_2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a1046d6a4_2_1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ca1046d6a4_2_1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ca1046d6a4_2_1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a1046d6a4_2_2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ca1046d6a4_2_2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a1046d6a4_2_2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a1046d6a4_2_2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ca1046d6a4_2_2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a1046d6a4_2_2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a1046d6a4_2_2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ca1046d6a4_2_2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ca1046d6a4_2_2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a1046d6a4_2_3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ca1046d6a4_2_3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ca1046d6a4_2_3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a1046d6a4_2_3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ca1046d6a4_2_3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ca1046d6a4_2_3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a1046d6a4_2_4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ca1046d6a4_2_4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a1046d6a4_2_4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a1046d6a4_2_4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ca1046d6a4_2_4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ca1046d6a4_2_4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ca28e715e1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ca28e715e1_1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ca28e715e1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ca1046d6a4_2_5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ca1046d6a4_2_5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ca1046d6a4_2_5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a28e715e1_1_5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ca28e715e1_1_5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ca28e715e1_1_5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ca1046d6a4_2_6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ca1046d6a4_2_6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ca1046d6a4_2_6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ca1046d6a4_2_6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ca1046d6a4_2_6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ca1046d6a4_2_6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a1046d6a4_2_7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ca1046d6a4_2_7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ca1046d6a4_2_7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ca1046d6a4_2_7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ca1046d6a4_2_7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ca1046d6a4_2_7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ca1046d6a4_2_8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ca1046d6a4_2_8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ca1046d6a4_2_8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ca1046d6a4_2_8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g3ca1046d6a4_2_8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g3ca1046d6a4_2_87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ca1046d6a4_2_8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g3ca1046d6a4_2_8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ca1046d6a4_2_8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ca1046d6a4_2_9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ca1046d6a4_2_9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ca1046d6a4_2_9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ca28e715e1_1_11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g3ca28e715e1_1_11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ca28e715e1_1_11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ca28e715e1_1_1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g3ca28e715e1_1_19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ca28e715e1_1_1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ca1046d6a4_2_10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g3ca1046d6a4_2_10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g3ca1046d6a4_2_10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ca1046d6a4_2_10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g3ca1046d6a4_2_10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g3ca1046d6a4_2_10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ca1046d6a4_2_10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g3ca1046d6a4_2_10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ca1046d6a4_2_10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ca1046d6a4_2_11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3ca1046d6a4_2_11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ca1046d6a4_2_11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muovi le scritte" id="61" name="Google Shape;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2" y="3351"/>
            <a:ext cx="8915400" cy="513680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8777" y="8765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0196"/>
                </a:srgbClr>
              </a:gs>
              <a:gs pos="50000">
                <a:srgbClr val="1A1D21">
                  <a:alpha val="70196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3" name="Google Shape;63;p16"/>
          <p:cNvSpPr/>
          <p:nvPr/>
        </p:nvSpPr>
        <p:spPr>
          <a:xfrm>
            <a:off x="285750" y="310754"/>
            <a:ext cx="3981245" cy="146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Corso di Programmazione di Sistema 2025/2026</a:t>
            </a:r>
            <a:endParaRPr b="0" i="0" sz="1200" u="none" cap="none" strike="noStrike"/>
          </a:p>
        </p:txBody>
      </p:sp>
      <p:sp>
        <p:nvSpPr>
          <p:cNvPr id="64" name="Google Shape;64;p16"/>
          <p:cNvSpPr/>
          <p:nvPr/>
        </p:nvSpPr>
        <p:spPr>
          <a:xfrm>
            <a:off x="285750" y="600075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54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Progetto</a:t>
            </a:r>
            <a:endParaRPr b="0" i="0" sz="12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5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Ruggine</a:t>
            </a:r>
            <a:endParaRPr b="0" i="0" sz="1200" u="none" cap="none" strike="noStrike"/>
          </a:p>
        </p:txBody>
      </p:sp>
      <p:sp>
        <p:nvSpPr>
          <p:cNvPr id="65" name="Google Shape;65;p16"/>
          <p:cNvSpPr/>
          <p:nvPr/>
        </p:nvSpPr>
        <p:spPr>
          <a:xfrm>
            <a:off x="285750" y="2314575"/>
            <a:ext cx="867965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Sistema di Messaggistica Real-Time in Rust</a:t>
            </a:r>
            <a:endParaRPr b="0" i="0" sz="1200" u="none" cap="none" strike="noStrike"/>
          </a:p>
        </p:txBody>
      </p:sp>
      <p:sp>
        <p:nvSpPr>
          <p:cNvPr id="66" name="Google Shape;66;p16"/>
          <p:cNvSpPr/>
          <p:nvPr/>
        </p:nvSpPr>
        <p:spPr>
          <a:xfrm>
            <a:off x="285750" y="2943225"/>
            <a:ext cx="178594" cy="142875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521494" y="2914650"/>
            <a:ext cx="75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Gruppo 50</a:t>
            </a:r>
            <a:endParaRPr b="0" i="0" sz="1200" u="none" cap="none" strike="noStrike"/>
          </a:p>
        </p:txBody>
      </p:sp>
      <p:sp>
        <p:nvSpPr>
          <p:cNvPr id="68" name="Google Shape;68;p16"/>
          <p:cNvSpPr/>
          <p:nvPr/>
        </p:nvSpPr>
        <p:spPr>
          <a:xfrm>
            <a:off x="285750" y="4425554"/>
            <a:ext cx="8572500" cy="7144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4E54"/>
          </a:solidFill>
          <a:ln>
            <a:noFill/>
          </a:ln>
        </p:spPr>
      </p:sp>
      <p:sp>
        <p:nvSpPr>
          <p:cNvPr id="69" name="Google Shape;69;p16"/>
          <p:cNvSpPr/>
          <p:nvPr/>
        </p:nvSpPr>
        <p:spPr>
          <a:xfrm>
            <a:off x="285750" y="4657725"/>
            <a:ext cx="86367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0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Alessandro Annecchini • Riccardo Marconi • Francesco Palmisani • Giosuè Pinto</a:t>
            </a:r>
            <a:endParaRPr b="0" i="0" sz="1200" u="none" cap="none" strike="noStrike"/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b="0" i="0" sz="1200" u="none" cap="none" strike="noStrike"/>
          </a:p>
        </p:txBody>
      </p:sp>
      <p:sp>
        <p:nvSpPr>
          <p:cNvPr id="78" name="Google Shape;78;p17"/>
          <p:cNvSpPr/>
          <p:nvPr/>
        </p:nvSpPr>
        <p:spPr>
          <a:xfrm>
            <a:off x="285750" y="514350"/>
            <a:ext cx="8743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Agenda</a:t>
            </a:r>
            <a:endParaRPr b="0" i="0" sz="1200" u="none" cap="none" strike="noStrike"/>
          </a:p>
        </p:txBody>
      </p:sp>
      <p:sp>
        <p:nvSpPr>
          <p:cNvPr id="79" name="Google Shape;79;p17"/>
          <p:cNvSpPr/>
          <p:nvPr/>
        </p:nvSpPr>
        <p:spPr>
          <a:xfrm>
            <a:off x="300038" y="1028700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300038" y="1028700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428625" y="1143000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392906" y="1143000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b="0" i="0" sz="1200" u="none" cap="none" strike="noStrike"/>
          </a:p>
        </p:txBody>
      </p:sp>
      <p:sp>
        <p:nvSpPr>
          <p:cNvPr id="83" name="Google Shape;83;p17"/>
          <p:cNvSpPr/>
          <p:nvPr/>
        </p:nvSpPr>
        <p:spPr>
          <a:xfrm>
            <a:off x="885825" y="1143000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Introduzione</a:t>
            </a:r>
            <a:endParaRPr b="0" i="0" sz="120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885825" y="1371600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Panoramica del progetto e analisi dei requisiti funzionali e non funzionali del sistema.</a:t>
            </a:r>
            <a:endParaRPr b="0" i="0" sz="1200" u="none" cap="none" strike="noStrike"/>
          </a:p>
        </p:txBody>
      </p:sp>
      <p:sp>
        <p:nvSpPr>
          <p:cNvPr id="85" name="Google Shape;85;p17"/>
          <p:cNvSpPr/>
          <p:nvPr/>
        </p:nvSpPr>
        <p:spPr>
          <a:xfrm>
            <a:off x="4643438" y="1028700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4643438" y="1028700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4772025" y="1143000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4736306" y="1143000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b="0" i="0" sz="1200" u="none" cap="none" strike="noStrike"/>
          </a:p>
        </p:txBody>
      </p:sp>
      <p:sp>
        <p:nvSpPr>
          <p:cNvPr id="89" name="Google Shape;89;p17"/>
          <p:cNvSpPr/>
          <p:nvPr/>
        </p:nvSpPr>
        <p:spPr>
          <a:xfrm>
            <a:off x="5229225" y="1143000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Architettura</a:t>
            </a:r>
            <a:endParaRPr b="0" i="0" sz="1200" u="none" cap="none" strike="noStrike"/>
          </a:p>
        </p:txBody>
      </p:sp>
      <p:sp>
        <p:nvSpPr>
          <p:cNvPr id="90" name="Google Shape;90;p17"/>
          <p:cNvSpPr/>
          <p:nvPr/>
        </p:nvSpPr>
        <p:spPr>
          <a:xfrm>
            <a:off x="5229225" y="1371600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Struttura a 3 livelli: Frontend, Backend e Database con le tecnologie adottate.</a:t>
            </a:r>
            <a:endParaRPr b="0" i="0" sz="1200" u="none" cap="none" strike="noStrike"/>
          </a:p>
        </p:txBody>
      </p:sp>
      <p:sp>
        <p:nvSpPr>
          <p:cNvPr id="91" name="Google Shape;91;p17"/>
          <p:cNvSpPr/>
          <p:nvPr/>
        </p:nvSpPr>
        <p:spPr>
          <a:xfrm>
            <a:off x="300038" y="2053829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300038" y="2053829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28625" y="2168129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392906" y="2168129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b="0" i="0" sz="1200" u="none" cap="none" strike="noStrike"/>
          </a:p>
        </p:txBody>
      </p:sp>
      <p:sp>
        <p:nvSpPr>
          <p:cNvPr id="95" name="Google Shape;95;p17"/>
          <p:cNvSpPr/>
          <p:nvPr/>
        </p:nvSpPr>
        <p:spPr>
          <a:xfrm>
            <a:off x="885825" y="2168129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Frontend React</a:t>
            </a:r>
            <a:endParaRPr b="0" i="0" sz="1200" u="none" cap="none" strike="noStrike"/>
          </a:p>
        </p:txBody>
      </p:sp>
      <p:sp>
        <p:nvSpPr>
          <p:cNvPr id="96" name="Google Shape;96;p17"/>
          <p:cNvSpPr/>
          <p:nvPr/>
        </p:nvSpPr>
        <p:spPr>
          <a:xfrm>
            <a:off x="885825" y="2396729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Componenti, pagine principali e gestione dello stato globale con WebSocket Context.</a:t>
            </a:r>
            <a:endParaRPr b="0" i="0" sz="1200" u="none" cap="none" strike="noStrike"/>
          </a:p>
        </p:txBody>
      </p:sp>
      <p:sp>
        <p:nvSpPr>
          <p:cNvPr id="97" name="Google Shape;97;p17"/>
          <p:cNvSpPr/>
          <p:nvPr/>
        </p:nvSpPr>
        <p:spPr>
          <a:xfrm>
            <a:off x="4643438" y="2053829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4643438" y="2053829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772025" y="2168129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736306" y="2168129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b="0" i="0" sz="1200" u="none" cap="none" strike="noStrike"/>
          </a:p>
        </p:txBody>
      </p:sp>
      <p:sp>
        <p:nvSpPr>
          <p:cNvPr id="101" name="Google Shape;101;p17"/>
          <p:cNvSpPr/>
          <p:nvPr/>
        </p:nvSpPr>
        <p:spPr>
          <a:xfrm>
            <a:off x="5229225" y="2168129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Backend Rust</a:t>
            </a:r>
            <a:endParaRPr b="0" i="0" sz="120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5229225" y="2396729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 Controller-Service-Repository, autenticazione JWT e gestione messaggi real-time.</a:t>
            </a:r>
            <a:endParaRPr b="0" i="0" sz="120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300038" y="3078956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00038" y="3078956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428625" y="3193256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92906" y="3193256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b="0" i="0" sz="1200" u="none" cap="none" strike="noStrike"/>
          </a:p>
        </p:txBody>
      </p:sp>
      <p:sp>
        <p:nvSpPr>
          <p:cNvPr id="107" name="Google Shape;107;p17"/>
          <p:cNvSpPr/>
          <p:nvPr/>
        </p:nvSpPr>
        <p:spPr>
          <a:xfrm>
            <a:off x="885825" y="3193256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Database</a:t>
            </a:r>
            <a:endParaRPr b="0" i="0" sz="120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885825" y="3421856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Schema relazionale, tabelle principali e meccanismi di sicurezza e integrità.</a:t>
            </a:r>
            <a:endParaRPr b="0" i="0" sz="1200" u="none" cap="none" strike="noStrike"/>
          </a:p>
        </p:txBody>
      </p:sp>
      <p:sp>
        <p:nvSpPr>
          <p:cNvPr id="109" name="Google Shape;109;p17"/>
          <p:cNvSpPr/>
          <p:nvPr/>
        </p:nvSpPr>
        <p:spPr>
          <a:xfrm>
            <a:off x="4643438" y="3078956"/>
            <a:ext cx="4214813" cy="914400"/>
          </a:xfrm>
          <a:custGeom>
            <a:rect b="b" l="l" r="r" t="t"/>
            <a:pathLst>
              <a:path extrusionOk="0" h="1219200" w="561975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643438" y="3078956"/>
            <a:ext cx="28575" cy="914400"/>
          </a:xfrm>
          <a:custGeom>
            <a:rect b="b" l="l" r="r" t="t"/>
            <a:pathLst>
              <a:path extrusionOk="0" h="1219200" w="381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772025" y="3193256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736306" y="3193256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b="0" i="0" sz="1200" u="none" cap="none" strike="noStrike"/>
          </a:p>
        </p:txBody>
      </p:sp>
      <p:sp>
        <p:nvSpPr>
          <p:cNvPr id="113" name="Google Shape;113;p17"/>
          <p:cNvSpPr/>
          <p:nvPr/>
        </p:nvSpPr>
        <p:spPr>
          <a:xfrm>
            <a:off x="5229225" y="3193256"/>
            <a:ext cx="35861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Esperienza Utente</a:t>
            </a:r>
            <a:endParaRPr b="0" i="0" sz="1200" u="none" cap="none" strike="noStrike"/>
          </a:p>
        </p:txBody>
      </p:sp>
      <p:sp>
        <p:nvSpPr>
          <p:cNvPr id="114" name="Google Shape;114;p17"/>
          <p:cNvSpPr/>
          <p:nvPr/>
        </p:nvSpPr>
        <p:spPr>
          <a:xfrm>
            <a:off x="5229225" y="3421856"/>
            <a:ext cx="3571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Funzionalità principali, interfaccia intuitiva e sistema di notifiche in tempo reale.</a:t>
            </a:r>
            <a:endParaRPr b="0" i="0" sz="1200" u="none" cap="none" strike="noStrike"/>
          </a:p>
        </p:txBody>
      </p:sp>
      <p:sp>
        <p:nvSpPr>
          <p:cNvPr id="115" name="Google Shape;115;p17"/>
          <p:cNvSpPr/>
          <p:nvPr/>
        </p:nvSpPr>
        <p:spPr>
          <a:xfrm>
            <a:off x="300038" y="4104085"/>
            <a:ext cx="8558213" cy="757238"/>
          </a:xfrm>
          <a:custGeom>
            <a:rect b="b" l="l" r="r" t="t"/>
            <a:pathLst>
              <a:path extrusionOk="0" h="1009650" w="11410950">
                <a:moveTo>
                  <a:pt x="3810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933452"/>
                </a:lnTo>
                <a:cubicBezTo>
                  <a:pt x="11410950" y="975535"/>
                  <a:pt x="11376835" y="1009650"/>
                  <a:pt x="113347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00038" y="4104085"/>
            <a:ext cx="28575" cy="757238"/>
          </a:xfrm>
          <a:custGeom>
            <a:rect b="b" l="l" r="r" t="t"/>
            <a:pathLst>
              <a:path extrusionOk="0" h="1009650" w="3810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28625" y="4218385"/>
            <a:ext cx="342900" cy="3429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392906" y="4218385"/>
            <a:ext cx="414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1A1D21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b="0" i="0" sz="120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885825" y="4218385"/>
            <a:ext cx="40147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Sviluppi Futuri</a:t>
            </a:r>
            <a:endParaRPr b="0" i="0" sz="12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885825" y="4446985"/>
            <a:ext cx="4000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Microservizi, containerizzazione, notifiche push e miglioramenti alla sicurezza.</a:t>
            </a:r>
            <a:endParaRPr b="0" i="0" sz="1200" u="none" cap="none" strike="noStrike"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1_intro.png" id="127" name="Google Shape;127;p18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29" name="Google Shape;129;p18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b="0" i="0" sz="1200" u="none" cap="none" strike="noStrike"/>
          </a:p>
        </p:txBody>
      </p:sp>
      <p:sp>
        <p:nvSpPr>
          <p:cNvPr id="130" name="Google Shape;130;p18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Introduzione</a:t>
            </a:r>
            <a:endParaRPr b="0" i="0" sz="120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Panoramica del progetto e requisiti</a:t>
            </a:r>
            <a:endParaRPr b="0" i="0" sz="1200" u="none" cap="none" strike="noStrike"/>
          </a:p>
        </p:txBody>
      </p:sp>
      <p:sp>
        <p:nvSpPr>
          <p:cNvPr id="132" name="Google Shape;132;p18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Overview</a:t>
            </a:r>
            <a:endParaRPr b="0" i="0" sz="120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Il Progetto Ruggine</a:t>
            </a:r>
            <a:endParaRPr b="0" i="0" sz="1200" u="none" cap="none" strike="noStrike"/>
          </a:p>
        </p:txBody>
      </p:sp>
      <p:sp>
        <p:nvSpPr>
          <p:cNvPr id="142" name="Google Shape;142;p19"/>
          <p:cNvSpPr/>
          <p:nvPr/>
        </p:nvSpPr>
        <p:spPr>
          <a:xfrm>
            <a:off x="300038" y="914400"/>
            <a:ext cx="5057775" cy="1614488"/>
          </a:xfrm>
          <a:custGeom>
            <a:rect b="b" l="l" r="r" t="t"/>
            <a:pathLst>
              <a:path extrusionOk="0" h="2152650" w="6743700">
                <a:moveTo>
                  <a:pt x="38100" y="0"/>
                </a:moveTo>
                <a:lnTo>
                  <a:pt x="6667496" y="0"/>
                </a:lnTo>
                <a:cubicBezTo>
                  <a:pt x="6709582" y="0"/>
                  <a:pt x="6743700" y="34118"/>
                  <a:pt x="6743700" y="76204"/>
                </a:cubicBezTo>
                <a:lnTo>
                  <a:pt x="6743700" y="2076446"/>
                </a:lnTo>
                <a:cubicBezTo>
                  <a:pt x="6743700" y="2118532"/>
                  <a:pt x="6709582" y="2152650"/>
                  <a:pt x="6667496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300038" y="914400"/>
            <a:ext cx="28575" cy="1614488"/>
          </a:xfrm>
          <a:custGeom>
            <a:rect b="b" l="l" r="r" t="t"/>
            <a:pathLst>
              <a:path extrusionOk="0" h="2152650" w="3810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57200" y="1057275"/>
            <a:ext cx="48434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Obiettivo del Sistema</a:t>
            </a:r>
            <a:endParaRPr b="0" i="0" sz="120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457200" y="1371600"/>
            <a:ext cx="4814887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Realizzare un'applicazione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client/server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 la gestione di una chat testuale che consenta la comunicazione tra utenti e la creazione di gruppi per la condivisione di messaggi in tempo reale.</a:t>
            </a:r>
            <a:endParaRPr b="0" i="0" sz="120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457200" y="2014538"/>
            <a:ext cx="48148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sistema è progettato per garantire </a:t>
            </a: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prestazioni elevate 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sicurezza robusta 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</a:t>
            </a: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scalabilità 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sfruttando le </a:t>
            </a:r>
            <a:r>
              <a:rPr lang="it" sz="900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caratteristiche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uniche del linguaggio Rust.</a:t>
            </a:r>
            <a:endParaRPr b="0" i="0" sz="1200" u="none" cap="none" strike="noStrike"/>
          </a:p>
        </p:txBody>
      </p:sp>
      <p:sp>
        <p:nvSpPr>
          <p:cNvPr id="147" name="Google Shape;147;p19"/>
          <p:cNvSpPr/>
          <p:nvPr/>
        </p:nvSpPr>
        <p:spPr>
          <a:xfrm>
            <a:off x="285750" y="2643188"/>
            <a:ext cx="5072063" cy="1628775"/>
          </a:xfrm>
          <a:custGeom>
            <a:rect b="b" l="l" r="r" t="t"/>
            <a:pathLst>
              <a:path extrusionOk="0" h="2171700" w="6762750">
                <a:moveTo>
                  <a:pt x="76205" y="0"/>
                </a:moveTo>
                <a:lnTo>
                  <a:pt x="6686545" y="0"/>
                </a:lnTo>
                <a:cubicBezTo>
                  <a:pt x="6728632" y="0"/>
                  <a:pt x="6762750" y="34118"/>
                  <a:pt x="6762750" y="76205"/>
                </a:cubicBezTo>
                <a:lnTo>
                  <a:pt x="6762750" y="2095495"/>
                </a:lnTo>
                <a:cubicBezTo>
                  <a:pt x="6762750" y="2137582"/>
                  <a:pt x="6728632" y="2171700"/>
                  <a:pt x="6686545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28625" y="2786063"/>
            <a:ext cx="4857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Team di Sviluppo - Gruppo 50</a:t>
            </a:r>
            <a:endParaRPr b="0" i="0" sz="12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428625" y="3071813"/>
            <a:ext cx="2350294" cy="485775"/>
          </a:xfrm>
          <a:custGeom>
            <a:rect b="b" l="l" r="r" t="t"/>
            <a:pathLst>
              <a:path extrusionOk="0" h="647700" w="3133725">
                <a:moveTo>
                  <a:pt x="38098" y="0"/>
                </a:moveTo>
                <a:lnTo>
                  <a:pt x="3095627" y="0"/>
                </a:lnTo>
                <a:cubicBezTo>
                  <a:pt x="3116654" y="0"/>
                  <a:pt x="3133725" y="17071"/>
                  <a:pt x="3133725" y="38098"/>
                </a:cubicBezTo>
                <a:lnTo>
                  <a:pt x="3133725" y="609602"/>
                </a:lnTo>
                <a:cubicBezTo>
                  <a:pt x="3133725" y="630643"/>
                  <a:pt x="3116668" y="647700"/>
                  <a:pt x="30956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514350" y="3171825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82204" y="3171825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AA</a:t>
            </a:r>
            <a:endParaRPr b="0" i="0" sz="120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885825" y="3157538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Alessandro Annecchini</a:t>
            </a:r>
            <a:endParaRPr b="0" i="0" sz="120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885825" y="3328988"/>
            <a:ext cx="132159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s343760</a:t>
            </a:r>
            <a:endParaRPr b="0" i="0" sz="120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2866039" y="3071813"/>
            <a:ext cx="2350294" cy="485775"/>
          </a:xfrm>
          <a:custGeom>
            <a:rect b="b" l="l" r="r" t="t"/>
            <a:pathLst>
              <a:path extrusionOk="0" h="647700" w="3133725">
                <a:moveTo>
                  <a:pt x="38098" y="0"/>
                </a:moveTo>
                <a:lnTo>
                  <a:pt x="3095627" y="0"/>
                </a:lnTo>
                <a:cubicBezTo>
                  <a:pt x="3116654" y="0"/>
                  <a:pt x="3133725" y="17071"/>
                  <a:pt x="3133725" y="38098"/>
                </a:cubicBezTo>
                <a:lnTo>
                  <a:pt x="3133725" y="609602"/>
                </a:lnTo>
                <a:cubicBezTo>
                  <a:pt x="3133725" y="630643"/>
                  <a:pt x="3116668" y="647700"/>
                  <a:pt x="30956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2951764" y="3171825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2919617" y="3171825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RM</a:t>
            </a:r>
            <a:endParaRPr b="0" i="0" sz="120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3323239" y="3157538"/>
            <a:ext cx="10144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Riccardo Marconi</a:t>
            </a:r>
            <a:endParaRPr b="0" i="0" sz="120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3323239" y="3328988"/>
            <a:ext cx="10072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s342227</a:t>
            </a:r>
            <a:endParaRPr b="0" i="0" sz="120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428625" y="3643313"/>
            <a:ext cx="2350294" cy="485775"/>
          </a:xfrm>
          <a:custGeom>
            <a:rect b="b" l="l" r="r" t="t"/>
            <a:pathLst>
              <a:path extrusionOk="0" h="647700" w="3133725">
                <a:moveTo>
                  <a:pt x="38098" y="0"/>
                </a:moveTo>
                <a:lnTo>
                  <a:pt x="3095627" y="0"/>
                </a:lnTo>
                <a:cubicBezTo>
                  <a:pt x="3116654" y="0"/>
                  <a:pt x="3133725" y="17071"/>
                  <a:pt x="3133725" y="38098"/>
                </a:cubicBezTo>
                <a:lnTo>
                  <a:pt x="3133725" y="609602"/>
                </a:lnTo>
                <a:cubicBezTo>
                  <a:pt x="3133725" y="630643"/>
                  <a:pt x="3116668" y="647700"/>
                  <a:pt x="30956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14350" y="3743325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482204" y="3743325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FP</a:t>
            </a:r>
            <a:endParaRPr b="0" i="0" sz="120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885825" y="3729038"/>
            <a:ext cx="11930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Francesco Palmisani</a:t>
            </a:r>
            <a:endParaRPr b="0" i="0" sz="120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885825" y="3900488"/>
            <a:ext cx="1185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s343429</a:t>
            </a:r>
            <a:endParaRPr b="0" i="0" sz="1200" u="none" cap="none" strike="noStrike"/>
          </a:p>
        </p:txBody>
      </p:sp>
      <p:sp>
        <p:nvSpPr>
          <p:cNvPr id="164" name="Google Shape;164;p19"/>
          <p:cNvSpPr/>
          <p:nvPr/>
        </p:nvSpPr>
        <p:spPr>
          <a:xfrm>
            <a:off x="2866039" y="3643313"/>
            <a:ext cx="2350294" cy="485775"/>
          </a:xfrm>
          <a:custGeom>
            <a:rect b="b" l="l" r="r" t="t"/>
            <a:pathLst>
              <a:path extrusionOk="0" h="647700" w="3133725">
                <a:moveTo>
                  <a:pt x="38098" y="0"/>
                </a:moveTo>
                <a:lnTo>
                  <a:pt x="3095627" y="0"/>
                </a:lnTo>
                <a:cubicBezTo>
                  <a:pt x="3116654" y="0"/>
                  <a:pt x="3133725" y="17071"/>
                  <a:pt x="3133725" y="38098"/>
                </a:cubicBezTo>
                <a:lnTo>
                  <a:pt x="3133725" y="609602"/>
                </a:lnTo>
                <a:cubicBezTo>
                  <a:pt x="3133725" y="630643"/>
                  <a:pt x="3116668" y="647700"/>
                  <a:pt x="30956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2951764" y="3743325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2919617" y="3743325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</a:t>
            </a:r>
            <a:endParaRPr b="0" i="0" sz="120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3323239" y="3729038"/>
            <a:ext cx="7643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Giosuè Pinto</a:t>
            </a:r>
            <a:endParaRPr b="0" i="0" sz="120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3323239" y="3900488"/>
            <a:ext cx="7572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s342711</a:t>
            </a:r>
            <a:endParaRPr b="0" i="0" sz="12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5478531" y="917972"/>
            <a:ext cx="3378994" cy="2850356"/>
          </a:xfrm>
          <a:custGeom>
            <a:rect b="b" l="l" r="r" t="t"/>
            <a:pathLst>
              <a:path extrusionOk="0" h="3800475" w="4505325">
                <a:moveTo>
                  <a:pt x="76200" y="0"/>
                </a:moveTo>
                <a:lnTo>
                  <a:pt x="4429125" y="0"/>
                </a:lnTo>
                <a:cubicBezTo>
                  <a:pt x="4471209" y="0"/>
                  <a:pt x="4505325" y="34116"/>
                  <a:pt x="4505325" y="76200"/>
                </a:cubicBezTo>
                <a:lnTo>
                  <a:pt x="4505325" y="3724275"/>
                </a:lnTo>
                <a:cubicBezTo>
                  <a:pt x="4505325" y="3766359"/>
                  <a:pt x="4471209" y="3800475"/>
                  <a:pt x="4429125" y="3800475"/>
                </a:cubicBezTo>
                <a:lnTo>
                  <a:pt x="76200" y="3800475"/>
                </a:lnTo>
                <a:cubicBezTo>
                  <a:pt x="34116" y="3800475"/>
                  <a:pt x="0" y="3766359"/>
                  <a:pt x="0" y="37242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624977" y="1064419"/>
            <a:ext cx="31575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Metriche Progetto</a:t>
            </a:r>
            <a:endParaRPr b="0" i="0" sz="120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5624977" y="1393031"/>
            <a:ext cx="11572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Dimensione Windows</a:t>
            </a:r>
            <a:endParaRPr b="0" i="0" sz="120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8168264" y="1378744"/>
            <a:ext cx="614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6.73 MB</a:t>
            </a:r>
            <a:endParaRPr b="0" i="0" sz="120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5624977" y="1607344"/>
            <a:ext cx="3086100" cy="57150"/>
          </a:xfrm>
          <a:custGeom>
            <a:rect b="b" l="l" r="r" t="t"/>
            <a:pathLst>
              <a:path extrusionOk="0" h="76200" w="4114800">
                <a:moveTo>
                  <a:pt x="38100" y="0"/>
                </a:moveTo>
                <a:lnTo>
                  <a:pt x="4076700" y="0"/>
                </a:lnTo>
                <a:cubicBezTo>
                  <a:pt x="4097728" y="0"/>
                  <a:pt x="4114800" y="17072"/>
                  <a:pt x="4114800" y="38100"/>
                </a:cubicBezTo>
                <a:lnTo>
                  <a:pt x="4114800" y="38100"/>
                </a:lnTo>
                <a:cubicBezTo>
                  <a:pt x="4114800" y="59128"/>
                  <a:pt x="4097728" y="76200"/>
                  <a:pt x="407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624977" y="1607344"/>
            <a:ext cx="2621756" cy="57150"/>
          </a:xfrm>
          <a:custGeom>
            <a:rect b="b" l="l" r="r" t="t"/>
            <a:pathLst>
              <a:path extrusionOk="0" h="76200" w="3495675">
                <a:moveTo>
                  <a:pt x="38100" y="0"/>
                </a:moveTo>
                <a:lnTo>
                  <a:pt x="3457575" y="0"/>
                </a:lnTo>
                <a:cubicBezTo>
                  <a:pt x="3478603" y="0"/>
                  <a:pt x="3495675" y="17072"/>
                  <a:pt x="3495675" y="38100"/>
                </a:cubicBezTo>
                <a:lnTo>
                  <a:pt x="3495675" y="38100"/>
                </a:lnTo>
                <a:cubicBezTo>
                  <a:pt x="3495675" y="59128"/>
                  <a:pt x="3478603" y="76200"/>
                  <a:pt x="34575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624977" y="179308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Dimensione macOS</a:t>
            </a:r>
            <a:endParaRPr b="0" i="0" sz="120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8247683" y="1778794"/>
            <a:ext cx="5286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7.9 MB</a:t>
            </a:r>
            <a:endParaRPr b="0" i="0" sz="1200" u="none" cap="none" strike="noStrike"/>
          </a:p>
        </p:txBody>
      </p:sp>
      <p:sp>
        <p:nvSpPr>
          <p:cNvPr id="177" name="Google Shape;177;p19"/>
          <p:cNvSpPr/>
          <p:nvPr/>
        </p:nvSpPr>
        <p:spPr>
          <a:xfrm>
            <a:off x="5624977" y="2007394"/>
            <a:ext cx="3086100" cy="57150"/>
          </a:xfrm>
          <a:custGeom>
            <a:rect b="b" l="l" r="r" t="t"/>
            <a:pathLst>
              <a:path extrusionOk="0" h="76200" w="4114800">
                <a:moveTo>
                  <a:pt x="38100" y="0"/>
                </a:moveTo>
                <a:lnTo>
                  <a:pt x="4076700" y="0"/>
                </a:lnTo>
                <a:cubicBezTo>
                  <a:pt x="4097728" y="0"/>
                  <a:pt x="4114800" y="17072"/>
                  <a:pt x="4114800" y="38100"/>
                </a:cubicBezTo>
                <a:lnTo>
                  <a:pt x="4114800" y="38100"/>
                </a:lnTo>
                <a:cubicBezTo>
                  <a:pt x="4114800" y="59128"/>
                  <a:pt x="4097728" y="76200"/>
                  <a:pt x="407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624977" y="2007394"/>
            <a:ext cx="3086100" cy="57150"/>
          </a:xfrm>
          <a:custGeom>
            <a:rect b="b" l="l" r="r" t="t"/>
            <a:pathLst>
              <a:path extrusionOk="0" h="76200" w="4114800">
                <a:moveTo>
                  <a:pt x="38100" y="0"/>
                </a:moveTo>
                <a:lnTo>
                  <a:pt x="4076700" y="0"/>
                </a:lnTo>
                <a:cubicBezTo>
                  <a:pt x="4097728" y="0"/>
                  <a:pt x="4114800" y="17072"/>
                  <a:pt x="4114800" y="38100"/>
                </a:cubicBezTo>
                <a:lnTo>
                  <a:pt x="4114800" y="38100"/>
                </a:lnTo>
                <a:cubicBezTo>
                  <a:pt x="4114800" y="59128"/>
                  <a:pt x="4097728" y="76200"/>
                  <a:pt x="407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624977" y="2193131"/>
            <a:ext cx="71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Compatibilità</a:t>
            </a:r>
            <a:endParaRPr b="0" i="0" sz="120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7549381" y="2178844"/>
            <a:ext cx="1228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Multipiattaforma</a:t>
            </a:r>
            <a:endParaRPr b="0" i="0" sz="120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5657125" y="2436019"/>
            <a:ext cx="150019" cy="171450"/>
          </a:xfrm>
          <a:custGeom>
            <a:rect b="b" l="l" r="r" t="t"/>
            <a:pathLst>
              <a:path extrusionOk="0" h="228600" w="200025">
                <a:moveTo>
                  <a:pt x="0" y="41836"/>
                </a:moveTo>
                <a:lnTo>
                  <a:pt x="81975" y="30540"/>
                </a:lnTo>
                <a:lnTo>
                  <a:pt x="81975" y="109746"/>
                </a:lnTo>
                <a:lnTo>
                  <a:pt x="0" y="109746"/>
                </a:lnTo>
                <a:lnTo>
                  <a:pt x="0" y="41836"/>
                </a:lnTo>
                <a:close/>
                <a:moveTo>
                  <a:pt x="0" y="186764"/>
                </a:moveTo>
                <a:lnTo>
                  <a:pt x="81975" y="198060"/>
                </a:lnTo>
                <a:lnTo>
                  <a:pt x="81975" y="119836"/>
                </a:lnTo>
                <a:lnTo>
                  <a:pt x="0" y="119836"/>
                </a:lnTo>
                <a:lnTo>
                  <a:pt x="0" y="186764"/>
                </a:lnTo>
                <a:close/>
                <a:moveTo>
                  <a:pt x="90994" y="199266"/>
                </a:moveTo>
                <a:lnTo>
                  <a:pt x="200025" y="214313"/>
                </a:lnTo>
                <a:lnTo>
                  <a:pt x="200025" y="119836"/>
                </a:lnTo>
                <a:lnTo>
                  <a:pt x="90994" y="119836"/>
                </a:lnTo>
                <a:lnTo>
                  <a:pt x="90994" y="199266"/>
                </a:lnTo>
                <a:close/>
                <a:moveTo>
                  <a:pt x="90994" y="29334"/>
                </a:moveTo>
                <a:lnTo>
                  <a:pt x="90994" y="109746"/>
                </a:lnTo>
                <a:lnTo>
                  <a:pt x="200025" y="109746"/>
                </a:lnTo>
                <a:lnTo>
                  <a:pt x="200025" y="14287"/>
                </a:lnTo>
                <a:lnTo>
                  <a:pt x="90994" y="29334"/>
                </a:lnTo>
                <a:close/>
              </a:path>
            </a:pathLst>
          </a:custGeom>
          <a:solidFill>
            <a:srgbClr val="E8E9EA">
              <a:alpha val="60000"/>
            </a:srgbClr>
          </a:solidFill>
          <a:ln>
            <a:noFill/>
          </a:ln>
        </p:spPr>
      </p:sp>
      <p:sp>
        <p:nvSpPr>
          <p:cNvPr id="182" name="Google Shape;182;p19"/>
          <p:cNvSpPr/>
          <p:nvPr/>
        </p:nvSpPr>
        <p:spPr>
          <a:xfrm>
            <a:off x="5951156" y="2436019"/>
            <a:ext cx="128588" cy="171450"/>
          </a:xfrm>
          <a:custGeom>
            <a:rect b="b" l="l" r="r" t="t"/>
            <a:pathLst>
              <a:path extrusionOk="0" h="228600" w="171450">
                <a:moveTo>
                  <a:pt x="142473" y="119970"/>
                </a:moveTo>
                <a:cubicBezTo>
                  <a:pt x="142384" y="103584"/>
                  <a:pt x="149796" y="91217"/>
                  <a:pt x="164797" y="82108"/>
                </a:cubicBezTo>
                <a:cubicBezTo>
                  <a:pt x="156403" y="70098"/>
                  <a:pt x="143723" y="63490"/>
                  <a:pt x="126980" y="62195"/>
                </a:cubicBezTo>
                <a:cubicBezTo>
                  <a:pt x="111130" y="60945"/>
                  <a:pt x="93806" y="71437"/>
                  <a:pt x="87466" y="71437"/>
                </a:cubicBezTo>
                <a:cubicBezTo>
                  <a:pt x="80769" y="71437"/>
                  <a:pt x="65410" y="62642"/>
                  <a:pt x="53355" y="62642"/>
                </a:cubicBezTo>
                <a:cubicBezTo>
                  <a:pt x="28441" y="63044"/>
                  <a:pt x="1965" y="82510"/>
                  <a:pt x="1965" y="122113"/>
                </a:cubicBezTo>
                <a:cubicBezTo>
                  <a:pt x="1965" y="133811"/>
                  <a:pt x="4108" y="145911"/>
                  <a:pt x="8394" y="158368"/>
                </a:cubicBezTo>
                <a:cubicBezTo>
                  <a:pt x="14109" y="174754"/>
                  <a:pt x="34736" y="214938"/>
                  <a:pt x="56257" y="214268"/>
                </a:cubicBezTo>
                <a:cubicBezTo>
                  <a:pt x="67508" y="214000"/>
                  <a:pt x="75456" y="206276"/>
                  <a:pt x="90101" y="206276"/>
                </a:cubicBezTo>
                <a:cubicBezTo>
                  <a:pt x="104299" y="206276"/>
                  <a:pt x="111666" y="214268"/>
                  <a:pt x="124212" y="214268"/>
                </a:cubicBezTo>
                <a:cubicBezTo>
                  <a:pt x="145911" y="213955"/>
                  <a:pt x="164574" y="177433"/>
                  <a:pt x="170021" y="161002"/>
                </a:cubicBezTo>
                <a:cubicBezTo>
                  <a:pt x="140910" y="147295"/>
                  <a:pt x="142473" y="120819"/>
                  <a:pt x="142473" y="119970"/>
                </a:cubicBezTo>
                <a:close/>
                <a:moveTo>
                  <a:pt x="117202" y="46658"/>
                </a:moveTo>
                <a:cubicBezTo>
                  <a:pt x="129391" y="32192"/>
                  <a:pt x="128275" y="19020"/>
                  <a:pt x="127918" y="14288"/>
                </a:cubicBezTo>
                <a:cubicBezTo>
                  <a:pt x="117157" y="14913"/>
                  <a:pt x="104701" y="21610"/>
                  <a:pt x="97601" y="29870"/>
                </a:cubicBezTo>
                <a:cubicBezTo>
                  <a:pt x="89788" y="38710"/>
                  <a:pt x="85189" y="49649"/>
                  <a:pt x="86171" y="61972"/>
                </a:cubicBezTo>
                <a:cubicBezTo>
                  <a:pt x="97825" y="62865"/>
                  <a:pt x="108451" y="56882"/>
                  <a:pt x="117202" y="46658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474959" y="3886200"/>
            <a:ext cx="3386137" cy="971550"/>
          </a:xfrm>
          <a:custGeom>
            <a:rect b="b" l="l" r="r" t="t"/>
            <a:pathLst>
              <a:path extrusionOk="0" h="1295400" w="4514850">
                <a:moveTo>
                  <a:pt x="76195" y="0"/>
                </a:moveTo>
                <a:lnTo>
                  <a:pt x="4438655" y="0"/>
                </a:lnTo>
                <a:cubicBezTo>
                  <a:pt x="4480708" y="0"/>
                  <a:pt x="4514850" y="34142"/>
                  <a:pt x="4514850" y="76195"/>
                </a:cubicBezTo>
                <a:lnTo>
                  <a:pt x="4514850" y="1219205"/>
                </a:lnTo>
                <a:cubicBezTo>
                  <a:pt x="4514850" y="1261286"/>
                  <a:pt x="4480736" y="1295400"/>
                  <a:pt x="443865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589259" y="4000500"/>
            <a:ext cx="322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Tecnologie Core</a:t>
            </a:r>
            <a:endParaRPr b="0" i="0" sz="120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5589259" y="4286250"/>
            <a:ext cx="392906" cy="200025"/>
          </a:xfrm>
          <a:custGeom>
            <a:rect b="b" l="l" r="r" t="t"/>
            <a:pathLst>
              <a:path extrusionOk="0" h="266700" w="523875">
                <a:moveTo>
                  <a:pt x="133350" y="0"/>
                </a:moveTo>
                <a:lnTo>
                  <a:pt x="390525" y="0"/>
                </a:lnTo>
                <a:cubicBezTo>
                  <a:pt x="464123" y="0"/>
                  <a:pt x="523875" y="59752"/>
                  <a:pt x="523875" y="133350"/>
                </a:cubicBezTo>
                <a:lnTo>
                  <a:pt x="523875" y="133350"/>
                </a:lnTo>
                <a:cubicBezTo>
                  <a:pt x="523875" y="206948"/>
                  <a:pt x="464123" y="266700"/>
                  <a:pt x="390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589259" y="4286250"/>
            <a:ext cx="44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Rust</a:t>
            </a:r>
            <a:endParaRPr b="0" i="0" sz="120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6040152" y="4286250"/>
            <a:ext cx="442913" cy="200025"/>
          </a:xfrm>
          <a:custGeom>
            <a:rect b="b" l="l" r="r" t="t"/>
            <a:pathLst>
              <a:path extrusionOk="0" h="266700" w="590550">
                <a:moveTo>
                  <a:pt x="133350" y="0"/>
                </a:moveTo>
                <a:lnTo>
                  <a:pt x="457200" y="0"/>
                </a:lnTo>
                <a:cubicBezTo>
                  <a:pt x="530798" y="0"/>
                  <a:pt x="590550" y="59752"/>
                  <a:pt x="590550" y="133350"/>
                </a:cubicBezTo>
                <a:lnTo>
                  <a:pt x="590550" y="133350"/>
                </a:lnTo>
                <a:cubicBezTo>
                  <a:pt x="590550" y="206948"/>
                  <a:pt x="530798" y="266700"/>
                  <a:pt x="4572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6040152" y="4286250"/>
            <a:ext cx="492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</a:t>
            </a:r>
            <a:endParaRPr b="0" i="0" sz="12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6541163" y="4286250"/>
            <a:ext cx="707231" cy="200025"/>
          </a:xfrm>
          <a:custGeom>
            <a:rect b="b" l="l" r="r" t="t"/>
            <a:pathLst>
              <a:path extrusionOk="0" h="266700" w="942975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541163" y="4286250"/>
            <a:ext cx="75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</a:t>
            </a:r>
            <a:endParaRPr b="0" i="0" sz="120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7308893" y="4286250"/>
            <a:ext cx="492919" cy="200025"/>
          </a:xfrm>
          <a:custGeom>
            <a:rect b="b" l="l" r="r" t="t"/>
            <a:pathLst>
              <a:path extrusionOk="0" h="266700" w="657225">
                <a:moveTo>
                  <a:pt x="133350" y="0"/>
                </a:moveTo>
                <a:lnTo>
                  <a:pt x="523875" y="0"/>
                </a:lnTo>
                <a:cubicBezTo>
                  <a:pt x="597473" y="0"/>
                  <a:pt x="657225" y="59752"/>
                  <a:pt x="657225" y="133350"/>
                </a:cubicBezTo>
                <a:lnTo>
                  <a:pt x="657225" y="133350"/>
                </a:lnTo>
                <a:cubicBezTo>
                  <a:pt x="657225" y="206948"/>
                  <a:pt x="597473" y="266700"/>
                  <a:pt x="523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308893" y="4286250"/>
            <a:ext cx="54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</a:t>
            </a:r>
            <a:endParaRPr b="0" i="0" sz="12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7859799" y="4286250"/>
            <a:ext cx="450056" cy="200025"/>
          </a:xfrm>
          <a:custGeom>
            <a:rect b="b" l="l" r="r" t="t"/>
            <a:pathLst>
              <a:path extrusionOk="0" h="266700" w="600075">
                <a:moveTo>
                  <a:pt x="133350" y="0"/>
                </a:moveTo>
                <a:lnTo>
                  <a:pt x="466725" y="0"/>
                </a:lnTo>
                <a:cubicBezTo>
                  <a:pt x="540323" y="0"/>
                  <a:pt x="600075" y="59752"/>
                  <a:pt x="600075" y="133350"/>
                </a:cubicBezTo>
                <a:lnTo>
                  <a:pt x="600075" y="133350"/>
                </a:lnTo>
                <a:cubicBezTo>
                  <a:pt x="600075" y="206948"/>
                  <a:pt x="540323" y="266700"/>
                  <a:pt x="466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7859799" y="4286250"/>
            <a:ext cx="5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Axum</a:t>
            </a:r>
            <a:endParaRPr b="0" i="0" sz="12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5589259" y="4543425"/>
            <a:ext cx="435769" cy="200025"/>
          </a:xfrm>
          <a:custGeom>
            <a:rect b="b" l="l" r="r" t="t"/>
            <a:pathLst>
              <a:path extrusionOk="0" h="266700" w="581025">
                <a:moveTo>
                  <a:pt x="133350" y="0"/>
                </a:moveTo>
                <a:lnTo>
                  <a:pt x="447675" y="0"/>
                </a:lnTo>
                <a:cubicBezTo>
                  <a:pt x="521273" y="0"/>
                  <a:pt x="581025" y="59752"/>
                  <a:pt x="581025" y="133350"/>
                </a:cubicBezTo>
                <a:lnTo>
                  <a:pt x="581025" y="133350"/>
                </a:lnTo>
                <a:cubicBezTo>
                  <a:pt x="581025" y="206948"/>
                  <a:pt x="521273" y="266700"/>
                  <a:pt x="447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589259" y="4543425"/>
            <a:ext cx="48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85725" spcFirstLastPara="1" rIns="85725" wrap="square" tIns="28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Tokio</a:t>
            </a:r>
            <a:endParaRPr b="0" i="0" sz="1200" u="none" cap="none" strike="noStrike"/>
          </a:p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Requirements Analysis</a:t>
            </a:r>
            <a:endParaRPr b="0" i="0" sz="1200" u="none" cap="none" strike="noStrike"/>
          </a:p>
        </p:txBody>
      </p:sp>
      <p:sp>
        <p:nvSpPr>
          <p:cNvPr id="204" name="Google Shape;204;p20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Requisiti Funzionali e Non Funzionali</a:t>
            </a:r>
            <a:endParaRPr b="0" i="0" sz="120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285750" y="928688"/>
            <a:ext cx="4229100" cy="3529013"/>
          </a:xfrm>
          <a:custGeom>
            <a:rect b="b" l="l" r="r" t="t"/>
            <a:pathLst>
              <a:path extrusionOk="0" h="470535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629170"/>
                </a:lnTo>
                <a:cubicBezTo>
                  <a:pt x="5638800" y="4671243"/>
                  <a:pt x="5604693" y="4705350"/>
                  <a:pt x="5562620" y="4705350"/>
                </a:cubicBezTo>
                <a:lnTo>
                  <a:pt x="76180" y="4705350"/>
                </a:lnTo>
                <a:cubicBezTo>
                  <a:pt x="34107" y="4705350"/>
                  <a:pt x="0" y="4671243"/>
                  <a:pt x="0" y="46291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285750" y="928688"/>
            <a:ext cx="4229100" cy="28575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400050" y="1057275"/>
            <a:ext cx="342900" cy="3429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485775" y="1143000"/>
            <a:ext cx="171450" cy="171450"/>
          </a:xfrm>
          <a:custGeom>
            <a:rect b="b" l="l" r="r" t="t"/>
            <a:pathLst>
              <a:path extrusionOk="0" h="228600" w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828675" y="1114425"/>
            <a:ext cx="17073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Requisiti Funzionali</a:t>
            </a:r>
            <a:endParaRPr b="0" i="0" sz="120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400050" y="148590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57200" y="1571625"/>
            <a:ext cx="142875" cy="114300"/>
          </a:xfrm>
          <a:custGeom>
            <a:rect b="b" l="l" r="r" t="t"/>
            <a:pathLst>
              <a:path extrusionOk="0" h="152400" w="1905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61925" y="28575"/>
                </a:moveTo>
                <a:cubicBezTo>
                  <a:pt x="165884" y="28575"/>
                  <a:pt x="169069" y="31760"/>
                  <a:pt x="169069" y="35719"/>
                </a:cubicBezTo>
                <a:lnTo>
                  <a:pt x="169069" y="50006"/>
                </a:lnTo>
                <a:lnTo>
                  <a:pt x="183356" y="50006"/>
                </a:lnTo>
                <a:cubicBezTo>
                  <a:pt x="187315" y="50006"/>
                  <a:pt x="190500" y="53191"/>
                  <a:pt x="190500" y="57150"/>
                </a:cubicBezTo>
                <a:cubicBezTo>
                  <a:pt x="190500" y="61109"/>
                  <a:pt x="187315" y="64294"/>
                  <a:pt x="183356" y="64294"/>
                </a:cubicBezTo>
                <a:lnTo>
                  <a:pt x="169069" y="64294"/>
                </a:lnTo>
                <a:lnTo>
                  <a:pt x="169069" y="78581"/>
                </a:lnTo>
                <a:cubicBezTo>
                  <a:pt x="169069" y="82540"/>
                  <a:pt x="165884" y="85725"/>
                  <a:pt x="161925" y="85725"/>
                </a:cubicBezTo>
                <a:cubicBezTo>
                  <a:pt x="157966" y="85725"/>
                  <a:pt x="154781" y="82540"/>
                  <a:pt x="154781" y="78581"/>
                </a:cubicBezTo>
                <a:lnTo>
                  <a:pt x="154781" y="64294"/>
                </a:lnTo>
                <a:lnTo>
                  <a:pt x="140494" y="64294"/>
                </a:lnTo>
                <a:cubicBezTo>
                  <a:pt x="136535" y="64294"/>
                  <a:pt x="133350" y="61109"/>
                  <a:pt x="133350" y="57150"/>
                </a:cubicBezTo>
                <a:cubicBezTo>
                  <a:pt x="133350" y="53191"/>
                  <a:pt x="136535" y="50006"/>
                  <a:pt x="140494" y="50006"/>
                </a:cubicBezTo>
                <a:lnTo>
                  <a:pt x="154781" y="50006"/>
                </a:lnTo>
                <a:lnTo>
                  <a:pt x="154781" y="35719"/>
                </a:lnTo>
                <a:cubicBezTo>
                  <a:pt x="154781" y="31760"/>
                  <a:pt x="157966" y="28575"/>
                  <a:pt x="161925" y="285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85800" y="1543050"/>
            <a:ext cx="18716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Iscrizione Utente</a:t>
            </a:r>
            <a:endParaRPr b="0" i="0" sz="1200" u="none" cap="none" strike="noStrike"/>
          </a:p>
        </p:txBody>
      </p:sp>
      <p:sp>
        <p:nvSpPr>
          <p:cNvPr id="213" name="Google Shape;213;p20"/>
          <p:cNvSpPr/>
          <p:nvPr/>
        </p:nvSpPr>
        <p:spPr>
          <a:xfrm>
            <a:off x="685800" y="1714500"/>
            <a:ext cx="18645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Registrazione con username e password</a:t>
            </a:r>
            <a:endParaRPr b="0" i="0" sz="120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400050" y="197167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71488" y="2057400"/>
            <a:ext cx="114300" cy="114300"/>
          </a:xfrm>
          <a:custGeom>
            <a:rect b="b" l="l" r="r" t="t"/>
            <a:pathLst>
              <a:path extrusionOk="0" h="152400" w="152400">
                <a:moveTo>
                  <a:pt x="102691" y="81260"/>
                </a:moveTo>
                <a:cubicBezTo>
                  <a:pt x="105489" y="78462"/>
                  <a:pt x="105489" y="73938"/>
                  <a:pt x="102691" y="71170"/>
                </a:cubicBezTo>
                <a:lnTo>
                  <a:pt x="59829" y="28277"/>
                </a:lnTo>
                <a:cubicBezTo>
                  <a:pt x="57775" y="26224"/>
                  <a:pt x="54709" y="25628"/>
                  <a:pt x="52030" y="26730"/>
                </a:cubicBezTo>
                <a:cubicBezTo>
                  <a:pt x="49351" y="27831"/>
                  <a:pt x="47625" y="30450"/>
                  <a:pt x="47625" y="33338"/>
                </a:cubicBezTo>
                <a:lnTo>
                  <a:pt x="47625" y="57150"/>
                </a:ln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80962"/>
                </a:lnTo>
                <a:cubicBezTo>
                  <a:pt x="0" y="88850"/>
                  <a:pt x="6400" y="95250"/>
                  <a:pt x="14288" y="95250"/>
                </a:cubicBezTo>
                <a:lnTo>
                  <a:pt x="47625" y="95250"/>
                </a:lnTo>
                <a:lnTo>
                  <a:pt x="47625" y="119062"/>
                </a:lnTo>
                <a:cubicBezTo>
                  <a:pt x="47625" y="121950"/>
                  <a:pt x="49351" y="124569"/>
                  <a:pt x="52030" y="125670"/>
                </a:cubicBezTo>
                <a:cubicBezTo>
                  <a:pt x="54709" y="126772"/>
                  <a:pt x="57775" y="126176"/>
                  <a:pt x="59829" y="124123"/>
                </a:cubicBezTo>
                <a:lnTo>
                  <a:pt x="102691" y="81260"/>
                </a:lnTo>
                <a:close/>
                <a:moveTo>
                  <a:pt x="104775" y="123825"/>
                </a:moveTo>
                <a:cubicBezTo>
                  <a:pt x="99506" y="123825"/>
                  <a:pt x="95250" y="128081"/>
                  <a:pt x="95250" y="133350"/>
                </a:cubicBezTo>
                <a:cubicBezTo>
                  <a:pt x="95250" y="138619"/>
                  <a:pt x="99506" y="142875"/>
                  <a:pt x="104775" y="142875"/>
                </a:cubicBezTo>
                <a:lnTo>
                  <a:pt x="123825" y="142875"/>
                </a:lnTo>
                <a:cubicBezTo>
                  <a:pt x="139601" y="142875"/>
                  <a:pt x="152400" y="130076"/>
                  <a:pt x="152400" y="114300"/>
                </a:cubicBezTo>
                <a:lnTo>
                  <a:pt x="152400" y="38100"/>
                </a:lnTo>
                <a:cubicBezTo>
                  <a:pt x="152400" y="22324"/>
                  <a:pt x="139601" y="9525"/>
                  <a:pt x="123825" y="9525"/>
                </a:cubicBezTo>
                <a:lnTo>
                  <a:pt x="104775" y="9525"/>
                </a:lnTo>
                <a:cubicBezTo>
                  <a:pt x="99506" y="9525"/>
                  <a:pt x="95250" y="13781"/>
                  <a:pt x="95250" y="19050"/>
                </a:cubicBezTo>
                <a:cubicBezTo>
                  <a:pt x="95250" y="24319"/>
                  <a:pt x="99506" y="28575"/>
                  <a:pt x="104775" y="28575"/>
                </a:cubicBez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114300"/>
                </a:lnTo>
                <a:cubicBezTo>
                  <a:pt x="133350" y="119569"/>
                  <a:pt x="129094" y="123825"/>
                  <a:pt x="123825" y="123825"/>
                </a:cubicBezTo>
                <a:lnTo>
                  <a:pt x="104775" y="123825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685800" y="2028825"/>
            <a:ext cx="14073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 Sicuro</a:t>
            </a:r>
            <a:endParaRPr b="0" i="0" sz="120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685800" y="2200275"/>
            <a:ext cx="14001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Autenticazione con JWT token</a:t>
            </a:r>
            <a:endParaRPr b="0" i="0" sz="120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400050" y="245745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464344" y="2543175"/>
            <a:ext cx="128588" cy="114300"/>
          </a:xfrm>
          <a:custGeom>
            <a:rect b="b" l="l" r="r" t="t"/>
            <a:pathLst>
              <a:path extrusionOk="0" h="152400" w="17145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85800" y="2514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Scambio Messaggi</a:t>
            </a:r>
            <a:endParaRPr b="0" i="0" sz="1200" u="none" cap="none" strike="noStrike"/>
          </a:p>
        </p:txBody>
      </p:sp>
      <p:sp>
        <p:nvSpPr>
          <p:cNvPr id="221" name="Google Shape;221;p20"/>
          <p:cNvSpPr/>
          <p:nvPr/>
        </p:nvSpPr>
        <p:spPr>
          <a:xfrm>
            <a:off x="685800" y="2686050"/>
            <a:ext cx="18502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Comunicazione real-time via WebSocket</a:t>
            </a:r>
            <a:endParaRPr b="0" i="0" sz="120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400050" y="294322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57200" y="3028950"/>
            <a:ext cx="142875" cy="114300"/>
          </a:xfrm>
          <a:custGeom>
            <a:rect b="b" l="l" r="r" t="t"/>
            <a:pathLst>
              <a:path extrusionOk="0" h="152400" w="1905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685800" y="3000375"/>
            <a:ext cx="11287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Creazione Gruppi</a:t>
            </a:r>
            <a:endParaRPr b="0" i="0" sz="1200" u="none" cap="none" strike="noStrike"/>
          </a:p>
        </p:txBody>
      </p:sp>
      <p:sp>
        <p:nvSpPr>
          <p:cNvPr id="225" name="Google Shape;225;p20"/>
          <p:cNvSpPr/>
          <p:nvPr/>
        </p:nvSpPr>
        <p:spPr>
          <a:xfrm>
            <a:off x="685800" y="3171825"/>
            <a:ext cx="11215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Chat di gruppo con inviti</a:t>
            </a:r>
            <a:endParaRPr b="0" i="0" sz="1200" u="none" cap="none" strike="noStrike"/>
          </a:p>
        </p:txBody>
      </p:sp>
      <p:sp>
        <p:nvSpPr>
          <p:cNvPr id="226" name="Google Shape;226;p20"/>
          <p:cNvSpPr/>
          <p:nvPr/>
        </p:nvSpPr>
        <p:spPr>
          <a:xfrm>
            <a:off x="400050" y="342900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71488" y="3514725"/>
            <a:ext cx="114300" cy="114300"/>
          </a:xfrm>
          <a:custGeom>
            <a:rect b="b" l="l" r="r" t="t"/>
            <a:pathLst>
              <a:path extrusionOk="0" h="152400" w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85800" y="3486150"/>
            <a:ext cx="17002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Gestione Inviti</a:t>
            </a:r>
            <a:endParaRPr b="0" i="0" sz="1200" u="none" cap="none" strike="noStrike"/>
          </a:p>
        </p:txBody>
      </p:sp>
      <p:sp>
        <p:nvSpPr>
          <p:cNvPr id="229" name="Google Shape;229;p20"/>
          <p:cNvSpPr/>
          <p:nvPr/>
        </p:nvSpPr>
        <p:spPr>
          <a:xfrm>
            <a:off x="685800" y="3657600"/>
            <a:ext cx="16930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Sistema inviti con accettazione/rifiuto</a:t>
            </a:r>
            <a:endParaRPr b="0" i="0" sz="1200" u="none" cap="none" strike="noStrike"/>
          </a:p>
        </p:txBody>
      </p:sp>
      <p:sp>
        <p:nvSpPr>
          <p:cNvPr id="230" name="Google Shape;230;p20"/>
          <p:cNvSpPr/>
          <p:nvPr/>
        </p:nvSpPr>
        <p:spPr>
          <a:xfrm>
            <a:off x="400050" y="391477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71488" y="4000500"/>
            <a:ext cx="114300" cy="114300"/>
          </a:xfrm>
          <a:custGeom>
            <a:rect b="b" l="l" r="r" t="t"/>
            <a:pathLst>
              <a:path extrusionOk="0" h="152400" w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85800" y="3971925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Logging CPU</a:t>
            </a:r>
            <a:endParaRPr b="0" i="0" sz="1200" u="none" cap="none" strike="noStrike"/>
          </a:p>
        </p:txBody>
      </p:sp>
      <p:sp>
        <p:nvSpPr>
          <p:cNvPr id="233" name="Google Shape;233;p20"/>
          <p:cNvSpPr/>
          <p:nvPr/>
        </p:nvSpPr>
        <p:spPr>
          <a:xfrm>
            <a:off x="685800" y="4143375"/>
            <a:ext cx="12215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Monitoraggio ogni 2 minuti</a:t>
            </a:r>
            <a:endParaRPr b="0" i="0" sz="1200" u="none" cap="none" strike="noStrike"/>
          </a:p>
        </p:txBody>
      </p:sp>
      <p:sp>
        <p:nvSpPr>
          <p:cNvPr id="234" name="Google Shape;234;p20"/>
          <p:cNvSpPr/>
          <p:nvPr/>
        </p:nvSpPr>
        <p:spPr>
          <a:xfrm>
            <a:off x="4629150" y="928688"/>
            <a:ext cx="4229100" cy="3529013"/>
          </a:xfrm>
          <a:custGeom>
            <a:rect b="b" l="l" r="r" t="t"/>
            <a:pathLst>
              <a:path extrusionOk="0" h="470535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629170"/>
                </a:lnTo>
                <a:cubicBezTo>
                  <a:pt x="5638800" y="4671243"/>
                  <a:pt x="5604693" y="4705350"/>
                  <a:pt x="5562620" y="4705350"/>
                </a:cubicBezTo>
                <a:lnTo>
                  <a:pt x="76180" y="4705350"/>
                </a:lnTo>
                <a:cubicBezTo>
                  <a:pt x="34107" y="4705350"/>
                  <a:pt x="0" y="4671243"/>
                  <a:pt x="0" y="46291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4629150" y="928688"/>
            <a:ext cx="4229100" cy="28575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743450" y="1057275"/>
            <a:ext cx="342900" cy="3429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4829175" y="1143000"/>
            <a:ext cx="171450" cy="17145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8E9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172075" y="1114425"/>
            <a:ext cx="2085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Requisiti Non Funzionali</a:t>
            </a:r>
            <a:endParaRPr b="0" i="0" sz="1200" u="none" cap="none" strike="noStrike"/>
          </a:p>
        </p:txBody>
      </p:sp>
      <p:sp>
        <p:nvSpPr>
          <p:cNvPr id="239" name="Google Shape;239;p20"/>
          <p:cNvSpPr/>
          <p:nvPr/>
        </p:nvSpPr>
        <p:spPr>
          <a:xfrm>
            <a:off x="4743450" y="148590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4814888" y="1571625"/>
            <a:ext cx="114300" cy="114300"/>
          </a:xfrm>
          <a:custGeom>
            <a:rect b="b" l="l" r="r" t="t"/>
            <a:pathLst>
              <a:path extrusionOk="0" h="152400" w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029200" y="1543050"/>
            <a:ext cx="1950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Prestazioni</a:t>
            </a:r>
            <a:endParaRPr b="0" i="0" sz="1200" u="none" cap="none" strike="noStrike"/>
          </a:p>
        </p:txBody>
      </p:sp>
      <p:sp>
        <p:nvSpPr>
          <p:cNvPr id="242" name="Google Shape;242;p20"/>
          <p:cNvSpPr/>
          <p:nvPr/>
        </p:nvSpPr>
        <p:spPr>
          <a:xfrm>
            <a:off x="5029200" y="1714500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Basso consumo CPU, eseguibile compatto</a:t>
            </a:r>
            <a:endParaRPr b="0" i="0" sz="1200" u="none" cap="none" strike="noStrike"/>
          </a:p>
        </p:txBody>
      </p:sp>
      <p:sp>
        <p:nvSpPr>
          <p:cNvPr id="243" name="Google Shape;243;p20"/>
          <p:cNvSpPr/>
          <p:nvPr/>
        </p:nvSpPr>
        <p:spPr>
          <a:xfrm>
            <a:off x="4743450" y="197167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829175" y="2057400"/>
            <a:ext cx="85725" cy="114300"/>
          </a:xfrm>
          <a:custGeom>
            <a:rect b="b" l="l" r="r" t="t"/>
            <a:pathLst>
              <a:path extrusionOk="0" h="152400" w="1143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5029200" y="2028825"/>
            <a:ext cx="24074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Sicurezza</a:t>
            </a:r>
            <a:endParaRPr b="0" i="0" sz="1200" u="none" cap="none" strike="noStrike"/>
          </a:p>
        </p:txBody>
      </p:sp>
      <p:sp>
        <p:nvSpPr>
          <p:cNvPr id="246" name="Google Shape;246;p20"/>
          <p:cNvSpPr/>
          <p:nvPr/>
        </p:nvSpPr>
        <p:spPr>
          <a:xfrm>
            <a:off x="5029200" y="2200275"/>
            <a:ext cx="2400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Argon2 hashing, JWT token, SQL injection protection</a:t>
            </a:r>
            <a:endParaRPr b="0" i="0" sz="1200" u="none" cap="none" strike="noStrike"/>
          </a:p>
        </p:txBody>
      </p:sp>
      <p:sp>
        <p:nvSpPr>
          <p:cNvPr id="247" name="Google Shape;247;p20"/>
          <p:cNvSpPr/>
          <p:nvPr/>
        </p:nvSpPr>
        <p:spPr>
          <a:xfrm>
            <a:off x="4743450" y="245745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822031" y="2543175"/>
            <a:ext cx="100013" cy="114300"/>
          </a:xfrm>
          <a:custGeom>
            <a:rect b="b" l="l" r="r" t="t"/>
            <a:pathLst>
              <a:path extrusionOk="0" h="152400" w="13335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5029200" y="2514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Scalabilità</a:t>
            </a:r>
            <a:endParaRPr b="0" i="0" sz="1200" u="none" cap="none" strike="noStrike"/>
          </a:p>
        </p:txBody>
      </p:sp>
      <p:sp>
        <p:nvSpPr>
          <p:cNvPr id="250" name="Google Shape;250;p20"/>
          <p:cNvSpPr/>
          <p:nvPr/>
        </p:nvSpPr>
        <p:spPr>
          <a:xfrm>
            <a:off x="5029200" y="2686050"/>
            <a:ext cx="17073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Architettura per gestire crescita utenti</a:t>
            </a:r>
            <a:endParaRPr b="0" i="0" sz="1200" u="none" cap="none" strike="noStrike"/>
          </a:p>
        </p:txBody>
      </p:sp>
      <p:sp>
        <p:nvSpPr>
          <p:cNvPr id="251" name="Google Shape;251;p20"/>
          <p:cNvSpPr/>
          <p:nvPr/>
        </p:nvSpPr>
        <p:spPr>
          <a:xfrm>
            <a:off x="4743450" y="294322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4814888" y="3028950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029200" y="3000375"/>
            <a:ext cx="13930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Usabilità</a:t>
            </a:r>
            <a:endParaRPr b="0" i="0" sz="1200" u="none" cap="none" strike="noStrike"/>
          </a:p>
        </p:txBody>
      </p:sp>
      <p:sp>
        <p:nvSpPr>
          <p:cNvPr id="254" name="Google Shape;254;p20"/>
          <p:cNvSpPr/>
          <p:nvPr/>
        </p:nvSpPr>
        <p:spPr>
          <a:xfrm>
            <a:off x="5029200" y="3171825"/>
            <a:ext cx="13858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Interfaccia semplice e intuitiva</a:t>
            </a:r>
            <a:endParaRPr b="0" i="0" sz="1200" u="none" cap="none" strike="noStrike"/>
          </a:p>
        </p:txBody>
      </p:sp>
      <p:sp>
        <p:nvSpPr>
          <p:cNvPr id="255" name="Google Shape;255;p20"/>
          <p:cNvSpPr/>
          <p:nvPr/>
        </p:nvSpPr>
        <p:spPr>
          <a:xfrm>
            <a:off x="4743450" y="3429000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4800600" y="3514725"/>
            <a:ext cx="142875" cy="114300"/>
          </a:xfrm>
          <a:custGeom>
            <a:rect b="b" l="l" r="r" t="t"/>
            <a:pathLst>
              <a:path extrusionOk="0" h="152400" w="1905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5029200" y="3486150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Portabilità</a:t>
            </a:r>
            <a:endParaRPr b="0" i="0" sz="1200" u="none" cap="none" strike="noStrike"/>
          </a:p>
        </p:txBody>
      </p:sp>
      <p:sp>
        <p:nvSpPr>
          <p:cNvPr id="258" name="Google Shape;258;p20"/>
          <p:cNvSpPr/>
          <p:nvPr/>
        </p:nvSpPr>
        <p:spPr>
          <a:xfrm>
            <a:off x="5029200" y="3657600"/>
            <a:ext cx="17645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Windows, 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Linux, 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macOS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Android, iOS</a:t>
            </a:r>
            <a:endParaRPr b="0" i="0" sz="1200" u="none" cap="none" strike="noStrike"/>
          </a:p>
        </p:txBody>
      </p:sp>
      <p:sp>
        <p:nvSpPr>
          <p:cNvPr id="259" name="Google Shape;259;p20"/>
          <p:cNvSpPr/>
          <p:nvPr/>
        </p:nvSpPr>
        <p:spPr>
          <a:xfrm>
            <a:off x="4743450" y="3914775"/>
            <a:ext cx="4000500" cy="428625"/>
          </a:xfrm>
          <a:custGeom>
            <a:rect b="b" l="l" r="r" t="t"/>
            <a:pathLst>
              <a:path extrusionOk="0" h="571500" w="5334000">
                <a:moveTo>
                  <a:pt x="38102" y="0"/>
                </a:moveTo>
                <a:lnTo>
                  <a:pt x="5295898" y="0"/>
                </a:lnTo>
                <a:cubicBezTo>
                  <a:pt x="5316941" y="0"/>
                  <a:pt x="5334000" y="17059"/>
                  <a:pt x="5334000" y="38102"/>
                </a:cubicBezTo>
                <a:lnTo>
                  <a:pt x="5334000" y="533398"/>
                </a:lnTo>
                <a:cubicBezTo>
                  <a:pt x="5334000" y="554441"/>
                  <a:pt x="5316941" y="571500"/>
                  <a:pt x="5295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4807744" y="4000500"/>
            <a:ext cx="128588" cy="114300"/>
          </a:xfrm>
          <a:custGeom>
            <a:rect b="b" l="l" r="r" t="t"/>
            <a:pathLst>
              <a:path extrusionOk="0" h="152400" w="171450">
                <a:moveTo>
                  <a:pt x="151626" y="29349"/>
                </a:moveTo>
                <a:cubicBezTo>
                  <a:pt x="153888" y="27087"/>
                  <a:pt x="157669" y="27652"/>
                  <a:pt x="158800" y="30629"/>
                </a:cubicBezTo>
                <a:cubicBezTo>
                  <a:pt x="160824" y="35897"/>
                  <a:pt x="161925" y="41642"/>
                  <a:pt x="161925" y="47625"/>
                </a:cubicBezTo>
                <a:cubicBezTo>
                  <a:pt x="161925" y="73938"/>
                  <a:pt x="140613" y="95250"/>
                  <a:pt x="114300" y="95250"/>
                </a:cubicBezTo>
                <a:cubicBezTo>
                  <a:pt x="109091" y="95250"/>
                  <a:pt x="104061" y="94417"/>
                  <a:pt x="99358" y="92869"/>
                </a:cubicBezTo>
                <a:lnTo>
                  <a:pt x="43726" y="148501"/>
                </a:lnTo>
                <a:cubicBezTo>
                  <a:pt x="35362" y="156865"/>
                  <a:pt x="21788" y="156865"/>
                  <a:pt x="13424" y="148501"/>
                </a:cubicBezTo>
                <a:cubicBezTo>
                  <a:pt x="5060" y="140137"/>
                  <a:pt x="5060" y="126563"/>
                  <a:pt x="13424" y="118199"/>
                </a:cubicBezTo>
                <a:lnTo>
                  <a:pt x="69056" y="62567"/>
                </a:lnTo>
                <a:cubicBezTo>
                  <a:pt x="67508" y="57864"/>
                  <a:pt x="66675" y="52864"/>
                  <a:pt x="66675" y="47625"/>
                </a:cubicBezTo>
                <a:cubicBezTo>
                  <a:pt x="66675" y="21312"/>
                  <a:pt x="87987" y="0"/>
                  <a:pt x="114300" y="0"/>
                </a:cubicBezTo>
                <a:cubicBezTo>
                  <a:pt x="120283" y="0"/>
                  <a:pt x="126028" y="1101"/>
                  <a:pt x="131296" y="3125"/>
                </a:cubicBezTo>
                <a:cubicBezTo>
                  <a:pt x="134273" y="4256"/>
                  <a:pt x="134809" y="8037"/>
                  <a:pt x="132576" y="10299"/>
                </a:cubicBezTo>
                <a:lnTo>
                  <a:pt x="106174" y="36701"/>
                </a:lnTo>
                <a:cubicBezTo>
                  <a:pt x="105281" y="37594"/>
                  <a:pt x="104775" y="38814"/>
                  <a:pt x="104775" y="40065"/>
                </a:cubicBezTo>
                <a:lnTo>
                  <a:pt x="104775" y="52388"/>
                </a:lnTo>
                <a:cubicBezTo>
                  <a:pt x="104775" y="55007"/>
                  <a:pt x="106918" y="57150"/>
                  <a:pt x="109538" y="57150"/>
                </a:cubicBezTo>
                <a:lnTo>
                  <a:pt x="121860" y="57150"/>
                </a:lnTo>
                <a:cubicBezTo>
                  <a:pt x="123111" y="57150"/>
                  <a:pt x="124331" y="56644"/>
                  <a:pt x="125224" y="55751"/>
                </a:cubicBezTo>
                <a:lnTo>
                  <a:pt x="151626" y="29349"/>
                </a:lnTo>
                <a:close/>
              </a:path>
            </a:pathLst>
          </a:custGeom>
          <a:solidFill>
            <a:srgbClr val="6B6F7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029200" y="3971925"/>
            <a:ext cx="18073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Manutenibilità</a:t>
            </a:r>
            <a:endParaRPr b="0" i="0" sz="1200" u="none" cap="none" strike="noStrike"/>
          </a:p>
        </p:txBody>
      </p:sp>
      <p:sp>
        <p:nvSpPr>
          <p:cNvPr id="262" name="Google Shape;262;p20"/>
          <p:cNvSpPr/>
          <p:nvPr/>
        </p:nvSpPr>
        <p:spPr>
          <a:xfrm>
            <a:off x="5029200" y="4143375"/>
            <a:ext cx="18002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Progettazione modulare e documentata</a:t>
            </a:r>
            <a:endParaRPr b="0" i="0" sz="1200" u="none" cap="none" strike="noStrike"/>
          </a:p>
        </p:txBody>
      </p:sp>
      <p:sp>
        <p:nvSpPr>
          <p:cNvPr id="263" name="Google Shape;26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2_arch.png" id="269" name="Google Shape;269;p21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71" name="Google Shape;271;p21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b="0" i="0" sz="1200" u="none" cap="none" strike="noStrike"/>
          </a:p>
        </p:txBody>
      </p:sp>
      <p:sp>
        <p:nvSpPr>
          <p:cNvPr id="272" name="Google Shape;272;p21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Architettura</a:t>
            </a:r>
            <a:endParaRPr b="0" i="0" sz="1200" u="none" cap="none" strike="noStrike"/>
          </a:p>
        </p:txBody>
      </p:sp>
      <p:sp>
        <p:nvSpPr>
          <p:cNvPr id="273" name="Google Shape;273;p21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Struttura a 3 tier del sistema</a:t>
            </a:r>
            <a:endParaRPr b="0" i="0" sz="1200" u="none" cap="none" strike="noStrike"/>
          </a:p>
        </p:txBody>
      </p:sp>
      <p:sp>
        <p:nvSpPr>
          <p:cNvPr id="274" name="Google Shape;274;p21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275" name="Google Shape;27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Architecture</a:t>
            </a:r>
            <a:endParaRPr b="0" i="0" sz="1200" u="none" cap="none" strike="noStrike"/>
          </a:p>
        </p:txBody>
      </p:sp>
      <p:sp>
        <p:nvSpPr>
          <p:cNvPr id="283" name="Google Shape;283;p22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Architettura a 3 Livelli</a:t>
            </a:r>
            <a:endParaRPr b="0" i="0" sz="1200" u="none" cap="none" strike="noStrike"/>
          </a:p>
        </p:txBody>
      </p:sp>
      <p:sp>
        <p:nvSpPr>
          <p:cNvPr id="284" name="Google Shape;284;p22"/>
          <p:cNvSpPr/>
          <p:nvPr/>
        </p:nvSpPr>
        <p:spPr>
          <a:xfrm>
            <a:off x="300038" y="828675"/>
            <a:ext cx="5622131" cy="1285875"/>
          </a:xfrm>
          <a:custGeom>
            <a:rect b="b" l="l" r="r" t="t"/>
            <a:pathLst>
              <a:path extrusionOk="0" h="1714500" w="7496175">
                <a:moveTo>
                  <a:pt x="38100" y="0"/>
                </a:moveTo>
                <a:lnTo>
                  <a:pt x="7419983" y="0"/>
                </a:lnTo>
                <a:cubicBezTo>
                  <a:pt x="7462063" y="0"/>
                  <a:pt x="7496175" y="34112"/>
                  <a:pt x="7496175" y="76192"/>
                </a:cubicBezTo>
                <a:lnTo>
                  <a:pt x="7496175" y="1638308"/>
                </a:lnTo>
                <a:cubicBezTo>
                  <a:pt x="7496175" y="1680388"/>
                  <a:pt x="7462063" y="1714500"/>
                  <a:pt x="7419983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300038" y="828675"/>
            <a:ext cx="28575" cy="1285875"/>
          </a:xfrm>
          <a:custGeom>
            <a:rect b="b" l="l" r="r" t="t"/>
            <a:pathLst>
              <a:path extrusionOk="0" h="1714500" w="381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428625" y="1028700"/>
            <a:ext cx="285750" cy="28575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0063" y="1100138"/>
            <a:ext cx="142875" cy="142875"/>
          </a:xfrm>
          <a:custGeom>
            <a:rect b="b" l="l" r="r" t="t"/>
            <a:pathLst>
              <a:path extrusionOk="0" h="190500" w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800100" y="985838"/>
            <a:ext cx="1028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Frontend</a:t>
            </a:r>
            <a:endParaRPr b="0" i="0" sz="1200" u="none" cap="none" strike="noStrike"/>
          </a:p>
        </p:txBody>
      </p:sp>
      <p:sp>
        <p:nvSpPr>
          <p:cNvPr id="289" name="Google Shape;289;p22"/>
          <p:cNvSpPr/>
          <p:nvPr/>
        </p:nvSpPr>
        <p:spPr>
          <a:xfrm>
            <a:off x="800100" y="1185863"/>
            <a:ext cx="10144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Layer</a:t>
            </a:r>
            <a:endParaRPr b="0" i="0" sz="1200" u="none" cap="none" strike="noStrike"/>
          </a:p>
        </p:txBody>
      </p:sp>
      <p:sp>
        <p:nvSpPr>
          <p:cNvPr id="290" name="Google Shape;290;p22"/>
          <p:cNvSpPr/>
          <p:nvPr/>
        </p:nvSpPr>
        <p:spPr>
          <a:xfrm>
            <a:off x="428625" y="1414463"/>
            <a:ext cx="54363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Interfaccia utente sviluppata con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gestita tramite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Comunicazione real-time tramite WebSocket API nativa.</a:t>
            </a:r>
            <a:endParaRPr b="0" i="0" sz="1200" u="none" cap="none" strike="noStrike"/>
          </a:p>
        </p:txBody>
      </p:sp>
      <p:sp>
        <p:nvSpPr>
          <p:cNvPr id="291" name="Google Shape;291;p22"/>
          <p:cNvSpPr/>
          <p:nvPr/>
        </p:nvSpPr>
        <p:spPr>
          <a:xfrm>
            <a:off x="428625" y="1785938"/>
            <a:ext cx="385763" cy="171450"/>
          </a:xfrm>
          <a:custGeom>
            <a:rect b="b" l="l" r="r" t="t"/>
            <a:pathLst>
              <a:path extrusionOk="0" h="228600" w="51435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190499"/>
                </a:lnTo>
                <a:cubicBezTo>
                  <a:pt x="514350" y="211542"/>
                  <a:pt x="497292" y="228600"/>
                  <a:pt x="4762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428625" y="1785938"/>
            <a:ext cx="4357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</a:t>
            </a:r>
            <a:endParaRPr b="0" i="0" sz="1200" u="none" cap="none" strike="noStrike"/>
          </a:p>
        </p:txBody>
      </p:sp>
      <p:sp>
        <p:nvSpPr>
          <p:cNvPr id="293" name="Google Shape;293;p22"/>
          <p:cNvSpPr/>
          <p:nvPr/>
        </p:nvSpPr>
        <p:spPr>
          <a:xfrm>
            <a:off x="872486" y="1785938"/>
            <a:ext cx="300038" cy="171450"/>
          </a:xfrm>
          <a:custGeom>
            <a:rect b="b" l="l" r="r" t="t"/>
            <a:pathLst>
              <a:path extrusionOk="0" h="228600" w="40005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190499"/>
                </a:lnTo>
                <a:cubicBezTo>
                  <a:pt x="400050" y="211542"/>
                  <a:pt x="382992" y="228600"/>
                  <a:pt x="361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872486" y="1785938"/>
            <a:ext cx="3500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</a:t>
            </a:r>
            <a:endParaRPr b="0" i="0" sz="1200" u="none" cap="none" strike="noStrike"/>
          </a:p>
        </p:txBody>
      </p:sp>
      <p:sp>
        <p:nvSpPr>
          <p:cNvPr id="295" name="Google Shape;295;p22"/>
          <p:cNvSpPr/>
          <p:nvPr/>
        </p:nvSpPr>
        <p:spPr>
          <a:xfrm>
            <a:off x="1227386" y="1785938"/>
            <a:ext cx="650081" cy="171450"/>
          </a:xfrm>
          <a:custGeom>
            <a:rect b="b" l="l" r="r" t="t"/>
            <a:pathLst>
              <a:path extrusionOk="0" h="228600" w="866775">
                <a:moveTo>
                  <a:pt x="38101" y="0"/>
                </a:moveTo>
                <a:lnTo>
                  <a:pt x="828674" y="0"/>
                </a:lnTo>
                <a:cubicBezTo>
                  <a:pt x="849717" y="0"/>
                  <a:pt x="866775" y="17058"/>
                  <a:pt x="866775" y="38101"/>
                </a:cubicBezTo>
                <a:lnTo>
                  <a:pt x="866775" y="190499"/>
                </a:lnTo>
                <a:cubicBezTo>
                  <a:pt x="866775" y="211542"/>
                  <a:pt x="849717" y="228600"/>
                  <a:pt x="828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1227386" y="1785938"/>
            <a:ext cx="7000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</a:t>
            </a:r>
            <a:endParaRPr b="0" i="0" sz="1200" u="none" cap="none" strike="noStrike"/>
          </a:p>
        </p:txBody>
      </p:sp>
      <p:sp>
        <p:nvSpPr>
          <p:cNvPr id="297" name="Google Shape;297;p22"/>
          <p:cNvSpPr/>
          <p:nvPr/>
        </p:nvSpPr>
        <p:spPr>
          <a:xfrm>
            <a:off x="1937966" y="1785938"/>
            <a:ext cx="750094" cy="171450"/>
          </a:xfrm>
          <a:custGeom>
            <a:rect b="b" l="l" r="r" t="t"/>
            <a:pathLst>
              <a:path extrusionOk="0" h="228600" w="1000125">
                <a:moveTo>
                  <a:pt x="38101" y="0"/>
                </a:moveTo>
                <a:lnTo>
                  <a:pt x="962024" y="0"/>
                </a:lnTo>
                <a:cubicBezTo>
                  <a:pt x="983067" y="0"/>
                  <a:pt x="1000125" y="17058"/>
                  <a:pt x="1000125" y="38101"/>
                </a:cubicBezTo>
                <a:lnTo>
                  <a:pt x="1000125" y="190499"/>
                </a:lnTo>
                <a:cubicBezTo>
                  <a:pt x="1000125" y="211542"/>
                  <a:pt x="983067" y="228600"/>
                  <a:pt x="962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1937966" y="1785938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 Modules</a:t>
            </a:r>
            <a:endParaRPr b="0" i="0" sz="1200" u="none" cap="none" strike="noStrike"/>
          </a:p>
        </p:txBody>
      </p:sp>
      <p:sp>
        <p:nvSpPr>
          <p:cNvPr id="299" name="Google Shape;299;p22"/>
          <p:cNvSpPr/>
          <p:nvPr/>
        </p:nvSpPr>
        <p:spPr>
          <a:xfrm>
            <a:off x="300038" y="2200275"/>
            <a:ext cx="5622131" cy="1285875"/>
          </a:xfrm>
          <a:custGeom>
            <a:rect b="b" l="l" r="r" t="t"/>
            <a:pathLst>
              <a:path extrusionOk="0" h="1714500" w="7496175">
                <a:moveTo>
                  <a:pt x="38100" y="0"/>
                </a:moveTo>
                <a:lnTo>
                  <a:pt x="7419983" y="0"/>
                </a:lnTo>
                <a:cubicBezTo>
                  <a:pt x="7462063" y="0"/>
                  <a:pt x="7496175" y="34112"/>
                  <a:pt x="7496175" y="76192"/>
                </a:cubicBezTo>
                <a:lnTo>
                  <a:pt x="7496175" y="1638308"/>
                </a:lnTo>
                <a:cubicBezTo>
                  <a:pt x="7496175" y="1680388"/>
                  <a:pt x="7462063" y="1714500"/>
                  <a:pt x="7419983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300038" y="2200275"/>
            <a:ext cx="28575" cy="1285875"/>
          </a:xfrm>
          <a:custGeom>
            <a:rect b="b" l="l" r="r" t="t"/>
            <a:pathLst>
              <a:path extrusionOk="0" h="1714500" w="381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428625" y="2400300"/>
            <a:ext cx="285750" cy="28575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500063" y="2471738"/>
            <a:ext cx="142875" cy="142875"/>
          </a:xfrm>
          <a:custGeom>
            <a:rect b="b" l="l" r="r" t="t"/>
            <a:pathLst>
              <a:path extrusionOk="0" h="190500" w="190500">
                <a:moveTo>
                  <a:pt x="189198" y="92943"/>
                </a:moveTo>
                <a:lnTo>
                  <a:pt x="181087" y="87920"/>
                </a:lnTo>
                <a:cubicBezTo>
                  <a:pt x="181012" y="87176"/>
                  <a:pt x="180975" y="86469"/>
                  <a:pt x="180901" y="85725"/>
                </a:cubicBezTo>
                <a:lnTo>
                  <a:pt x="187858" y="79214"/>
                </a:lnTo>
                <a:cubicBezTo>
                  <a:pt x="188193" y="78879"/>
                  <a:pt x="188454" y="78507"/>
                  <a:pt x="188602" y="78060"/>
                </a:cubicBezTo>
                <a:cubicBezTo>
                  <a:pt x="188751" y="77614"/>
                  <a:pt x="188788" y="77130"/>
                  <a:pt x="188677" y="76684"/>
                </a:cubicBezTo>
                <a:cubicBezTo>
                  <a:pt x="188565" y="76237"/>
                  <a:pt x="188379" y="75791"/>
                  <a:pt x="188082" y="75456"/>
                </a:cubicBezTo>
                <a:cubicBezTo>
                  <a:pt x="187784" y="75121"/>
                  <a:pt x="187412" y="74823"/>
                  <a:pt x="186965" y="74675"/>
                </a:cubicBezTo>
                <a:lnTo>
                  <a:pt x="178036" y="71326"/>
                </a:lnTo>
                <a:cubicBezTo>
                  <a:pt x="177850" y="70619"/>
                  <a:pt x="177626" y="69912"/>
                  <a:pt x="177403" y="69242"/>
                </a:cubicBezTo>
                <a:lnTo>
                  <a:pt x="182984" y="61503"/>
                </a:lnTo>
                <a:cubicBezTo>
                  <a:pt x="183245" y="61131"/>
                  <a:pt x="183431" y="60685"/>
                  <a:pt x="183468" y="60238"/>
                </a:cubicBezTo>
                <a:cubicBezTo>
                  <a:pt x="183505" y="59792"/>
                  <a:pt x="183468" y="59308"/>
                  <a:pt x="183282" y="58862"/>
                </a:cubicBezTo>
                <a:cubicBezTo>
                  <a:pt x="183096" y="58415"/>
                  <a:pt x="182835" y="58043"/>
                  <a:pt x="182463" y="57783"/>
                </a:cubicBezTo>
                <a:cubicBezTo>
                  <a:pt x="182091" y="57522"/>
                  <a:pt x="181682" y="57299"/>
                  <a:pt x="181198" y="57224"/>
                </a:cubicBezTo>
                <a:lnTo>
                  <a:pt x="171748" y="55662"/>
                </a:lnTo>
                <a:cubicBezTo>
                  <a:pt x="171413" y="55029"/>
                  <a:pt x="171078" y="54397"/>
                  <a:pt x="170743" y="53727"/>
                </a:cubicBezTo>
                <a:lnTo>
                  <a:pt x="174724" y="45021"/>
                </a:lnTo>
                <a:cubicBezTo>
                  <a:pt x="174910" y="44611"/>
                  <a:pt x="174985" y="44128"/>
                  <a:pt x="174947" y="43681"/>
                </a:cubicBezTo>
                <a:cubicBezTo>
                  <a:pt x="174910" y="43235"/>
                  <a:pt x="174761" y="42788"/>
                  <a:pt x="174501" y="42379"/>
                </a:cubicBezTo>
                <a:cubicBezTo>
                  <a:pt x="174241" y="41970"/>
                  <a:pt x="173906" y="41672"/>
                  <a:pt x="173459" y="41449"/>
                </a:cubicBezTo>
                <a:cubicBezTo>
                  <a:pt x="173013" y="41225"/>
                  <a:pt x="172566" y="41151"/>
                  <a:pt x="172120" y="41151"/>
                </a:cubicBezTo>
                <a:lnTo>
                  <a:pt x="162520" y="41486"/>
                </a:lnTo>
                <a:cubicBezTo>
                  <a:pt x="162074" y="40928"/>
                  <a:pt x="161627" y="40407"/>
                  <a:pt x="161181" y="39849"/>
                </a:cubicBezTo>
                <a:lnTo>
                  <a:pt x="163339" y="30435"/>
                </a:lnTo>
                <a:cubicBezTo>
                  <a:pt x="163450" y="29989"/>
                  <a:pt x="163450" y="29505"/>
                  <a:pt x="163302" y="29059"/>
                </a:cubicBezTo>
                <a:cubicBezTo>
                  <a:pt x="163153" y="28612"/>
                  <a:pt x="162930" y="28203"/>
                  <a:pt x="162595" y="27868"/>
                </a:cubicBezTo>
                <a:cubicBezTo>
                  <a:pt x="162260" y="27533"/>
                  <a:pt x="161851" y="27310"/>
                  <a:pt x="161404" y="27161"/>
                </a:cubicBezTo>
                <a:cubicBezTo>
                  <a:pt x="160958" y="27012"/>
                  <a:pt x="160474" y="27012"/>
                  <a:pt x="160027" y="27124"/>
                </a:cubicBezTo>
                <a:lnTo>
                  <a:pt x="150688" y="29356"/>
                </a:lnTo>
                <a:cubicBezTo>
                  <a:pt x="150168" y="28910"/>
                  <a:pt x="149609" y="28463"/>
                  <a:pt x="149051" y="28017"/>
                </a:cubicBezTo>
                <a:lnTo>
                  <a:pt x="149386" y="18417"/>
                </a:lnTo>
                <a:cubicBezTo>
                  <a:pt x="149423" y="17934"/>
                  <a:pt x="149312" y="17487"/>
                  <a:pt x="149089" y="17078"/>
                </a:cubicBezTo>
                <a:cubicBezTo>
                  <a:pt x="148865" y="16669"/>
                  <a:pt x="148568" y="16297"/>
                  <a:pt x="148158" y="16036"/>
                </a:cubicBezTo>
                <a:cubicBezTo>
                  <a:pt x="147749" y="15776"/>
                  <a:pt x="147340" y="15627"/>
                  <a:pt x="146856" y="15590"/>
                </a:cubicBezTo>
                <a:cubicBezTo>
                  <a:pt x="146372" y="15553"/>
                  <a:pt x="145926" y="15627"/>
                  <a:pt x="145479" y="15813"/>
                </a:cubicBezTo>
                <a:lnTo>
                  <a:pt x="136810" y="19794"/>
                </a:lnTo>
                <a:cubicBezTo>
                  <a:pt x="136178" y="19459"/>
                  <a:pt x="135545" y="19124"/>
                  <a:pt x="134913" y="18790"/>
                </a:cubicBezTo>
                <a:lnTo>
                  <a:pt x="133350" y="9339"/>
                </a:lnTo>
                <a:cubicBezTo>
                  <a:pt x="133276" y="8892"/>
                  <a:pt x="133090" y="8446"/>
                  <a:pt x="132792" y="8074"/>
                </a:cubicBezTo>
                <a:cubicBezTo>
                  <a:pt x="132494" y="7702"/>
                  <a:pt x="132122" y="7441"/>
                  <a:pt x="131713" y="7255"/>
                </a:cubicBezTo>
                <a:cubicBezTo>
                  <a:pt x="131304" y="7069"/>
                  <a:pt x="130820" y="6995"/>
                  <a:pt x="130336" y="7069"/>
                </a:cubicBezTo>
                <a:cubicBezTo>
                  <a:pt x="129853" y="7144"/>
                  <a:pt x="129443" y="7293"/>
                  <a:pt x="129071" y="7553"/>
                </a:cubicBezTo>
                <a:lnTo>
                  <a:pt x="121295" y="13134"/>
                </a:lnTo>
                <a:cubicBezTo>
                  <a:pt x="120588" y="12911"/>
                  <a:pt x="119881" y="12725"/>
                  <a:pt x="119211" y="12502"/>
                </a:cubicBezTo>
                <a:lnTo>
                  <a:pt x="115863" y="3572"/>
                </a:lnTo>
                <a:cubicBezTo>
                  <a:pt x="115714" y="3125"/>
                  <a:pt x="115416" y="2753"/>
                  <a:pt x="115081" y="2456"/>
                </a:cubicBezTo>
                <a:cubicBezTo>
                  <a:pt x="114746" y="2158"/>
                  <a:pt x="114300" y="1935"/>
                  <a:pt x="113854" y="1860"/>
                </a:cubicBezTo>
                <a:cubicBezTo>
                  <a:pt x="113407" y="1786"/>
                  <a:pt x="112923" y="1786"/>
                  <a:pt x="112477" y="1935"/>
                </a:cubicBezTo>
                <a:cubicBezTo>
                  <a:pt x="112030" y="2084"/>
                  <a:pt x="111621" y="2344"/>
                  <a:pt x="111323" y="2679"/>
                </a:cubicBezTo>
                <a:lnTo>
                  <a:pt x="104775" y="9637"/>
                </a:lnTo>
                <a:cubicBezTo>
                  <a:pt x="104031" y="9562"/>
                  <a:pt x="103324" y="9488"/>
                  <a:pt x="102580" y="9451"/>
                </a:cubicBezTo>
                <a:lnTo>
                  <a:pt x="97594" y="1302"/>
                </a:lnTo>
                <a:cubicBezTo>
                  <a:pt x="97334" y="893"/>
                  <a:pt x="96999" y="595"/>
                  <a:pt x="96589" y="335"/>
                </a:cubicBezTo>
                <a:cubicBezTo>
                  <a:pt x="96180" y="74"/>
                  <a:pt x="95734" y="0"/>
                  <a:pt x="95250" y="0"/>
                </a:cubicBezTo>
                <a:cubicBezTo>
                  <a:pt x="94766" y="0"/>
                  <a:pt x="94320" y="112"/>
                  <a:pt x="93911" y="335"/>
                </a:cubicBezTo>
                <a:cubicBezTo>
                  <a:pt x="93501" y="558"/>
                  <a:pt x="93166" y="893"/>
                  <a:pt x="92906" y="1302"/>
                </a:cubicBezTo>
                <a:lnTo>
                  <a:pt x="87883" y="9413"/>
                </a:lnTo>
                <a:cubicBezTo>
                  <a:pt x="87139" y="9488"/>
                  <a:pt x="86432" y="9525"/>
                  <a:pt x="85688" y="9637"/>
                </a:cubicBezTo>
                <a:lnTo>
                  <a:pt x="79214" y="2642"/>
                </a:lnTo>
                <a:cubicBezTo>
                  <a:pt x="78879" y="2307"/>
                  <a:pt x="78507" y="2046"/>
                  <a:pt x="78060" y="1898"/>
                </a:cubicBezTo>
                <a:cubicBezTo>
                  <a:pt x="77614" y="1749"/>
                  <a:pt x="77130" y="1712"/>
                  <a:pt x="76684" y="1823"/>
                </a:cubicBezTo>
                <a:cubicBezTo>
                  <a:pt x="76237" y="1935"/>
                  <a:pt x="75791" y="2121"/>
                  <a:pt x="75456" y="2418"/>
                </a:cubicBezTo>
                <a:cubicBezTo>
                  <a:pt x="75121" y="2716"/>
                  <a:pt x="74823" y="3088"/>
                  <a:pt x="74675" y="3535"/>
                </a:cubicBezTo>
                <a:lnTo>
                  <a:pt x="71326" y="12464"/>
                </a:lnTo>
                <a:cubicBezTo>
                  <a:pt x="70619" y="12688"/>
                  <a:pt x="69912" y="12874"/>
                  <a:pt x="69205" y="13097"/>
                </a:cubicBezTo>
                <a:lnTo>
                  <a:pt x="61466" y="7516"/>
                </a:lnTo>
                <a:cubicBezTo>
                  <a:pt x="61094" y="7255"/>
                  <a:pt x="60647" y="7069"/>
                  <a:pt x="60201" y="7032"/>
                </a:cubicBezTo>
                <a:cubicBezTo>
                  <a:pt x="59754" y="6995"/>
                  <a:pt x="59271" y="7032"/>
                  <a:pt x="58824" y="7218"/>
                </a:cubicBezTo>
                <a:cubicBezTo>
                  <a:pt x="58378" y="7404"/>
                  <a:pt x="58006" y="7665"/>
                  <a:pt x="57745" y="8037"/>
                </a:cubicBezTo>
                <a:cubicBezTo>
                  <a:pt x="57485" y="8409"/>
                  <a:pt x="57262" y="8818"/>
                  <a:pt x="57187" y="9302"/>
                </a:cubicBezTo>
                <a:lnTo>
                  <a:pt x="55625" y="18752"/>
                </a:lnTo>
                <a:cubicBezTo>
                  <a:pt x="54992" y="19087"/>
                  <a:pt x="54359" y="19422"/>
                  <a:pt x="53690" y="19757"/>
                </a:cubicBezTo>
                <a:lnTo>
                  <a:pt x="44983" y="15850"/>
                </a:lnTo>
                <a:cubicBezTo>
                  <a:pt x="44574" y="15664"/>
                  <a:pt x="44090" y="15590"/>
                  <a:pt x="43607" y="15627"/>
                </a:cubicBezTo>
                <a:cubicBezTo>
                  <a:pt x="43123" y="15664"/>
                  <a:pt x="42676" y="15813"/>
                  <a:pt x="42304" y="16073"/>
                </a:cubicBezTo>
                <a:cubicBezTo>
                  <a:pt x="41932" y="16334"/>
                  <a:pt x="41597" y="16706"/>
                  <a:pt x="41374" y="17115"/>
                </a:cubicBezTo>
                <a:cubicBezTo>
                  <a:pt x="41151" y="17525"/>
                  <a:pt x="41077" y="18008"/>
                  <a:pt x="41077" y="18455"/>
                </a:cubicBezTo>
                <a:lnTo>
                  <a:pt x="41411" y="28054"/>
                </a:lnTo>
                <a:cubicBezTo>
                  <a:pt x="40853" y="28501"/>
                  <a:pt x="40295" y="28947"/>
                  <a:pt x="39774" y="29394"/>
                </a:cubicBezTo>
                <a:lnTo>
                  <a:pt x="30435" y="27161"/>
                </a:lnTo>
                <a:cubicBezTo>
                  <a:pt x="29989" y="27050"/>
                  <a:pt x="29505" y="27050"/>
                  <a:pt x="29059" y="27198"/>
                </a:cubicBezTo>
                <a:cubicBezTo>
                  <a:pt x="28612" y="27347"/>
                  <a:pt x="28203" y="27570"/>
                  <a:pt x="27868" y="27905"/>
                </a:cubicBezTo>
                <a:cubicBezTo>
                  <a:pt x="27533" y="28240"/>
                  <a:pt x="27310" y="28649"/>
                  <a:pt x="27161" y="29096"/>
                </a:cubicBezTo>
                <a:cubicBezTo>
                  <a:pt x="27012" y="29542"/>
                  <a:pt x="27012" y="30026"/>
                  <a:pt x="27124" y="30473"/>
                </a:cubicBezTo>
                <a:lnTo>
                  <a:pt x="29356" y="39812"/>
                </a:lnTo>
                <a:cubicBezTo>
                  <a:pt x="28910" y="40332"/>
                  <a:pt x="28463" y="40891"/>
                  <a:pt x="28017" y="41449"/>
                </a:cubicBezTo>
                <a:lnTo>
                  <a:pt x="18417" y="41114"/>
                </a:lnTo>
                <a:cubicBezTo>
                  <a:pt x="17934" y="41114"/>
                  <a:pt x="17487" y="41188"/>
                  <a:pt x="17078" y="41411"/>
                </a:cubicBezTo>
                <a:cubicBezTo>
                  <a:pt x="16669" y="41635"/>
                  <a:pt x="16297" y="41932"/>
                  <a:pt x="16036" y="42304"/>
                </a:cubicBezTo>
                <a:cubicBezTo>
                  <a:pt x="15776" y="42676"/>
                  <a:pt x="15627" y="43123"/>
                  <a:pt x="15590" y="43607"/>
                </a:cubicBezTo>
                <a:cubicBezTo>
                  <a:pt x="15553" y="44090"/>
                  <a:pt x="15627" y="44537"/>
                  <a:pt x="15813" y="44946"/>
                </a:cubicBezTo>
                <a:lnTo>
                  <a:pt x="19794" y="53653"/>
                </a:lnTo>
                <a:cubicBezTo>
                  <a:pt x="19459" y="54285"/>
                  <a:pt x="19124" y="54918"/>
                  <a:pt x="18790" y="55587"/>
                </a:cubicBezTo>
                <a:lnTo>
                  <a:pt x="9339" y="57113"/>
                </a:lnTo>
                <a:cubicBezTo>
                  <a:pt x="8892" y="57187"/>
                  <a:pt x="8446" y="57373"/>
                  <a:pt x="8074" y="57671"/>
                </a:cubicBezTo>
                <a:cubicBezTo>
                  <a:pt x="7702" y="57969"/>
                  <a:pt x="7441" y="58341"/>
                  <a:pt x="7255" y="58750"/>
                </a:cubicBezTo>
                <a:cubicBezTo>
                  <a:pt x="7069" y="59159"/>
                  <a:pt x="6995" y="59643"/>
                  <a:pt x="7069" y="60127"/>
                </a:cubicBezTo>
                <a:cubicBezTo>
                  <a:pt x="7144" y="60610"/>
                  <a:pt x="7293" y="61020"/>
                  <a:pt x="7553" y="61392"/>
                </a:cubicBezTo>
                <a:lnTo>
                  <a:pt x="13134" y="69131"/>
                </a:lnTo>
                <a:cubicBezTo>
                  <a:pt x="12911" y="69838"/>
                  <a:pt x="12725" y="70545"/>
                  <a:pt x="12502" y="71251"/>
                </a:cubicBezTo>
                <a:lnTo>
                  <a:pt x="3572" y="74600"/>
                </a:lnTo>
                <a:cubicBezTo>
                  <a:pt x="3125" y="74749"/>
                  <a:pt x="2753" y="75047"/>
                  <a:pt x="2456" y="75381"/>
                </a:cubicBezTo>
                <a:cubicBezTo>
                  <a:pt x="2158" y="75716"/>
                  <a:pt x="1935" y="76163"/>
                  <a:pt x="1860" y="76609"/>
                </a:cubicBezTo>
                <a:cubicBezTo>
                  <a:pt x="1786" y="77056"/>
                  <a:pt x="1786" y="77539"/>
                  <a:pt x="1935" y="77986"/>
                </a:cubicBezTo>
                <a:cubicBezTo>
                  <a:pt x="2084" y="78432"/>
                  <a:pt x="2344" y="78842"/>
                  <a:pt x="2679" y="79139"/>
                </a:cubicBezTo>
                <a:lnTo>
                  <a:pt x="9637" y="85651"/>
                </a:lnTo>
                <a:cubicBezTo>
                  <a:pt x="9562" y="86395"/>
                  <a:pt x="9488" y="87102"/>
                  <a:pt x="9413" y="87846"/>
                </a:cubicBezTo>
                <a:lnTo>
                  <a:pt x="1302" y="92943"/>
                </a:lnTo>
                <a:cubicBezTo>
                  <a:pt x="893" y="93204"/>
                  <a:pt x="595" y="93538"/>
                  <a:pt x="335" y="93948"/>
                </a:cubicBezTo>
                <a:cubicBezTo>
                  <a:pt x="74" y="94357"/>
                  <a:pt x="0" y="94804"/>
                  <a:pt x="0" y="95287"/>
                </a:cubicBezTo>
                <a:cubicBezTo>
                  <a:pt x="0" y="95771"/>
                  <a:pt x="112" y="96217"/>
                  <a:pt x="335" y="96627"/>
                </a:cubicBezTo>
                <a:cubicBezTo>
                  <a:pt x="558" y="97036"/>
                  <a:pt x="893" y="97371"/>
                  <a:pt x="1302" y="97631"/>
                </a:cubicBezTo>
                <a:lnTo>
                  <a:pt x="9413" y="102654"/>
                </a:lnTo>
                <a:cubicBezTo>
                  <a:pt x="9488" y="103398"/>
                  <a:pt x="9525" y="104105"/>
                  <a:pt x="9637" y="104849"/>
                </a:cubicBezTo>
                <a:lnTo>
                  <a:pt x="2642" y="111286"/>
                </a:lnTo>
                <a:cubicBezTo>
                  <a:pt x="2307" y="111621"/>
                  <a:pt x="2046" y="111993"/>
                  <a:pt x="1898" y="112440"/>
                </a:cubicBezTo>
                <a:cubicBezTo>
                  <a:pt x="1749" y="112886"/>
                  <a:pt x="1712" y="113370"/>
                  <a:pt x="1823" y="113816"/>
                </a:cubicBezTo>
                <a:cubicBezTo>
                  <a:pt x="1935" y="114263"/>
                  <a:pt x="2121" y="114709"/>
                  <a:pt x="2418" y="115044"/>
                </a:cubicBezTo>
                <a:cubicBezTo>
                  <a:pt x="2716" y="115379"/>
                  <a:pt x="3088" y="115677"/>
                  <a:pt x="3535" y="115825"/>
                </a:cubicBezTo>
                <a:lnTo>
                  <a:pt x="12464" y="119174"/>
                </a:lnTo>
                <a:cubicBezTo>
                  <a:pt x="12688" y="119881"/>
                  <a:pt x="12874" y="120588"/>
                  <a:pt x="13097" y="121258"/>
                </a:cubicBezTo>
                <a:lnTo>
                  <a:pt x="7516" y="128997"/>
                </a:lnTo>
                <a:cubicBezTo>
                  <a:pt x="7255" y="129369"/>
                  <a:pt x="7069" y="129815"/>
                  <a:pt x="7032" y="130262"/>
                </a:cubicBezTo>
                <a:cubicBezTo>
                  <a:pt x="6995" y="130708"/>
                  <a:pt x="7032" y="131192"/>
                  <a:pt x="7218" y="131638"/>
                </a:cubicBezTo>
                <a:cubicBezTo>
                  <a:pt x="7404" y="132085"/>
                  <a:pt x="7665" y="132457"/>
                  <a:pt x="8037" y="132717"/>
                </a:cubicBezTo>
                <a:cubicBezTo>
                  <a:pt x="8409" y="132978"/>
                  <a:pt x="8818" y="133201"/>
                  <a:pt x="9302" y="133276"/>
                </a:cubicBezTo>
                <a:lnTo>
                  <a:pt x="18752" y="134838"/>
                </a:lnTo>
                <a:cubicBezTo>
                  <a:pt x="19087" y="135471"/>
                  <a:pt x="19422" y="136103"/>
                  <a:pt x="19757" y="136736"/>
                </a:cubicBezTo>
                <a:lnTo>
                  <a:pt x="15850" y="145517"/>
                </a:lnTo>
                <a:cubicBezTo>
                  <a:pt x="15664" y="145926"/>
                  <a:pt x="15590" y="146410"/>
                  <a:pt x="15627" y="146856"/>
                </a:cubicBezTo>
                <a:cubicBezTo>
                  <a:pt x="15664" y="147303"/>
                  <a:pt x="15813" y="147786"/>
                  <a:pt x="16073" y="148158"/>
                </a:cubicBezTo>
                <a:cubicBezTo>
                  <a:pt x="16334" y="148568"/>
                  <a:pt x="16669" y="148865"/>
                  <a:pt x="17078" y="149089"/>
                </a:cubicBezTo>
                <a:cubicBezTo>
                  <a:pt x="17487" y="149312"/>
                  <a:pt x="17971" y="149386"/>
                  <a:pt x="18417" y="149386"/>
                </a:cubicBezTo>
                <a:lnTo>
                  <a:pt x="28017" y="149051"/>
                </a:lnTo>
                <a:cubicBezTo>
                  <a:pt x="28463" y="149609"/>
                  <a:pt x="28910" y="150130"/>
                  <a:pt x="29356" y="150688"/>
                </a:cubicBezTo>
                <a:lnTo>
                  <a:pt x="27161" y="160065"/>
                </a:lnTo>
                <a:cubicBezTo>
                  <a:pt x="27050" y="160511"/>
                  <a:pt x="27050" y="160995"/>
                  <a:pt x="27198" y="161441"/>
                </a:cubicBezTo>
                <a:cubicBezTo>
                  <a:pt x="27347" y="161888"/>
                  <a:pt x="27570" y="162297"/>
                  <a:pt x="27905" y="162632"/>
                </a:cubicBezTo>
                <a:cubicBezTo>
                  <a:pt x="28240" y="162967"/>
                  <a:pt x="28649" y="163190"/>
                  <a:pt x="29096" y="163339"/>
                </a:cubicBezTo>
                <a:cubicBezTo>
                  <a:pt x="29542" y="163488"/>
                  <a:pt x="30026" y="163488"/>
                  <a:pt x="30473" y="163376"/>
                </a:cubicBezTo>
                <a:lnTo>
                  <a:pt x="39849" y="161181"/>
                </a:lnTo>
                <a:cubicBezTo>
                  <a:pt x="40407" y="161627"/>
                  <a:pt x="40928" y="162074"/>
                  <a:pt x="41486" y="162520"/>
                </a:cubicBezTo>
                <a:lnTo>
                  <a:pt x="41151" y="172120"/>
                </a:lnTo>
                <a:cubicBezTo>
                  <a:pt x="41151" y="172603"/>
                  <a:pt x="41225" y="173050"/>
                  <a:pt x="41449" y="173459"/>
                </a:cubicBezTo>
                <a:cubicBezTo>
                  <a:pt x="41672" y="173868"/>
                  <a:pt x="41970" y="174241"/>
                  <a:pt x="42379" y="174501"/>
                </a:cubicBezTo>
                <a:cubicBezTo>
                  <a:pt x="42788" y="174761"/>
                  <a:pt x="43197" y="174910"/>
                  <a:pt x="43681" y="174947"/>
                </a:cubicBezTo>
                <a:cubicBezTo>
                  <a:pt x="44165" y="174985"/>
                  <a:pt x="44611" y="174910"/>
                  <a:pt x="45021" y="174724"/>
                </a:cubicBezTo>
                <a:lnTo>
                  <a:pt x="53727" y="170743"/>
                </a:lnTo>
                <a:cubicBezTo>
                  <a:pt x="54359" y="171078"/>
                  <a:pt x="54992" y="171413"/>
                  <a:pt x="55625" y="171748"/>
                </a:cubicBezTo>
                <a:lnTo>
                  <a:pt x="57187" y="181198"/>
                </a:lnTo>
                <a:cubicBezTo>
                  <a:pt x="57262" y="181645"/>
                  <a:pt x="57448" y="182091"/>
                  <a:pt x="57745" y="182463"/>
                </a:cubicBezTo>
                <a:cubicBezTo>
                  <a:pt x="58043" y="182835"/>
                  <a:pt x="58415" y="183133"/>
                  <a:pt x="58824" y="183282"/>
                </a:cubicBezTo>
                <a:cubicBezTo>
                  <a:pt x="59234" y="183431"/>
                  <a:pt x="59717" y="183542"/>
                  <a:pt x="60201" y="183468"/>
                </a:cubicBezTo>
                <a:cubicBezTo>
                  <a:pt x="60685" y="183393"/>
                  <a:pt x="61094" y="183245"/>
                  <a:pt x="61466" y="182984"/>
                </a:cubicBezTo>
                <a:lnTo>
                  <a:pt x="69205" y="177403"/>
                </a:lnTo>
                <a:cubicBezTo>
                  <a:pt x="69912" y="177626"/>
                  <a:pt x="70619" y="177812"/>
                  <a:pt x="71289" y="178036"/>
                </a:cubicBezTo>
                <a:lnTo>
                  <a:pt x="74637" y="186965"/>
                </a:lnTo>
                <a:cubicBezTo>
                  <a:pt x="74786" y="187412"/>
                  <a:pt x="75084" y="187784"/>
                  <a:pt x="75419" y="188082"/>
                </a:cubicBezTo>
                <a:cubicBezTo>
                  <a:pt x="75754" y="188379"/>
                  <a:pt x="76200" y="188602"/>
                  <a:pt x="76646" y="188677"/>
                </a:cubicBezTo>
                <a:cubicBezTo>
                  <a:pt x="77093" y="188751"/>
                  <a:pt x="77577" y="188751"/>
                  <a:pt x="78023" y="188602"/>
                </a:cubicBezTo>
                <a:cubicBezTo>
                  <a:pt x="78470" y="188454"/>
                  <a:pt x="78879" y="188193"/>
                  <a:pt x="79177" y="187858"/>
                </a:cubicBezTo>
                <a:lnTo>
                  <a:pt x="85688" y="180901"/>
                </a:lnTo>
                <a:cubicBezTo>
                  <a:pt x="86432" y="180975"/>
                  <a:pt x="87139" y="181049"/>
                  <a:pt x="87883" y="181124"/>
                </a:cubicBezTo>
                <a:lnTo>
                  <a:pt x="92906" y="189235"/>
                </a:lnTo>
                <a:cubicBezTo>
                  <a:pt x="93166" y="189644"/>
                  <a:pt x="93501" y="189942"/>
                  <a:pt x="93911" y="190202"/>
                </a:cubicBezTo>
                <a:cubicBezTo>
                  <a:pt x="94320" y="190463"/>
                  <a:pt x="94766" y="190537"/>
                  <a:pt x="95250" y="190537"/>
                </a:cubicBezTo>
                <a:cubicBezTo>
                  <a:pt x="95734" y="190537"/>
                  <a:pt x="96180" y="190426"/>
                  <a:pt x="96589" y="190202"/>
                </a:cubicBezTo>
                <a:cubicBezTo>
                  <a:pt x="96999" y="189979"/>
                  <a:pt x="97334" y="189644"/>
                  <a:pt x="97594" y="189235"/>
                </a:cubicBezTo>
                <a:lnTo>
                  <a:pt x="102617" y="181124"/>
                </a:lnTo>
                <a:cubicBezTo>
                  <a:pt x="103361" y="181049"/>
                  <a:pt x="104068" y="181012"/>
                  <a:pt x="104812" y="180901"/>
                </a:cubicBezTo>
                <a:lnTo>
                  <a:pt x="111323" y="187858"/>
                </a:lnTo>
                <a:cubicBezTo>
                  <a:pt x="111658" y="188193"/>
                  <a:pt x="112030" y="188454"/>
                  <a:pt x="112477" y="188602"/>
                </a:cubicBezTo>
                <a:cubicBezTo>
                  <a:pt x="112923" y="188751"/>
                  <a:pt x="113407" y="188788"/>
                  <a:pt x="113854" y="188677"/>
                </a:cubicBezTo>
                <a:cubicBezTo>
                  <a:pt x="114300" y="188565"/>
                  <a:pt x="114746" y="188379"/>
                  <a:pt x="115081" y="188082"/>
                </a:cubicBezTo>
                <a:cubicBezTo>
                  <a:pt x="115416" y="187784"/>
                  <a:pt x="115714" y="187412"/>
                  <a:pt x="115863" y="186965"/>
                </a:cubicBezTo>
                <a:lnTo>
                  <a:pt x="119211" y="178036"/>
                </a:lnTo>
                <a:cubicBezTo>
                  <a:pt x="119918" y="177812"/>
                  <a:pt x="120625" y="177626"/>
                  <a:pt x="121295" y="177403"/>
                </a:cubicBezTo>
                <a:lnTo>
                  <a:pt x="129034" y="182984"/>
                </a:lnTo>
                <a:cubicBezTo>
                  <a:pt x="129406" y="183245"/>
                  <a:pt x="129853" y="183431"/>
                  <a:pt x="130299" y="183468"/>
                </a:cubicBezTo>
                <a:cubicBezTo>
                  <a:pt x="130746" y="183505"/>
                  <a:pt x="131229" y="183468"/>
                  <a:pt x="131676" y="183282"/>
                </a:cubicBezTo>
                <a:cubicBezTo>
                  <a:pt x="132122" y="183096"/>
                  <a:pt x="132494" y="182835"/>
                  <a:pt x="132755" y="182463"/>
                </a:cubicBezTo>
                <a:cubicBezTo>
                  <a:pt x="133015" y="182091"/>
                  <a:pt x="133238" y="181682"/>
                  <a:pt x="133313" y="181198"/>
                </a:cubicBezTo>
                <a:lnTo>
                  <a:pt x="134875" y="171748"/>
                </a:lnTo>
                <a:cubicBezTo>
                  <a:pt x="135508" y="171413"/>
                  <a:pt x="136141" y="171078"/>
                  <a:pt x="136773" y="170743"/>
                </a:cubicBezTo>
                <a:lnTo>
                  <a:pt x="145479" y="174724"/>
                </a:lnTo>
                <a:cubicBezTo>
                  <a:pt x="145889" y="174910"/>
                  <a:pt x="146372" y="174985"/>
                  <a:pt x="146819" y="174947"/>
                </a:cubicBezTo>
                <a:cubicBezTo>
                  <a:pt x="147265" y="174910"/>
                  <a:pt x="147712" y="174761"/>
                  <a:pt x="148121" y="174501"/>
                </a:cubicBezTo>
                <a:cubicBezTo>
                  <a:pt x="148530" y="174241"/>
                  <a:pt x="148828" y="173906"/>
                  <a:pt x="149051" y="173459"/>
                </a:cubicBezTo>
                <a:cubicBezTo>
                  <a:pt x="149275" y="173013"/>
                  <a:pt x="149349" y="172566"/>
                  <a:pt x="149349" y="172120"/>
                </a:cubicBezTo>
                <a:lnTo>
                  <a:pt x="149014" y="162520"/>
                </a:lnTo>
                <a:cubicBezTo>
                  <a:pt x="149572" y="162074"/>
                  <a:pt x="150093" y="161627"/>
                  <a:pt x="150651" y="161181"/>
                </a:cubicBezTo>
                <a:lnTo>
                  <a:pt x="160027" y="163376"/>
                </a:lnTo>
                <a:cubicBezTo>
                  <a:pt x="160474" y="163488"/>
                  <a:pt x="160958" y="163488"/>
                  <a:pt x="161404" y="163339"/>
                </a:cubicBezTo>
                <a:cubicBezTo>
                  <a:pt x="161851" y="163190"/>
                  <a:pt x="162260" y="162967"/>
                  <a:pt x="162595" y="162632"/>
                </a:cubicBezTo>
                <a:cubicBezTo>
                  <a:pt x="162930" y="162297"/>
                  <a:pt x="163153" y="161888"/>
                  <a:pt x="163302" y="161441"/>
                </a:cubicBezTo>
                <a:cubicBezTo>
                  <a:pt x="163450" y="160995"/>
                  <a:pt x="163450" y="160511"/>
                  <a:pt x="163339" y="160065"/>
                </a:cubicBezTo>
                <a:lnTo>
                  <a:pt x="161144" y="150688"/>
                </a:lnTo>
                <a:cubicBezTo>
                  <a:pt x="161590" y="150168"/>
                  <a:pt x="162037" y="149609"/>
                  <a:pt x="162483" y="149051"/>
                </a:cubicBezTo>
                <a:lnTo>
                  <a:pt x="172083" y="149386"/>
                </a:lnTo>
                <a:cubicBezTo>
                  <a:pt x="172566" y="149423"/>
                  <a:pt x="173013" y="149312"/>
                  <a:pt x="173422" y="149089"/>
                </a:cubicBezTo>
                <a:cubicBezTo>
                  <a:pt x="173831" y="148865"/>
                  <a:pt x="174203" y="148568"/>
                  <a:pt x="174464" y="148158"/>
                </a:cubicBezTo>
                <a:cubicBezTo>
                  <a:pt x="174724" y="147786"/>
                  <a:pt x="174873" y="147340"/>
                  <a:pt x="174910" y="146856"/>
                </a:cubicBezTo>
                <a:cubicBezTo>
                  <a:pt x="174947" y="146372"/>
                  <a:pt x="174873" y="145926"/>
                  <a:pt x="174687" y="145517"/>
                </a:cubicBezTo>
                <a:lnTo>
                  <a:pt x="170706" y="136810"/>
                </a:lnTo>
                <a:cubicBezTo>
                  <a:pt x="171041" y="136178"/>
                  <a:pt x="171376" y="135545"/>
                  <a:pt x="171710" y="134913"/>
                </a:cubicBezTo>
                <a:lnTo>
                  <a:pt x="181161" y="133350"/>
                </a:lnTo>
                <a:cubicBezTo>
                  <a:pt x="181608" y="133276"/>
                  <a:pt x="182054" y="133090"/>
                  <a:pt x="182426" y="132792"/>
                </a:cubicBezTo>
                <a:cubicBezTo>
                  <a:pt x="182798" y="132494"/>
                  <a:pt x="183096" y="132122"/>
                  <a:pt x="183245" y="131713"/>
                </a:cubicBezTo>
                <a:cubicBezTo>
                  <a:pt x="183393" y="131304"/>
                  <a:pt x="183505" y="130820"/>
                  <a:pt x="183431" y="130336"/>
                </a:cubicBezTo>
                <a:cubicBezTo>
                  <a:pt x="183356" y="129853"/>
                  <a:pt x="183207" y="129443"/>
                  <a:pt x="182947" y="129071"/>
                </a:cubicBezTo>
                <a:lnTo>
                  <a:pt x="177366" y="121332"/>
                </a:lnTo>
                <a:cubicBezTo>
                  <a:pt x="177589" y="120625"/>
                  <a:pt x="177775" y="119918"/>
                  <a:pt x="177998" y="119249"/>
                </a:cubicBezTo>
                <a:lnTo>
                  <a:pt x="186928" y="115900"/>
                </a:lnTo>
                <a:cubicBezTo>
                  <a:pt x="187375" y="115751"/>
                  <a:pt x="187747" y="115453"/>
                  <a:pt x="188044" y="115119"/>
                </a:cubicBezTo>
                <a:cubicBezTo>
                  <a:pt x="188342" y="114784"/>
                  <a:pt x="188565" y="114337"/>
                  <a:pt x="188640" y="113891"/>
                </a:cubicBezTo>
                <a:cubicBezTo>
                  <a:pt x="188714" y="113444"/>
                  <a:pt x="188714" y="112961"/>
                  <a:pt x="188565" y="112514"/>
                </a:cubicBezTo>
                <a:cubicBezTo>
                  <a:pt x="188416" y="112068"/>
                  <a:pt x="188156" y="111658"/>
                  <a:pt x="187821" y="111361"/>
                </a:cubicBezTo>
                <a:lnTo>
                  <a:pt x="180863" y="104849"/>
                </a:lnTo>
                <a:cubicBezTo>
                  <a:pt x="180938" y="104142"/>
                  <a:pt x="181012" y="103398"/>
                  <a:pt x="181087" y="102654"/>
                </a:cubicBezTo>
                <a:lnTo>
                  <a:pt x="189198" y="97631"/>
                </a:lnTo>
                <a:cubicBezTo>
                  <a:pt x="189607" y="97371"/>
                  <a:pt x="189905" y="97036"/>
                  <a:pt x="190165" y="96627"/>
                </a:cubicBezTo>
                <a:cubicBezTo>
                  <a:pt x="190426" y="96217"/>
                  <a:pt x="190500" y="95771"/>
                  <a:pt x="190500" y="95287"/>
                </a:cubicBezTo>
                <a:cubicBezTo>
                  <a:pt x="190500" y="94804"/>
                  <a:pt x="190388" y="94357"/>
                  <a:pt x="190165" y="93948"/>
                </a:cubicBezTo>
                <a:cubicBezTo>
                  <a:pt x="189942" y="93538"/>
                  <a:pt x="189607" y="93204"/>
                  <a:pt x="189198" y="92943"/>
                </a:cubicBezTo>
                <a:lnTo>
                  <a:pt x="189198" y="92943"/>
                </a:lnTo>
                <a:close/>
                <a:moveTo>
                  <a:pt x="133015" y="140977"/>
                </a:moveTo>
                <a:cubicBezTo>
                  <a:pt x="131676" y="140680"/>
                  <a:pt x="130262" y="140940"/>
                  <a:pt x="129108" y="141684"/>
                </a:cubicBezTo>
                <a:cubicBezTo>
                  <a:pt x="127955" y="142429"/>
                  <a:pt x="127136" y="143619"/>
                  <a:pt x="126876" y="144959"/>
                </a:cubicBezTo>
                <a:lnTo>
                  <a:pt x="124048" y="158242"/>
                </a:lnTo>
                <a:cubicBezTo>
                  <a:pt x="114895" y="162371"/>
                  <a:pt x="104961" y="164492"/>
                  <a:pt x="94915" y="164455"/>
                </a:cubicBezTo>
                <a:cubicBezTo>
                  <a:pt x="84869" y="164418"/>
                  <a:pt x="74972" y="162185"/>
                  <a:pt x="65856" y="157981"/>
                </a:cubicBezTo>
                <a:lnTo>
                  <a:pt x="63029" y="144698"/>
                </a:lnTo>
                <a:cubicBezTo>
                  <a:pt x="62880" y="144028"/>
                  <a:pt x="62619" y="143396"/>
                  <a:pt x="62247" y="142838"/>
                </a:cubicBezTo>
                <a:cubicBezTo>
                  <a:pt x="61875" y="142280"/>
                  <a:pt x="61354" y="141796"/>
                  <a:pt x="60796" y="141424"/>
                </a:cubicBezTo>
                <a:cubicBezTo>
                  <a:pt x="60238" y="141052"/>
                  <a:pt x="59606" y="140791"/>
                  <a:pt x="58936" y="140680"/>
                </a:cubicBezTo>
                <a:cubicBezTo>
                  <a:pt x="58266" y="140568"/>
                  <a:pt x="57596" y="140568"/>
                  <a:pt x="56927" y="140717"/>
                </a:cubicBezTo>
                <a:lnTo>
                  <a:pt x="45207" y="143247"/>
                </a:lnTo>
                <a:cubicBezTo>
                  <a:pt x="43049" y="141015"/>
                  <a:pt x="41002" y="138596"/>
                  <a:pt x="39142" y="136103"/>
                </a:cubicBezTo>
                <a:lnTo>
                  <a:pt x="96143" y="136103"/>
                </a:lnTo>
                <a:cubicBezTo>
                  <a:pt x="96775" y="136103"/>
                  <a:pt x="97222" y="135992"/>
                  <a:pt x="97222" y="135396"/>
                </a:cubicBezTo>
                <a:lnTo>
                  <a:pt x="97222" y="115230"/>
                </a:lnTo>
                <a:cubicBezTo>
                  <a:pt x="97222" y="114635"/>
                  <a:pt x="96775" y="114523"/>
                  <a:pt x="96143" y="114523"/>
                </a:cubicBezTo>
                <a:lnTo>
                  <a:pt x="79474" y="114523"/>
                </a:lnTo>
                <a:lnTo>
                  <a:pt x="79474" y="101724"/>
                </a:lnTo>
                <a:lnTo>
                  <a:pt x="97520" y="101724"/>
                </a:lnTo>
                <a:cubicBezTo>
                  <a:pt x="99157" y="101724"/>
                  <a:pt x="106338" y="102208"/>
                  <a:pt x="108607" y="111361"/>
                </a:cubicBezTo>
                <a:cubicBezTo>
                  <a:pt x="109314" y="114151"/>
                  <a:pt x="110914" y="123304"/>
                  <a:pt x="111993" y="126243"/>
                </a:cubicBezTo>
                <a:cubicBezTo>
                  <a:pt x="113072" y="129518"/>
                  <a:pt x="117425" y="136103"/>
                  <a:pt x="122076" y="136103"/>
                </a:cubicBezTo>
                <a:lnTo>
                  <a:pt x="151470" y="136103"/>
                </a:lnTo>
                <a:cubicBezTo>
                  <a:pt x="149498" y="138745"/>
                  <a:pt x="147340" y="141238"/>
                  <a:pt x="145033" y="143582"/>
                </a:cubicBezTo>
                <a:lnTo>
                  <a:pt x="133090" y="141015"/>
                </a:lnTo>
                <a:close/>
                <a:moveTo>
                  <a:pt x="142615" y="153814"/>
                </a:moveTo>
                <a:cubicBezTo>
                  <a:pt x="142615" y="154930"/>
                  <a:pt x="142280" y="156046"/>
                  <a:pt x="141647" y="156976"/>
                </a:cubicBezTo>
                <a:cubicBezTo>
                  <a:pt x="141015" y="157907"/>
                  <a:pt x="140159" y="158651"/>
                  <a:pt x="139117" y="159060"/>
                </a:cubicBezTo>
                <a:cubicBezTo>
                  <a:pt x="138075" y="159469"/>
                  <a:pt x="136959" y="159618"/>
                  <a:pt x="135843" y="159395"/>
                </a:cubicBezTo>
                <a:cubicBezTo>
                  <a:pt x="134727" y="159172"/>
                  <a:pt x="133722" y="158651"/>
                  <a:pt x="132941" y="157832"/>
                </a:cubicBezTo>
                <a:cubicBezTo>
                  <a:pt x="132159" y="157014"/>
                  <a:pt x="131601" y="156046"/>
                  <a:pt x="131378" y="154930"/>
                </a:cubicBezTo>
                <a:cubicBezTo>
                  <a:pt x="131155" y="153814"/>
                  <a:pt x="131266" y="152698"/>
                  <a:pt x="131676" y="151656"/>
                </a:cubicBezTo>
                <a:cubicBezTo>
                  <a:pt x="132085" y="150614"/>
                  <a:pt x="132829" y="149721"/>
                  <a:pt x="133759" y="149089"/>
                </a:cubicBezTo>
                <a:cubicBezTo>
                  <a:pt x="134689" y="148456"/>
                  <a:pt x="135768" y="148121"/>
                  <a:pt x="136922" y="148121"/>
                </a:cubicBezTo>
                <a:lnTo>
                  <a:pt x="137071" y="148121"/>
                </a:lnTo>
                <a:cubicBezTo>
                  <a:pt x="138559" y="148158"/>
                  <a:pt x="139936" y="148791"/>
                  <a:pt x="140977" y="149833"/>
                </a:cubicBezTo>
                <a:cubicBezTo>
                  <a:pt x="142019" y="150875"/>
                  <a:pt x="142577" y="152326"/>
                  <a:pt x="142577" y="153777"/>
                </a:cubicBezTo>
                <a:lnTo>
                  <a:pt x="142615" y="153777"/>
                </a:lnTo>
                <a:close/>
                <a:moveTo>
                  <a:pt x="58675" y="153553"/>
                </a:moveTo>
                <a:cubicBezTo>
                  <a:pt x="58675" y="154670"/>
                  <a:pt x="58341" y="155786"/>
                  <a:pt x="57708" y="156716"/>
                </a:cubicBezTo>
                <a:cubicBezTo>
                  <a:pt x="57076" y="157646"/>
                  <a:pt x="56183" y="158390"/>
                  <a:pt x="55178" y="158800"/>
                </a:cubicBezTo>
                <a:cubicBezTo>
                  <a:pt x="54173" y="159209"/>
                  <a:pt x="53020" y="159358"/>
                  <a:pt x="51904" y="159134"/>
                </a:cubicBezTo>
                <a:cubicBezTo>
                  <a:pt x="50788" y="158911"/>
                  <a:pt x="49783" y="158390"/>
                  <a:pt x="49002" y="157572"/>
                </a:cubicBezTo>
                <a:cubicBezTo>
                  <a:pt x="48220" y="156753"/>
                  <a:pt x="47662" y="155786"/>
                  <a:pt x="47439" y="154670"/>
                </a:cubicBezTo>
                <a:cubicBezTo>
                  <a:pt x="47216" y="153553"/>
                  <a:pt x="47327" y="152437"/>
                  <a:pt x="47774" y="151395"/>
                </a:cubicBezTo>
                <a:cubicBezTo>
                  <a:pt x="48220" y="150354"/>
                  <a:pt x="48927" y="149461"/>
                  <a:pt x="49857" y="148865"/>
                </a:cubicBezTo>
                <a:cubicBezTo>
                  <a:pt x="50788" y="148270"/>
                  <a:pt x="51867" y="147898"/>
                  <a:pt x="53020" y="147898"/>
                </a:cubicBezTo>
                <a:lnTo>
                  <a:pt x="53206" y="147898"/>
                </a:lnTo>
                <a:cubicBezTo>
                  <a:pt x="54694" y="147935"/>
                  <a:pt x="56071" y="148568"/>
                  <a:pt x="57113" y="149609"/>
                </a:cubicBezTo>
                <a:cubicBezTo>
                  <a:pt x="58155" y="150651"/>
                  <a:pt x="58713" y="152102"/>
                  <a:pt x="58713" y="153553"/>
                </a:cubicBezTo>
                <a:lnTo>
                  <a:pt x="58750" y="153553"/>
                </a:lnTo>
                <a:close/>
                <a:moveTo>
                  <a:pt x="25896" y="87139"/>
                </a:moveTo>
                <a:lnTo>
                  <a:pt x="38100" y="81707"/>
                </a:lnTo>
                <a:cubicBezTo>
                  <a:pt x="38733" y="81446"/>
                  <a:pt x="39291" y="81037"/>
                  <a:pt x="39737" y="80553"/>
                </a:cubicBezTo>
                <a:cubicBezTo>
                  <a:pt x="40184" y="80070"/>
                  <a:pt x="40556" y="79474"/>
                  <a:pt x="40816" y="78842"/>
                </a:cubicBezTo>
                <a:cubicBezTo>
                  <a:pt x="41077" y="78209"/>
                  <a:pt x="41188" y="77539"/>
                  <a:pt x="41151" y="76870"/>
                </a:cubicBezTo>
                <a:cubicBezTo>
                  <a:pt x="41114" y="76200"/>
                  <a:pt x="40965" y="75530"/>
                  <a:pt x="40704" y="74898"/>
                </a:cubicBezTo>
                <a:lnTo>
                  <a:pt x="38174" y="69242"/>
                </a:lnTo>
                <a:lnTo>
                  <a:pt x="48071" y="69242"/>
                </a:lnTo>
                <a:lnTo>
                  <a:pt x="48071" y="113779"/>
                </a:lnTo>
                <a:lnTo>
                  <a:pt x="28129" y="113779"/>
                </a:lnTo>
                <a:cubicBezTo>
                  <a:pt x="25673" y="105147"/>
                  <a:pt x="24892" y="96069"/>
                  <a:pt x="25859" y="87139"/>
                </a:cubicBezTo>
                <a:close/>
                <a:moveTo>
                  <a:pt x="21692" y="73707"/>
                </a:moveTo>
                <a:cubicBezTo>
                  <a:pt x="21692" y="72963"/>
                  <a:pt x="21841" y="72219"/>
                  <a:pt x="22138" y="71549"/>
                </a:cubicBezTo>
                <a:cubicBezTo>
                  <a:pt x="22436" y="70879"/>
                  <a:pt x="22845" y="70247"/>
                  <a:pt x="23366" y="69726"/>
                </a:cubicBezTo>
                <a:cubicBezTo>
                  <a:pt x="23887" y="69205"/>
                  <a:pt x="24519" y="68796"/>
                  <a:pt x="25189" y="68498"/>
                </a:cubicBezTo>
                <a:cubicBezTo>
                  <a:pt x="25859" y="68200"/>
                  <a:pt x="26603" y="68052"/>
                  <a:pt x="27347" y="68052"/>
                </a:cubicBezTo>
                <a:lnTo>
                  <a:pt x="27533" y="68052"/>
                </a:lnTo>
                <a:cubicBezTo>
                  <a:pt x="28649" y="68089"/>
                  <a:pt x="29728" y="68424"/>
                  <a:pt x="30621" y="69093"/>
                </a:cubicBezTo>
                <a:cubicBezTo>
                  <a:pt x="31514" y="69763"/>
                  <a:pt x="32221" y="70619"/>
                  <a:pt x="32631" y="71661"/>
                </a:cubicBezTo>
                <a:cubicBezTo>
                  <a:pt x="33040" y="72703"/>
                  <a:pt x="33114" y="73819"/>
                  <a:pt x="32891" y="74935"/>
                </a:cubicBezTo>
                <a:cubicBezTo>
                  <a:pt x="32668" y="76051"/>
                  <a:pt x="32110" y="77019"/>
                  <a:pt x="31291" y="77800"/>
                </a:cubicBezTo>
                <a:cubicBezTo>
                  <a:pt x="30473" y="78581"/>
                  <a:pt x="29468" y="79102"/>
                  <a:pt x="28389" y="79325"/>
                </a:cubicBezTo>
                <a:cubicBezTo>
                  <a:pt x="27310" y="79549"/>
                  <a:pt x="26157" y="79400"/>
                  <a:pt x="25152" y="78991"/>
                </a:cubicBezTo>
                <a:cubicBezTo>
                  <a:pt x="24147" y="78581"/>
                  <a:pt x="23254" y="77837"/>
                  <a:pt x="22622" y="76907"/>
                </a:cubicBezTo>
                <a:cubicBezTo>
                  <a:pt x="21989" y="75977"/>
                  <a:pt x="21692" y="74898"/>
                  <a:pt x="21692" y="73782"/>
                </a:cubicBezTo>
                <a:lnTo>
                  <a:pt x="21692" y="73782"/>
                </a:lnTo>
                <a:close/>
                <a:moveTo>
                  <a:pt x="79437" y="82823"/>
                </a:moveTo>
                <a:lnTo>
                  <a:pt x="79437" y="69689"/>
                </a:lnTo>
                <a:lnTo>
                  <a:pt x="102989" y="69689"/>
                </a:lnTo>
                <a:cubicBezTo>
                  <a:pt x="104217" y="69689"/>
                  <a:pt x="111584" y="71103"/>
                  <a:pt x="111584" y="76609"/>
                </a:cubicBezTo>
                <a:cubicBezTo>
                  <a:pt x="111584" y="81186"/>
                  <a:pt x="105928" y="82823"/>
                  <a:pt x="101278" y="82823"/>
                </a:cubicBezTo>
                <a:lnTo>
                  <a:pt x="79437" y="82823"/>
                </a:lnTo>
                <a:close/>
                <a:moveTo>
                  <a:pt x="148456" y="114114"/>
                </a:moveTo>
                <a:cubicBezTo>
                  <a:pt x="144810" y="114523"/>
                  <a:pt x="140791" y="112588"/>
                  <a:pt x="140271" y="110356"/>
                </a:cubicBezTo>
                <a:cubicBezTo>
                  <a:pt x="138113" y="98264"/>
                  <a:pt x="134541" y="95696"/>
                  <a:pt x="128885" y="91232"/>
                </a:cubicBezTo>
                <a:cubicBezTo>
                  <a:pt x="135917" y="86767"/>
                  <a:pt x="143210" y="80218"/>
                  <a:pt x="143210" y="71400"/>
                </a:cubicBezTo>
                <a:cubicBezTo>
                  <a:pt x="143210" y="61912"/>
                  <a:pt x="136699" y="55922"/>
                  <a:pt x="132271" y="52983"/>
                </a:cubicBezTo>
                <a:cubicBezTo>
                  <a:pt x="126020" y="48890"/>
                  <a:pt x="119137" y="48071"/>
                  <a:pt x="117277" y="48071"/>
                </a:cubicBezTo>
                <a:lnTo>
                  <a:pt x="43272" y="48071"/>
                </a:lnTo>
                <a:cubicBezTo>
                  <a:pt x="53504" y="36649"/>
                  <a:pt x="67233" y="28910"/>
                  <a:pt x="82302" y="26045"/>
                </a:cubicBezTo>
                <a:lnTo>
                  <a:pt x="91046" y="35198"/>
                </a:lnTo>
                <a:cubicBezTo>
                  <a:pt x="91529" y="35682"/>
                  <a:pt x="92087" y="36091"/>
                  <a:pt x="92683" y="36351"/>
                </a:cubicBezTo>
                <a:cubicBezTo>
                  <a:pt x="93278" y="36612"/>
                  <a:pt x="93985" y="36761"/>
                  <a:pt x="94655" y="36798"/>
                </a:cubicBezTo>
                <a:cubicBezTo>
                  <a:pt x="95324" y="36835"/>
                  <a:pt x="95994" y="36686"/>
                  <a:pt x="96627" y="36463"/>
                </a:cubicBezTo>
                <a:cubicBezTo>
                  <a:pt x="97259" y="36240"/>
                  <a:pt x="97817" y="35830"/>
                  <a:pt x="98338" y="35384"/>
                </a:cubicBezTo>
                <a:lnTo>
                  <a:pt x="108124" y="26082"/>
                </a:lnTo>
                <a:cubicBezTo>
                  <a:pt x="118095" y="27942"/>
                  <a:pt x="127508" y="31961"/>
                  <a:pt x="135768" y="37840"/>
                </a:cubicBezTo>
                <a:cubicBezTo>
                  <a:pt x="144028" y="43718"/>
                  <a:pt x="150875" y="51308"/>
                  <a:pt x="155897" y="60127"/>
                </a:cubicBezTo>
                <a:lnTo>
                  <a:pt x="149200" y="75233"/>
                </a:lnTo>
                <a:cubicBezTo>
                  <a:pt x="148642" y="76498"/>
                  <a:pt x="148642" y="77912"/>
                  <a:pt x="149126" y="79177"/>
                </a:cubicBezTo>
                <a:cubicBezTo>
                  <a:pt x="149609" y="80442"/>
                  <a:pt x="150577" y="81483"/>
                  <a:pt x="151842" y="82042"/>
                </a:cubicBezTo>
                <a:lnTo>
                  <a:pt x="164716" y="87734"/>
                </a:lnTo>
                <a:cubicBezTo>
                  <a:pt x="165125" y="91753"/>
                  <a:pt x="165162" y="95808"/>
                  <a:pt x="164864" y="99826"/>
                </a:cubicBezTo>
                <a:lnTo>
                  <a:pt x="157683" y="99826"/>
                </a:lnTo>
                <a:cubicBezTo>
                  <a:pt x="156976" y="99826"/>
                  <a:pt x="156679" y="100310"/>
                  <a:pt x="156679" y="100980"/>
                </a:cubicBezTo>
                <a:lnTo>
                  <a:pt x="156679" y="104254"/>
                </a:lnTo>
                <a:cubicBezTo>
                  <a:pt x="156679" y="111993"/>
                  <a:pt x="152326" y="113667"/>
                  <a:pt x="148493" y="114114"/>
                </a:cubicBezTo>
                <a:close/>
                <a:moveTo>
                  <a:pt x="89297" y="22399"/>
                </a:moveTo>
                <a:cubicBezTo>
                  <a:pt x="89297" y="20910"/>
                  <a:pt x="89892" y="19459"/>
                  <a:pt x="90971" y="18417"/>
                </a:cubicBezTo>
                <a:cubicBezTo>
                  <a:pt x="92050" y="17376"/>
                  <a:pt x="93464" y="16743"/>
                  <a:pt x="94952" y="16743"/>
                </a:cubicBezTo>
                <a:lnTo>
                  <a:pt x="95101" y="16743"/>
                </a:lnTo>
                <a:cubicBezTo>
                  <a:pt x="96217" y="16780"/>
                  <a:pt x="97296" y="17115"/>
                  <a:pt x="98227" y="17785"/>
                </a:cubicBezTo>
                <a:cubicBezTo>
                  <a:pt x="99157" y="18455"/>
                  <a:pt x="99826" y="19310"/>
                  <a:pt x="100236" y="20352"/>
                </a:cubicBezTo>
                <a:cubicBezTo>
                  <a:pt x="100645" y="21394"/>
                  <a:pt x="100719" y="22510"/>
                  <a:pt x="100496" y="23626"/>
                </a:cubicBezTo>
                <a:cubicBezTo>
                  <a:pt x="100273" y="24743"/>
                  <a:pt x="99715" y="25710"/>
                  <a:pt x="98896" y="26491"/>
                </a:cubicBezTo>
                <a:cubicBezTo>
                  <a:pt x="98078" y="27273"/>
                  <a:pt x="97073" y="27794"/>
                  <a:pt x="95994" y="27980"/>
                </a:cubicBezTo>
                <a:cubicBezTo>
                  <a:pt x="94915" y="28166"/>
                  <a:pt x="93762" y="28054"/>
                  <a:pt x="92757" y="27645"/>
                </a:cubicBezTo>
                <a:cubicBezTo>
                  <a:pt x="91753" y="27236"/>
                  <a:pt x="90860" y="26491"/>
                  <a:pt x="90227" y="25561"/>
                </a:cubicBezTo>
                <a:cubicBezTo>
                  <a:pt x="89595" y="24631"/>
                  <a:pt x="89297" y="23552"/>
                  <a:pt x="89297" y="22436"/>
                </a:cubicBezTo>
                <a:close/>
                <a:moveTo>
                  <a:pt x="162520" y="79623"/>
                </a:moveTo>
                <a:cubicBezTo>
                  <a:pt x="161776" y="79623"/>
                  <a:pt x="161032" y="79474"/>
                  <a:pt x="160362" y="79177"/>
                </a:cubicBezTo>
                <a:cubicBezTo>
                  <a:pt x="159693" y="78879"/>
                  <a:pt x="159060" y="78470"/>
                  <a:pt x="158539" y="77949"/>
                </a:cubicBezTo>
                <a:cubicBezTo>
                  <a:pt x="158018" y="77428"/>
                  <a:pt x="157609" y="76795"/>
                  <a:pt x="157311" y="76126"/>
                </a:cubicBezTo>
                <a:cubicBezTo>
                  <a:pt x="157014" y="75456"/>
                  <a:pt x="156865" y="74712"/>
                  <a:pt x="156865" y="73968"/>
                </a:cubicBezTo>
                <a:cubicBezTo>
                  <a:pt x="156865" y="73223"/>
                  <a:pt x="157014" y="72479"/>
                  <a:pt x="157311" y="71810"/>
                </a:cubicBezTo>
                <a:cubicBezTo>
                  <a:pt x="157609" y="71140"/>
                  <a:pt x="158018" y="70507"/>
                  <a:pt x="158539" y="69986"/>
                </a:cubicBezTo>
                <a:cubicBezTo>
                  <a:pt x="159060" y="69466"/>
                  <a:pt x="159693" y="69056"/>
                  <a:pt x="160362" y="68759"/>
                </a:cubicBezTo>
                <a:cubicBezTo>
                  <a:pt x="161032" y="68461"/>
                  <a:pt x="161776" y="68312"/>
                  <a:pt x="162520" y="68312"/>
                </a:cubicBezTo>
                <a:lnTo>
                  <a:pt x="162669" y="68312"/>
                </a:lnTo>
                <a:cubicBezTo>
                  <a:pt x="164157" y="68349"/>
                  <a:pt x="165608" y="68945"/>
                  <a:pt x="166650" y="70024"/>
                </a:cubicBezTo>
                <a:cubicBezTo>
                  <a:pt x="167692" y="71103"/>
                  <a:pt x="168287" y="72554"/>
                  <a:pt x="168250" y="74042"/>
                </a:cubicBezTo>
                <a:cubicBezTo>
                  <a:pt x="168213" y="75530"/>
                  <a:pt x="167618" y="76981"/>
                  <a:pt x="166539" y="78023"/>
                </a:cubicBezTo>
                <a:cubicBezTo>
                  <a:pt x="165460" y="79065"/>
                  <a:pt x="164009" y="79660"/>
                  <a:pt x="162520" y="7962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800100" y="2357438"/>
            <a:ext cx="950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Backend</a:t>
            </a:r>
            <a:endParaRPr b="0" i="0" sz="1200" u="none" cap="none" strike="noStrike"/>
          </a:p>
        </p:txBody>
      </p:sp>
      <p:sp>
        <p:nvSpPr>
          <p:cNvPr id="304" name="Google Shape;304;p22"/>
          <p:cNvSpPr/>
          <p:nvPr/>
        </p:nvSpPr>
        <p:spPr>
          <a:xfrm>
            <a:off x="800100" y="2557463"/>
            <a:ext cx="9358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endParaRPr b="0" i="0" sz="1200" u="none" cap="none" strike="noStrike"/>
          </a:p>
        </p:txBody>
      </p:sp>
      <p:sp>
        <p:nvSpPr>
          <p:cNvPr id="305" name="Google Shape;305;p22"/>
          <p:cNvSpPr/>
          <p:nvPr/>
        </p:nvSpPr>
        <p:spPr>
          <a:xfrm>
            <a:off x="428625" y="2786063"/>
            <a:ext cx="54363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Logica applicativa in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Rust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 framework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Axum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Gestione concorrenza con Tokio, accesso dati con SQLx.</a:t>
            </a:r>
            <a:endParaRPr b="0" i="0" sz="1200" u="none" cap="none" strike="noStrike"/>
          </a:p>
        </p:txBody>
      </p:sp>
      <p:sp>
        <p:nvSpPr>
          <p:cNvPr id="306" name="Google Shape;306;p22"/>
          <p:cNvSpPr/>
          <p:nvPr/>
        </p:nvSpPr>
        <p:spPr>
          <a:xfrm>
            <a:off x="428625" y="3157538"/>
            <a:ext cx="335756" cy="171450"/>
          </a:xfrm>
          <a:custGeom>
            <a:rect b="b" l="l" r="r" t="t"/>
            <a:pathLst>
              <a:path extrusionOk="0" h="228600" w="447675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428625" y="3157538"/>
            <a:ext cx="3857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Rust</a:t>
            </a:r>
            <a:endParaRPr b="0" i="0" sz="1200" u="none" cap="none" strike="noStrike"/>
          </a:p>
        </p:txBody>
      </p:sp>
      <p:sp>
        <p:nvSpPr>
          <p:cNvPr id="308" name="Google Shape;308;p22"/>
          <p:cNvSpPr/>
          <p:nvPr/>
        </p:nvSpPr>
        <p:spPr>
          <a:xfrm>
            <a:off x="822368" y="3157538"/>
            <a:ext cx="392906" cy="171450"/>
          </a:xfrm>
          <a:custGeom>
            <a:rect b="b" l="l" r="r" t="t"/>
            <a:pathLst>
              <a:path extrusionOk="0" h="228600" w="523875">
                <a:moveTo>
                  <a:pt x="38101" y="0"/>
                </a:moveTo>
                <a:lnTo>
                  <a:pt x="485774" y="0"/>
                </a:lnTo>
                <a:cubicBezTo>
                  <a:pt x="506817" y="0"/>
                  <a:pt x="523875" y="17058"/>
                  <a:pt x="523875" y="38101"/>
                </a:cubicBezTo>
                <a:lnTo>
                  <a:pt x="523875" y="190499"/>
                </a:lnTo>
                <a:cubicBezTo>
                  <a:pt x="523875" y="211542"/>
                  <a:pt x="506817" y="228600"/>
                  <a:pt x="485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822368" y="3157538"/>
            <a:ext cx="4429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Axum</a:t>
            </a:r>
            <a:endParaRPr b="0" i="0" sz="1200" u="none" cap="none" strike="noStrike"/>
          </a:p>
        </p:txBody>
      </p:sp>
      <p:sp>
        <p:nvSpPr>
          <p:cNvPr id="310" name="Google Shape;310;p22"/>
          <p:cNvSpPr/>
          <p:nvPr/>
        </p:nvSpPr>
        <p:spPr>
          <a:xfrm>
            <a:off x="1271699" y="3157538"/>
            <a:ext cx="378619" cy="171450"/>
          </a:xfrm>
          <a:custGeom>
            <a:rect b="b" l="l" r="r" t="t"/>
            <a:pathLst>
              <a:path extrusionOk="0" h="228600" w="504825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1271699" y="3157538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Tokio</a:t>
            </a:r>
            <a:endParaRPr b="0" i="0" sz="1200" u="none" cap="none" strike="noStrike"/>
          </a:p>
        </p:txBody>
      </p:sp>
      <p:sp>
        <p:nvSpPr>
          <p:cNvPr id="312" name="Google Shape;312;p22"/>
          <p:cNvSpPr/>
          <p:nvPr/>
        </p:nvSpPr>
        <p:spPr>
          <a:xfrm>
            <a:off x="1709868" y="3157538"/>
            <a:ext cx="378619" cy="171450"/>
          </a:xfrm>
          <a:custGeom>
            <a:rect b="b" l="l" r="r" t="t"/>
            <a:pathLst>
              <a:path extrusionOk="0" h="228600" w="504825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1709868" y="3157538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SQLx</a:t>
            </a:r>
            <a:endParaRPr b="0" i="0" sz="1200" u="none" cap="none" strike="noStrike"/>
          </a:p>
        </p:txBody>
      </p:sp>
      <p:sp>
        <p:nvSpPr>
          <p:cNvPr id="314" name="Google Shape;314;p22"/>
          <p:cNvSpPr/>
          <p:nvPr/>
        </p:nvSpPr>
        <p:spPr>
          <a:xfrm>
            <a:off x="2142567" y="3157538"/>
            <a:ext cx="392906" cy="171450"/>
          </a:xfrm>
          <a:custGeom>
            <a:rect b="b" l="l" r="r" t="t"/>
            <a:pathLst>
              <a:path extrusionOk="0" h="228600" w="523875">
                <a:moveTo>
                  <a:pt x="38101" y="0"/>
                </a:moveTo>
                <a:lnTo>
                  <a:pt x="485774" y="0"/>
                </a:lnTo>
                <a:cubicBezTo>
                  <a:pt x="506817" y="0"/>
                  <a:pt x="523875" y="17058"/>
                  <a:pt x="523875" y="38101"/>
                </a:cubicBezTo>
                <a:lnTo>
                  <a:pt x="523875" y="190499"/>
                </a:lnTo>
                <a:cubicBezTo>
                  <a:pt x="523875" y="211542"/>
                  <a:pt x="506817" y="228600"/>
                  <a:pt x="485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2142567" y="3157538"/>
            <a:ext cx="4429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Serde</a:t>
            </a:r>
            <a:endParaRPr b="0" i="0" sz="1200" u="none" cap="none" strike="noStrike"/>
          </a:p>
        </p:txBody>
      </p:sp>
      <p:sp>
        <p:nvSpPr>
          <p:cNvPr id="316" name="Google Shape;316;p22"/>
          <p:cNvSpPr/>
          <p:nvPr/>
        </p:nvSpPr>
        <p:spPr>
          <a:xfrm>
            <a:off x="300038" y="3571875"/>
            <a:ext cx="5622131" cy="1285875"/>
          </a:xfrm>
          <a:custGeom>
            <a:rect b="b" l="l" r="r" t="t"/>
            <a:pathLst>
              <a:path extrusionOk="0" h="1714500" w="7496175">
                <a:moveTo>
                  <a:pt x="38100" y="0"/>
                </a:moveTo>
                <a:lnTo>
                  <a:pt x="7419983" y="0"/>
                </a:lnTo>
                <a:cubicBezTo>
                  <a:pt x="7462063" y="0"/>
                  <a:pt x="7496175" y="34112"/>
                  <a:pt x="7496175" y="76192"/>
                </a:cubicBezTo>
                <a:lnTo>
                  <a:pt x="7496175" y="1638308"/>
                </a:lnTo>
                <a:cubicBezTo>
                  <a:pt x="7496175" y="1680388"/>
                  <a:pt x="7462063" y="1714500"/>
                  <a:pt x="7419983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300038" y="3571875"/>
            <a:ext cx="28575" cy="1285875"/>
          </a:xfrm>
          <a:custGeom>
            <a:rect b="b" l="l" r="r" t="t"/>
            <a:pathLst>
              <a:path extrusionOk="0" h="1714500" w="381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28625" y="3850481"/>
            <a:ext cx="285750" cy="28575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508992" y="3921919"/>
            <a:ext cx="125016" cy="142875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800100" y="3807619"/>
            <a:ext cx="7072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Database</a:t>
            </a:r>
            <a:endParaRPr b="0" i="0" sz="1200" u="none" cap="none" strike="noStrike"/>
          </a:p>
        </p:txBody>
      </p:sp>
      <p:sp>
        <p:nvSpPr>
          <p:cNvPr id="321" name="Google Shape;321;p22"/>
          <p:cNvSpPr/>
          <p:nvPr/>
        </p:nvSpPr>
        <p:spPr>
          <a:xfrm>
            <a:off x="800100" y="4007644"/>
            <a:ext cx="6929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Layer</a:t>
            </a:r>
            <a:endParaRPr b="0" i="0" sz="1200" u="none" cap="none" strike="noStrike"/>
          </a:p>
        </p:txBody>
      </p:sp>
      <p:sp>
        <p:nvSpPr>
          <p:cNvPr id="322" name="Google Shape;322;p22"/>
          <p:cNvSpPr/>
          <p:nvPr/>
        </p:nvSpPr>
        <p:spPr>
          <a:xfrm>
            <a:off x="428625" y="4236244"/>
            <a:ext cx="543639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sviluppo per semplicità e portabilità. Struttura compatibile con PostgreSQL per produzione.</a:t>
            </a:r>
            <a:endParaRPr b="0" i="0" sz="1200" u="none" cap="none" strike="noStrike"/>
          </a:p>
        </p:txBody>
      </p:sp>
      <p:sp>
        <p:nvSpPr>
          <p:cNvPr id="323" name="Google Shape;323;p22"/>
          <p:cNvSpPr/>
          <p:nvPr/>
        </p:nvSpPr>
        <p:spPr>
          <a:xfrm>
            <a:off x="428625" y="4450556"/>
            <a:ext cx="435769" cy="171450"/>
          </a:xfrm>
          <a:custGeom>
            <a:rect b="b" l="l" r="r" t="t"/>
            <a:pathLst>
              <a:path extrusionOk="0" h="228600" w="581025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190499"/>
                </a:lnTo>
                <a:cubicBezTo>
                  <a:pt x="581025" y="211542"/>
                  <a:pt x="563967" y="228600"/>
                  <a:pt x="5429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428625" y="4450556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</a:t>
            </a:r>
            <a:endParaRPr b="0" i="0" sz="1200" u="none" cap="none" strike="noStrike"/>
          </a:p>
        </p:txBody>
      </p:sp>
      <p:sp>
        <p:nvSpPr>
          <p:cNvPr id="325" name="Google Shape;325;p22"/>
          <p:cNvSpPr/>
          <p:nvPr/>
        </p:nvSpPr>
        <p:spPr>
          <a:xfrm>
            <a:off x="922381" y="4450556"/>
            <a:ext cx="692944" cy="171450"/>
          </a:xfrm>
          <a:custGeom>
            <a:rect b="b" l="l" r="r" t="t"/>
            <a:pathLst>
              <a:path extrusionOk="0" h="228600" w="923925">
                <a:moveTo>
                  <a:pt x="38101" y="0"/>
                </a:moveTo>
                <a:lnTo>
                  <a:pt x="885824" y="0"/>
                </a:lnTo>
                <a:cubicBezTo>
                  <a:pt x="906867" y="0"/>
                  <a:pt x="923925" y="17058"/>
                  <a:pt x="923925" y="38101"/>
                </a:cubicBezTo>
                <a:lnTo>
                  <a:pt x="923925" y="190499"/>
                </a:lnTo>
                <a:cubicBezTo>
                  <a:pt x="923925" y="211542"/>
                  <a:pt x="906867" y="228600"/>
                  <a:pt x="885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922381" y="4450556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</a:t>
            </a:r>
            <a:endParaRPr b="0" i="0" sz="1200" u="none" cap="none" strike="noStrike"/>
          </a:p>
        </p:txBody>
      </p:sp>
      <p:sp>
        <p:nvSpPr>
          <p:cNvPr id="327" name="Google Shape;327;p22"/>
          <p:cNvSpPr/>
          <p:nvPr/>
        </p:nvSpPr>
        <p:spPr>
          <a:xfrm>
            <a:off x="1671805" y="4450556"/>
            <a:ext cx="378619" cy="171450"/>
          </a:xfrm>
          <a:custGeom>
            <a:rect b="b" l="l" r="r" t="t"/>
            <a:pathLst>
              <a:path extrusionOk="0" h="228600" w="504825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1671805" y="4450556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SQLx</a:t>
            </a:r>
            <a:endParaRPr b="0" i="0" sz="1200" u="none" cap="none" strike="noStrike"/>
          </a:p>
        </p:txBody>
      </p:sp>
      <p:sp>
        <p:nvSpPr>
          <p:cNvPr id="329" name="Google Shape;329;p22"/>
          <p:cNvSpPr/>
          <p:nvPr/>
        </p:nvSpPr>
        <p:spPr>
          <a:xfrm>
            <a:off x="2104504" y="4450556"/>
            <a:ext cx="607219" cy="171450"/>
          </a:xfrm>
          <a:custGeom>
            <a:rect b="b" l="l" r="r" t="t"/>
            <a:pathLst>
              <a:path extrusionOk="0" h="228600" w="809625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190499"/>
                </a:lnTo>
                <a:cubicBezTo>
                  <a:pt x="809625" y="211542"/>
                  <a:pt x="792567" y="228600"/>
                  <a:pt x="771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2104504" y="4450556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Migrazioni</a:t>
            </a:r>
            <a:endParaRPr b="0" i="0" sz="1200" u="none" cap="none" strike="noStrike"/>
          </a:p>
        </p:txBody>
      </p:sp>
      <p:sp>
        <p:nvSpPr>
          <p:cNvPr id="331" name="Google Shape;331;p22"/>
          <p:cNvSpPr/>
          <p:nvPr/>
        </p:nvSpPr>
        <p:spPr>
          <a:xfrm>
            <a:off x="6042440" y="832247"/>
            <a:ext cx="2814638" cy="1621631"/>
          </a:xfrm>
          <a:custGeom>
            <a:rect b="b" l="l" r="r" t="t"/>
            <a:pathLst>
              <a:path extrusionOk="0" h="2162175" w="3752850">
                <a:moveTo>
                  <a:pt x="76195" y="0"/>
                </a:moveTo>
                <a:lnTo>
                  <a:pt x="3676655" y="0"/>
                </a:lnTo>
                <a:cubicBezTo>
                  <a:pt x="3718736" y="0"/>
                  <a:pt x="3752850" y="34114"/>
                  <a:pt x="3752850" y="76195"/>
                </a:cubicBezTo>
                <a:lnTo>
                  <a:pt x="3752850" y="2085980"/>
                </a:lnTo>
                <a:cubicBezTo>
                  <a:pt x="3752850" y="2128061"/>
                  <a:pt x="3718736" y="2162175"/>
                  <a:pt x="3676655" y="2162175"/>
                </a:cubicBezTo>
                <a:lnTo>
                  <a:pt x="76195" y="2162175"/>
                </a:lnTo>
                <a:cubicBezTo>
                  <a:pt x="34114" y="2162175"/>
                  <a:pt x="0" y="2128061"/>
                  <a:pt x="0" y="208598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6160313" y="950119"/>
            <a:ext cx="26431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Vantaggi dell'Architettura</a:t>
            </a:r>
            <a:endParaRPr b="0" i="0" sz="1200" u="none" cap="none" strike="noStrike"/>
          </a:p>
        </p:txBody>
      </p:sp>
      <p:sp>
        <p:nvSpPr>
          <p:cNvPr id="333" name="Google Shape;333;p22"/>
          <p:cNvSpPr/>
          <p:nvPr/>
        </p:nvSpPr>
        <p:spPr>
          <a:xfrm>
            <a:off x="6174600" y="126444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6342478" y="1235869"/>
            <a:ext cx="1978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Separazione responsabilità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 livelli</a:t>
            </a:r>
            <a:endParaRPr b="0" i="0" sz="1200" u="none" cap="none" strike="noStrike"/>
          </a:p>
        </p:txBody>
      </p:sp>
      <p:sp>
        <p:nvSpPr>
          <p:cNvPr id="335" name="Google Shape;335;p22"/>
          <p:cNvSpPr/>
          <p:nvPr/>
        </p:nvSpPr>
        <p:spPr>
          <a:xfrm>
            <a:off x="6174600" y="149304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6342478" y="1464469"/>
            <a:ext cx="21288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Facilità di manutenzione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ed estensione</a:t>
            </a:r>
            <a:endParaRPr b="0" i="0" sz="1200" u="none" cap="none" strike="noStrike"/>
          </a:p>
        </p:txBody>
      </p:sp>
      <p:sp>
        <p:nvSpPr>
          <p:cNvPr id="337" name="Google Shape;337;p22"/>
          <p:cNvSpPr/>
          <p:nvPr/>
        </p:nvSpPr>
        <p:spPr>
          <a:xfrm>
            <a:off x="6174600" y="172164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6342478" y="1693069"/>
            <a:ext cx="21288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Maggiore sicurezza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 isolamento dati</a:t>
            </a:r>
            <a:endParaRPr b="0" i="0" sz="1200" u="none" cap="none" strike="noStrike"/>
          </a:p>
        </p:txBody>
      </p:sp>
      <p:sp>
        <p:nvSpPr>
          <p:cNvPr id="339" name="Google Shape;339;p22"/>
          <p:cNvSpPr/>
          <p:nvPr/>
        </p:nvSpPr>
        <p:spPr>
          <a:xfrm>
            <a:off x="6174600" y="195024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6342478" y="1921669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Scalabilità orizzontale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dei componenti</a:t>
            </a:r>
            <a:endParaRPr b="0" i="0" sz="1200" u="none" cap="none" strike="noStrike"/>
          </a:p>
        </p:txBody>
      </p:sp>
      <p:sp>
        <p:nvSpPr>
          <p:cNvPr id="341" name="Google Shape;341;p22"/>
          <p:cNvSpPr/>
          <p:nvPr/>
        </p:nvSpPr>
        <p:spPr>
          <a:xfrm>
            <a:off x="6038869" y="2543175"/>
            <a:ext cx="2821781" cy="1485900"/>
          </a:xfrm>
          <a:custGeom>
            <a:rect b="b" l="l" r="r" t="t"/>
            <a:pathLst>
              <a:path extrusionOk="0" h="1981200" w="3762375">
                <a:moveTo>
                  <a:pt x="76197" y="0"/>
                </a:moveTo>
                <a:lnTo>
                  <a:pt x="3686178" y="0"/>
                </a:lnTo>
                <a:cubicBezTo>
                  <a:pt x="3728260" y="0"/>
                  <a:pt x="3762375" y="34115"/>
                  <a:pt x="3762375" y="76197"/>
                </a:cubicBezTo>
                <a:lnTo>
                  <a:pt x="3762375" y="1905003"/>
                </a:lnTo>
                <a:cubicBezTo>
                  <a:pt x="3762375" y="1947085"/>
                  <a:pt x="3728260" y="1981200"/>
                  <a:pt x="3686178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6153169" y="2657475"/>
            <a:ext cx="2657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Tool di Sviluppo</a:t>
            </a:r>
            <a:endParaRPr b="0" i="0" sz="1200" u="none" cap="none" strike="noStrike"/>
          </a:p>
        </p:txBody>
      </p:sp>
      <p:sp>
        <p:nvSpPr>
          <p:cNvPr id="343" name="Google Shape;343;p22"/>
          <p:cNvSpPr/>
          <p:nvPr/>
        </p:nvSpPr>
        <p:spPr>
          <a:xfrm>
            <a:off x="6153169" y="2943225"/>
            <a:ext cx="2593181" cy="285750"/>
          </a:xfrm>
          <a:custGeom>
            <a:rect b="b" l="l" r="r" t="t"/>
            <a:pathLst>
              <a:path extrusionOk="0" h="381000" w="3457575">
                <a:moveTo>
                  <a:pt x="38100" y="0"/>
                </a:moveTo>
                <a:lnTo>
                  <a:pt x="3419475" y="0"/>
                </a:lnTo>
                <a:cubicBezTo>
                  <a:pt x="3440503" y="0"/>
                  <a:pt x="3457575" y="17072"/>
                  <a:pt x="3457575" y="38100"/>
                </a:cubicBezTo>
                <a:lnTo>
                  <a:pt x="3457575" y="342900"/>
                </a:lnTo>
                <a:cubicBezTo>
                  <a:pt x="3457575" y="363928"/>
                  <a:pt x="3440503" y="381000"/>
                  <a:pt x="34194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6231750" y="3028950"/>
            <a:ext cx="100013" cy="114300"/>
          </a:xfrm>
          <a:custGeom>
            <a:rect b="b" l="l" r="r" t="t"/>
            <a:pathLst>
              <a:path extrusionOk="0" h="152400" w="133350">
                <a:moveTo>
                  <a:pt x="130850" y="70277"/>
                </a:moveTo>
                <a:lnTo>
                  <a:pt x="72628" y="12055"/>
                </a:lnTo>
                <a:cubicBezTo>
                  <a:pt x="71021" y="10418"/>
                  <a:pt x="68818" y="9525"/>
                  <a:pt x="66556" y="9525"/>
                </a:cubicBezTo>
                <a:cubicBezTo>
                  <a:pt x="64294" y="9525"/>
                  <a:pt x="62091" y="10418"/>
                  <a:pt x="60484" y="12025"/>
                </a:cubicBezTo>
                <a:lnTo>
                  <a:pt x="48369" y="24110"/>
                </a:lnTo>
                <a:lnTo>
                  <a:pt x="63698" y="39439"/>
                </a:lnTo>
                <a:cubicBezTo>
                  <a:pt x="71765" y="36731"/>
                  <a:pt x="79385" y="44440"/>
                  <a:pt x="76617" y="52447"/>
                </a:cubicBezTo>
                <a:lnTo>
                  <a:pt x="91410" y="67241"/>
                </a:lnTo>
                <a:cubicBezTo>
                  <a:pt x="101590" y="63728"/>
                  <a:pt x="109627" y="76468"/>
                  <a:pt x="101977" y="84118"/>
                </a:cubicBezTo>
                <a:cubicBezTo>
                  <a:pt x="94089" y="92006"/>
                  <a:pt x="81082" y="83254"/>
                  <a:pt x="85308" y="73015"/>
                </a:cubicBezTo>
                <a:lnTo>
                  <a:pt x="71527" y="59234"/>
                </a:lnTo>
                <a:lnTo>
                  <a:pt x="71527" y="95518"/>
                </a:lnTo>
                <a:cubicBezTo>
                  <a:pt x="79057" y="99239"/>
                  <a:pt x="78165" y="107960"/>
                  <a:pt x="74235" y="111889"/>
                </a:cubicBezTo>
                <a:cubicBezTo>
                  <a:pt x="72330" y="113794"/>
                  <a:pt x="69711" y="114895"/>
                  <a:pt x="67002" y="114895"/>
                </a:cubicBezTo>
                <a:cubicBezTo>
                  <a:pt x="64294" y="114895"/>
                  <a:pt x="61704" y="113824"/>
                  <a:pt x="59769" y="111889"/>
                </a:cubicBezTo>
                <a:cubicBezTo>
                  <a:pt x="54531" y="106650"/>
                  <a:pt x="56465" y="97929"/>
                  <a:pt x="63103" y="95220"/>
                </a:cubicBezTo>
                <a:lnTo>
                  <a:pt x="63103" y="58609"/>
                </a:lnTo>
                <a:cubicBezTo>
                  <a:pt x="56912" y="56078"/>
                  <a:pt x="55781" y="49470"/>
                  <a:pt x="57567" y="45214"/>
                </a:cubicBezTo>
                <a:lnTo>
                  <a:pt x="42446" y="30063"/>
                </a:lnTo>
                <a:lnTo>
                  <a:pt x="2530" y="69979"/>
                </a:lnTo>
                <a:cubicBezTo>
                  <a:pt x="893" y="71616"/>
                  <a:pt x="0" y="73789"/>
                  <a:pt x="0" y="76051"/>
                </a:cubicBezTo>
                <a:cubicBezTo>
                  <a:pt x="0" y="78313"/>
                  <a:pt x="893" y="80516"/>
                  <a:pt x="2530" y="82123"/>
                </a:cubicBezTo>
                <a:lnTo>
                  <a:pt x="60752" y="140375"/>
                </a:lnTo>
                <a:cubicBezTo>
                  <a:pt x="62359" y="141982"/>
                  <a:pt x="64532" y="142875"/>
                  <a:pt x="66824" y="142875"/>
                </a:cubicBezTo>
                <a:cubicBezTo>
                  <a:pt x="69116" y="142875"/>
                  <a:pt x="71289" y="141982"/>
                  <a:pt x="72896" y="140375"/>
                </a:cubicBezTo>
                <a:lnTo>
                  <a:pt x="130850" y="82421"/>
                </a:lnTo>
                <a:cubicBezTo>
                  <a:pt x="132457" y="80814"/>
                  <a:pt x="133350" y="78611"/>
                  <a:pt x="133350" y="76349"/>
                </a:cubicBezTo>
                <a:cubicBezTo>
                  <a:pt x="133350" y="74087"/>
                  <a:pt x="132457" y="71884"/>
                  <a:pt x="130850" y="70277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6410344" y="3000375"/>
            <a:ext cx="200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</a:t>
            </a:r>
            <a:endParaRPr b="0" i="0" sz="1200" u="none" cap="none" strike="noStrike"/>
          </a:p>
        </p:txBody>
      </p:sp>
      <p:sp>
        <p:nvSpPr>
          <p:cNvPr id="346" name="Google Shape;346;p22"/>
          <p:cNvSpPr/>
          <p:nvPr/>
        </p:nvSpPr>
        <p:spPr>
          <a:xfrm>
            <a:off x="6153169" y="3286125"/>
            <a:ext cx="2593181" cy="285750"/>
          </a:xfrm>
          <a:custGeom>
            <a:rect b="b" l="l" r="r" t="t"/>
            <a:pathLst>
              <a:path extrusionOk="0" h="381000" w="3457575">
                <a:moveTo>
                  <a:pt x="38100" y="0"/>
                </a:moveTo>
                <a:lnTo>
                  <a:pt x="3419475" y="0"/>
                </a:lnTo>
                <a:cubicBezTo>
                  <a:pt x="3440503" y="0"/>
                  <a:pt x="3457575" y="17072"/>
                  <a:pt x="3457575" y="38100"/>
                </a:cubicBezTo>
                <a:lnTo>
                  <a:pt x="3457575" y="342900"/>
                </a:lnTo>
                <a:cubicBezTo>
                  <a:pt x="3457575" y="363928"/>
                  <a:pt x="3440503" y="381000"/>
                  <a:pt x="34194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6224606" y="3371850"/>
            <a:ext cx="114300" cy="114300"/>
          </a:xfrm>
          <a:custGeom>
            <a:rect b="b" l="l" r="r" t="t"/>
            <a:pathLst>
              <a:path extrusionOk="0" h="152400" w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410344" y="3343275"/>
            <a:ext cx="371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Cargo</a:t>
            </a:r>
            <a:endParaRPr b="0" i="0" sz="1200" u="none" cap="none" strike="noStrike"/>
          </a:p>
        </p:txBody>
      </p:sp>
      <p:sp>
        <p:nvSpPr>
          <p:cNvPr id="349" name="Google Shape;349;p22"/>
          <p:cNvSpPr/>
          <p:nvPr/>
        </p:nvSpPr>
        <p:spPr>
          <a:xfrm>
            <a:off x="6153169" y="3629025"/>
            <a:ext cx="2593181" cy="285750"/>
          </a:xfrm>
          <a:custGeom>
            <a:rect b="b" l="l" r="r" t="t"/>
            <a:pathLst>
              <a:path extrusionOk="0" h="381000" w="3457575">
                <a:moveTo>
                  <a:pt x="38100" y="0"/>
                </a:moveTo>
                <a:lnTo>
                  <a:pt x="3419475" y="0"/>
                </a:lnTo>
                <a:cubicBezTo>
                  <a:pt x="3440503" y="0"/>
                  <a:pt x="3457575" y="17072"/>
                  <a:pt x="3457575" y="38100"/>
                </a:cubicBezTo>
                <a:lnTo>
                  <a:pt x="3457575" y="342900"/>
                </a:lnTo>
                <a:cubicBezTo>
                  <a:pt x="3457575" y="363928"/>
                  <a:pt x="3440503" y="381000"/>
                  <a:pt x="34194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6217463" y="3714750"/>
            <a:ext cx="128588" cy="114300"/>
          </a:xfrm>
          <a:custGeom>
            <a:rect b="b" l="l" r="r" t="t"/>
            <a:pathLst>
              <a:path extrusionOk="0" h="152400" w="171450">
                <a:moveTo>
                  <a:pt x="85725" y="85725"/>
                </a:moveTo>
                <a:lnTo>
                  <a:pt x="76200" y="85725"/>
                </a:lnTo>
                <a:lnTo>
                  <a:pt x="76200" y="66675"/>
                </a:lnTo>
                <a:lnTo>
                  <a:pt x="85725" y="66675"/>
                </a:lnTo>
                <a:lnTo>
                  <a:pt x="85725" y="85725"/>
                </a:lnTo>
                <a:close/>
                <a:moveTo>
                  <a:pt x="171450" y="47625"/>
                </a:moveTo>
                <a:lnTo>
                  <a:pt x="171450" y="104775"/>
                </a:lnTo>
                <a:lnTo>
                  <a:pt x="85725" y="104775"/>
                </a:lnTo>
                <a:lnTo>
                  <a:pt x="85725" y="114300"/>
                </a:lnTo>
                <a:lnTo>
                  <a:pt x="47625" y="114300"/>
                </a:lnTo>
                <a:lnTo>
                  <a:pt x="47625" y="104775"/>
                </a:lnTo>
                <a:lnTo>
                  <a:pt x="0" y="104775"/>
                </a:lnTo>
                <a:lnTo>
                  <a:pt x="0" y="47625"/>
                </a:lnTo>
                <a:lnTo>
                  <a:pt x="171450" y="47625"/>
                </a:lnTo>
                <a:close/>
                <a:moveTo>
                  <a:pt x="47625" y="57150"/>
                </a:moveTo>
                <a:lnTo>
                  <a:pt x="9525" y="57150"/>
                </a:lnTo>
                <a:lnTo>
                  <a:pt x="9525" y="95250"/>
                </a:lnTo>
                <a:lnTo>
                  <a:pt x="28575" y="95250"/>
                </a:lnTo>
                <a:lnTo>
                  <a:pt x="28575" y="66675"/>
                </a:lnTo>
                <a:lnTo>
                  <a:pt x="38100" y="66675"/>
                </a:lnTo>
                <a:lnTo>
                  <a:pt x="38100" y="95250"/>
                </a:lnTo>
                <a:lnTo>
                  <a:pt x="47625" y="95250"/>
                </a:lnTo>
                <a:lnTo>
                  <a:pt x="47625" y="57150"/>
                </a:lnTo>
                <a:close/>
                <a:moveTo>
                  <a:pt x="95250" y="57150"/>
                </a:moveTo>
                <a:lnTo>
                  <a:pt x="57150" y="57150"/>
                </a:lnTo>
                <a:lnTo>
                  <a:pt x="57150" y="104775"/>
                </a:lnTo>
                <a:lnTo>
                  <a:pt x="76200" y="104775"/>
                </a:lnTo>
                <a:lnTo>
                  <a:pt x="76200" y="95250"/>
                </a:lnTo>
                <a:lnTo>
                  <a:pt x="95250" y="95250"/>
                </a:lnTo>
                <a:lnTo>
                  <a:pt x="95250" y="57150"/>
                </a:lnTo>
                <a:close/>
                <a:moveTo>
                  <a:pt x="161925" y="57150"/>
                </a:moveTo>
                <a:lnTo>
                  <a:pt x="104775" y="57150"/>
                </a:lnTo>
                <a:lnTo>
                  <a:pt x="104775" y="95250"/>
                </a:lnTo>
                <a:lnTo>
                  <a:pt x="123825" y="95250"/>
                </a:lnTo>
                <a:lnTo>
                  <a:pt x="123825" y="66675"/>
                </a:lnTo>
                <a:lnTo>
                  <a:pt x="133350" y="66675"/>
                </a:lnTo>
                <a:lnTo>
                  <a:pt x="133350" y="95250"/>
                </a:lnTo>
                <a:lnTo>
                  <a:pt x="142875" y="95250"/>
                </a:lnTo>
                <a:lnTo>
                  <a:pt x="142875" y="66675"/>
                </a:lnTo>
                <a:lnTo>
                  <a:pt x="152400" y="66675"/>
                </a:lnTo>
                <a:lnTo>
                  <a:pt x="152400" y="95250"/>
                </a:lnTo>
                <a:lnTo>
                  <a:pt x="161925" y="95250"/>
                </a:lnTo>
                <a:lnTo>
                  <a:pt x="161925" y="5715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51" name="Google Shape;351;p22"/>
          <p:cNvSpPr/>
          <p:nvPr/>
        </p:nvSpPr>
        <p:spPr>
          <a:xfrm>
            <a:off x="6410344" y="3686175"/>
            <a:ext cx="2786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npm</a:t>
            </a:r>
            <a:endParaRPr b="0" i="0" sz="1200" u="none" cap="none" strike="noStrike"/>
          </a:p>
        </p:txBody>
      </p:sp>
      <p:sp>
        <p:nvSpPr>
          <p:cNvPr id="352" name="Google Shape;352;p22"/>
          <p:cNvSpPr/>
          <p:nvPr/>
        </p:nvSpPr>
        <p:spPr>
          <a:xfrm>
            <a:off x="6038869" y="4114800"/>
            <a:ext cx="2821781" cy="742950"/>
          </a:xfrm>
          <a:custGeom>
            <a:rect b="b" l="l" r="r" t="t"/>
            <a:pathLst>
              <a:path extrusionOk="0" h="990600" w="3762375">
                <a:moveTo>
                  <a:pt x="76197" y="0"/>
                </a:moveTo>
                <a:lnTo>
                  <a:pt x="3686178" y="0"/>
                </a:lnTo>
                <a:cubicBezTo>
                  <a:pt x="3728260" y="0"/>
                  <a:pt x="3762375" y="34115"/>
                  <a:pt x="3762375" y="76197"/>
                </a:cubicBezTo>
                <a:lnTo>
                  <a:pt x="3762375" y="914403"/>
                </a:lnTo>
                <a:cubicBezTo>
                  <a:pt x="3762375" y="956485"/>
                  <a:pt x="3728260" y="990600"/>
                  <a:pt x="3686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6124594" y="4200525"/>
            <a:ext cx="27074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Sicurezza</a:t>
            </a:r>
            <a:endParaRPr b="0" i="0" sz="1200" u="none" cap="none" strike="noStrike"/>
          </a:p>
        </p:txBody>
      </p:sp>
      <p:sp>
        <p:nvSpPr>
          <p:cNvPr id="354" name="Google Shape;354;p22"/>
          <p:cNvSpPr/>
          <p:nvPr/>
        </p:nvSpPr>
        <p:spPr>
          <a:xfrm>
            <a:off x="6138881" y="4436269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6306759" y="44005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Argon2 hashing</a:t>
            </a:r>
            <a:endParaRPr b="0" i="0" sz="1200" u="none" cap="none" strike="noStrike"/>
          </a:p>
        </p:txBody>
      </p:sp>
      <p:sp>
        <p:nvSpPr>
          <p:cNvPr id="356" name="Google Shape;356;p22"/>
          <p:cNvSpPr/>
          <p:nvPr/>
        </p:nvSpPr>
        <p:spPr>
          <a:xfrm>
            <a:off x="6138881" y="463629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6306759" y="4600575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JWT tokens</a:t>
            </a:r>
            <a:endParaRPr b="0" i="0" sz="1200" u="none" cap="none" strike="noStrike"/>
          </a:p>
        </p:txBody>
      </p:sp>
      <p:sp>
        <p:nvSpPr>
          <p:cNvPr id="358" name="Google Shape;35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3_frontend.png" id="364" name="Google Shape;364;p23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65" name="Google Shape;365;p2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66" name="Google Shape;366;p23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b="0" i="0" sz="1200" u="none" cap="none" strike="noStrike"/>
          </a:p>
        </p:txBody>
      </p:sp>
      <p:sp>
        <p:nvSpPr>
          <p:cNvPr id="367" name="Google Shape;367;p23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</a:t>
            </a:r>
            <a:endParaRPr b="0" i="0" sz="1200" u="none" cap="none" strike="noStrike"/>
          </a:p>
        </p:txBody>
      </p:sp>
      <p:sp>
        <p:nvSpPr>
          <p:cNvPr id="368" name="Google Shape;368;p23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Interfaccia utente con React</a:t>
            </a:r>
            <a:endParaRPr b="0" i="0" sz="1200" u="none" cap="none" strike="noStrike"/>
          </a:p>
        </p:txBody>
      </p:sp>
      <p:sp>
        <p:nvSpPr>
          <p:cNvPr id="369" name="Google Shape;369;p23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370" name="Google Shape;3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Architecture</a:t>
            </a:r>
            <a:endParaRPr b="0" i="0" sz="1200" u="none" cap="none" strike="noStrike"/>
          </a:p>
        </p:txBody>
      </p:sp>
      <p:sp>
        <p:nvSpPr>
          <p:cNvPr id="378" name="Google Shape;378;p24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Struttura del </a:t>
            </a:r>
            <a:r>
              <a:rPr b="1" lang="it" sz="2000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</a:t>
            </a:r>
            <a:endParaRPr b="0" i="0" sz="1200" u="none" cap="none" strike="noStrike"/>
          </a:p>
        </p:txBody>
      </p:sp>
      <p:sp>
        <p:nvSpPr>
          <p:cNvPr id="379" name="Google Shape;379;p24"/>
          <p:cNvSpPr/>
          <p:nvPr/>
        </p:nvSpPr>
        <p:spPr>
          <a:xfrm>
            <a:off x="300038" y="828675"/>
            <a:ext cx="6329363" cy="1507331"/>
          </a:xfrm>
          <a:custGeom>
            <a:rect b="b" l="l" r="r" t="t"/>
            <a:pathLst>
              <a:path extrusionOk="0" h="2009775" w="8439150">
                <a:moveTo>
                  <a:pt x="38100" y="0"/>
                </a:moveTo>
                <a:lnTo>
                  <a:pt x="8362959" y="0"/>
                </a:lnTo>
                <a:cubicBezTo>
                  <a:pt x="8405010" y="0"/>
                  <a:pt x="8439150" y="34140"/>
                  <a:pt x="8439150" y="76191"/>
                </a:cubicBezTo>
                <a:lnTo>
                  <a:pt x="8439150" y="1933584"/>
                </a:lnTo>
                <a:cubicBezTo>
                  <a:pt x="8439150" y="1975635"/>
                  <a:pt x="8405010" y="2009775"/>
                  <a:pt x="8362959" y="2009775"/>
                </a:cubicBez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300038" y="828675"/>
            <a:ext cx="28575" cy="1507331"/>
          </a:xfrm>
          <a:custGeom>
            <a:rect b="b" l="l" r="r" t="t"/>
            <a:pathLst>
              <a:path extrusionOk="0" h="2009775" w="38100">
                <a:moveTo>
                  <a:pt x="3810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428625" y="942975"/>
            <a:ext cx="61579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Organizzazione del Codice</a:t>
            </a:r>
            <a:endParaRPr b="0" i="0" sz="1200" u="none" cap="none" strike="noStrike"/>
          </a:p>
        </p:txBody>
      </p:sp>
      <p:sp>
        <p:nvSpPr>
          <p:cNvPr id="382" name="Google Shape;382;p24"/>
          <p:cNvSpPr/>
          <p:nvPr/>
        </p:nvSpPr>
        <p:spPr>
          <a:xfrm>
            <a:off x="428625" y="1200150"/>
            <a:ext cx="6143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frontend è strutturato seguendo il pattern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component-based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 React, con separazione chiara tra componenti riutilizzabili, pagine e gestione dello stato globale.</a:t>
            </a:r>
            <a:endParaRPr b="0" i="0" sz="1200" u="none" cap="none" strike="noStrike"/>
          </a:p>
        </p:txBody>
      </p:sp>
      <p:sp>
        <p:nvSpPr>
          <p:cNvPr id="383" name="Google Shape;383;p24"/>
          <p:cNvSpPr/>
          <p:nvPr/>
        </p:nvSpPr>
        <p:spPr>
          <a:xfrm>
            <a:off x="428625" y="1600200"/>
            <a:ext cx="1971675" cy="621506"/>
          </a:xfrm>
          <a:custGeom>
            <a:rect b="b" l="l" r="r" t="t"/>
            <a:pathLst>
              <a:path extrusionOk="0" h="828675" w="2628900">
                <a:moveTo>
                  <a:pt x="38102" y="0"/>
                </a:moveTo>
                <a:lnTo>
                  <a:pt x="2590798" y="0"/>
                </a:lnTo>
                <a:cubicBezTo>
                  <a:pt x="2611841" y="0"/>
                  <a:pt x="2628900" y="17059"/>
                  <a:pt x="2628900" y="38102"/>
                </a:cubicBezTo>
                <a:lnTo>
                  <a:pt x="2628900" y="790573"/>
                </a:lnTo>
                <a:cubicBezTo>
                  <a:pt x="2628900" y="811616"/>
                  <a:pt x="2611841" y="828675"/>
                  <a:pt x="2590798" y="828675"/>
                </a:cubicBezTo>
                <a:lnTo>
                  <a:pt x="38102" y="828675"/>
                </a:lnTo>
                <a:cubicBezTo>
                  <a:pt x="17059" y="828675"/>
                  <a:pt x="0" y="811616"/>
                  <a:pt x="0" y="7905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528638" y="1714500"/>
            <a:ext cx="114300" cy="114300"/>
          </a:xfrm>
          <a:custGeom>
            <a:rect b="b" l="l" r="r" t="t"/>
            <a:pathLst>
              <a:path extrusionOk="0" h="152400" w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714375" y="1685925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components/</a:t>
            </a:r>
            <a:endParaRPr b="0" i="0" sz="1200" u="none" cap="none" strike="noStrike"/>
          </a:p>
        </p:txBody>
      </p:sp>
      <p:sp>
        <p:nvSpPr>
          <p:cNvPr id="386" name="Google Shape;386;p24"/>
          <p:cNvSpPr/>
          <p:nvPr/>
        </p:nvSpPr>
        <p:spPr>
          <a:xfrm>
            <a:off x="514350" y="1885950"/>
            <a:ext cx="1850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LoginForm, InputArea, Navbar</a:t>
            </a:r>
            <a:r>
              <a:rPr lang="it" sz="800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…</a:t>
            </a:r>
            <a:endParaRPr b="0" i="0" sz="1200" u="none" cap="none" strike="noStrike"/>
          </a:p>
        </p:txBody>
      </p:sp>
      <p:sp>
        <p:nvSpPr>
          <p:cNvPr id="387" name="Google Shape;387;p24"/>
          <p:cNvSpPr/>
          <p:nvPr/>
        </p:nvSpPr>
        <p:spPr>
          <a:xfrm>
            <a:off x="2486025" y="1600200"/>
            <a:ext cx="1971675" cy="621506"/>
          </a:xfrm>
          <a:custGeom>
            <a:rect b="b" l="l" r="r" t="t"/>
            <a:pathLst>
              <a:path extrusionOk="0" h="828675" w="2628900">
                <a:moveTo>
                  <a:pt x="38102" y="0"/>
                </a:moveTo>
                <a:lnTo>
                  <a:pt x="2590798" y="0"/>
                </a:lnTo>
                <a:cubicBezTo>
                  <a:pt x="2611841" y="0"/>
                  <a:pt x="2628900" y="17059"/>
                  <a:pt x="2628900" y="38102"/>
                </a:cubicBezTo>
                <a:lnTo>
                  <a:pt x="2628900" y="790573"/>
                </a:lnTo>
                <a:cubicBezTo>
                  <a:pt x="2628900" y="811616"/>
                  <a:pt x="2611841" y="828675"/>
                  <a:pt x="2590798" y="828675"/>
                </a:cubicBezTo>
                <a:lnTo>
                  <a:pt x="38102" y="828675"/>
                </a:lnTo>
                <a:cubicBezTo>
                  <a:pt x="17059" y="828675"/>
                  <a:pt x="0" y="811616"/>
                  <a:pt x="0" y="7905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2586038" y="1714500"/>
            <a:ext cx="114300" cy="114300"/>
          </a:xfrm>
          <a:custGeom>
            <a:rect b="b" l="l" r="r" t="t"/>
            <a:pathLst>
              <a:path extrusionOk="0" h="152400" w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2771775" y="1685925"/>
            <a:ext cx="4214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pages/</a:t>
            </a:r>
            <a:endParaRPr b="0" i="0" sz="1200" u="none" cap="none" strike="noStrike"/>
          </a:p>
        </p:txBody>
      </p:sp>
      <p:sp>
        <p:nvSpPr>
          <p:cNvPr id="390" name="Google Shape;390;p24"/>
          <p:cNvSpPr/>
          <p:nvPr/>
        </p:nvSpPr>
        <p:spPr>
          <a:xfrm>
            <a:off x="2571750" y="1885950"/>
            <a:ext cx="1850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LoginPage, ChatPage, InvitesPage</a:t>
            </a:r>
            <a:endParaRPr b="0" i="0" sz="1200" u="none" cap="none" strike="noStrike"/>
          </a:p>
        </p:txBody>
      </p:sp>
      <p:sp>
        <p:nvSpPr>
          <p:cNvPr id="391" name="Google Shape;391;p24"/>
          <p:cNvSpPr/>
          <p:nvPr/>
        </p:nvSpPr>
        <p:spPr>
          <a:xfrm>
            <a:off x="4543425" y="1600200"/>
            <a:ext cx="1971675" cy="621506"/>
          </a:xfrm>
          <a:custGeom>
            <a:rect b="b" l="l" r="r" t="t"/>
            <a:pathLst>
              <a:path extrusionOk="0" h="828675" w="2628900">
                <a:moveTo>
                  <a:pt x="38102" y="0"/>
                </a:moveTo>
                <a:lnTo>
                  <a:pt x="2590798" y="0"/>
                </a:lnTo>
                <a:cubicBezTo>
                  <a:pt x="2611841" y="0"/>
                  <a:pt x="2628900" y="17059"/>
                  <a:pt x="2628900" y="38102"/>
                </a:cubicBezTo>
                <a:lnTo>
                  <a:pt x="2628900" y="790573"/>
                </a:lnTo>
                <a:cubicBezTo>
                  <a:pt x="2628900" y="811616"/>
                  <a:pt x="2611841" y="828675"/>
                  <a:pt x="2590798" y="828675"/>
                </a:cubicBezTo>
                <a:lnTo>
                  <a:pt x="38102" y="828675"/>
                </a:lnTo>
                <a:cubicBezTo>
                  <a:pt x="17059" y="828675"/>
                  <a:pt x="0" y="811616"/>
                  <a:pt x="0" y="7905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4643438" y="1714500"/>
            <a:ext cx="114300" cy="114300"/>
          </a:xfrm>
          <a:custGeom>
            <a:rect b="b" l="l" r="r" t="t"/>
            <a:pathLst>
              <a:path extrusionOk="0" h="152400" w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4829175" y="1685925"/>
            <a:ext cx="4929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context/</a:t>
            </a:r>
            <a:endParaRPr b="0" i="0" sz="1200" u="none" cap="none" strike="noStrike"/>
          </a:p>
        </p:txBody>
      </p:sp>
      <p:sp>
        <p:nvSpPr>
          <p:cNvPr id="394" name="Google Shape;394;p24"/>
          <p:cNvSpPr/>
          <p:nvPr/>
        </p:nvSpPr>
        <p:spPr>
          <a:xfrm>
            <a:off x="4629150" y="1946672"/>
            <a:ext cx="185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WebSocketContext.jsx</a:t>
            </a:r>
            <a:endParaRPr b="0" i="0" sz="1200" u="none" cap="none" strike="noStrike"/>
          </a:p>
        </p:txBody>
      </p:sp>
      <p:sp>
        <p:nvSpPr>
          <p:cNvPr id="395" name="Google Shape;395;p24"/>
          <p:cNvSpPr/>
          <p:nvPr/>
        </p:nvSpPr>
        <p:spPr>
          <a:xfrm>
            <a:off x="285750" y="2436019"/>
            <a:ext cx="2057400" cy="2421731"/>
          </a:xfrm>
          <a:custGeom>
            <a:rect b="b" l="l" r="r" t="t"/>
            <a:pathLst>
              <a:path extrusionOk="0" h="3228975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52769"/>
                </a:lnTo>
                <a:cubicBezTo>
                  <a:pt x="2743200" y="3194856"/>
                  <a:pt x="2709081" y="3228975"/>
                  <a:pt x="2666994" y="3228975"/>
                </a:cubicBezTo>
                <a:lnTo>
                  <a:pt x="76206" y="3228975"/>
                </a:lnTo>
                <a:cubicBezTo>
                  <a:pt x="34119" y="3228975"/>
                  <a:pt x="0" y="3194856"/>
                  <a:pt x="0" y="315276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285750" y="2436019"/>
            <a:ext cx="2057400" cy="28575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409873" y="2600325"/>
            <a:ext cx="144661" cy="128588"/>
          </a:xfrm>
          <a:custGeom>
            <a:rect b="b" l="l" r="r" t="t"/>
            <a:pathLst>
              <a:path extrusionOk="0" h="171450" w="192881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617935" y="2564606"/>
            <a:ext cx="657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Chat Page</a:t>
            </a:r>
            <a:endParaRPr b="0" i="0" sz="1200" u="none" cap="none" strike="noStrike"/>
          </a:p>
        </p:txBody>
      </p:sp>
      <p:sp>
        <p:nvSpPr>
          <p:cNvPr id="399" name="Google Shape;399;p24"/>
          <p:cNvSpPr/>
          <p:nvPr/>
        </p:nvSpPr>
        <p:spPr>
          <a:xfrm>
            <a:off x="400050" y="3196828"/>
            <a:ext cx="1885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Pagina principale che integra Sidebar, ChatHeader e MessagesContainer per una gestione completa della chat.</a:t>
            </a:r>
            <a:endParaRPr b="0" i="0" sz="1200" u="none" cap="none" strike="noStrike"/>
          </a:p>
        </p:txBody>
      </p:sp>
      <p:sp>
        <p:nvSpPr>
          <p:cNvPr id="400" name="Google Shape;400;p24"/>
          <p:cNvSpPr/>
          <p:nvPr/>
        </p:nvSpPr>
        <p:spPr>
          <a:xfrm>
            <a:off x="420588" y="3907631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550069" y="3882629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Auto-scrolling</a:t>
            </a:r>
            <a:endParaRPr b="0" i="0" sz="1200" u="none" cap="none" strike="noStrike"/>
          </a:p>
        </p:txBody>
      </p:sp>
      <p:sp>
        <p:nvSpPr>
          <p:cNvPr id="402" name="Google Shape;402;p24"/>
          <p:cNvSpPr/>
          <p:nvPr/>
        </p:nvSpPr>
        <p:spPr>
          <a:xfrm>
            <a:off x="420588" y="4079081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550069" y="4054079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Formattazione nomi</a:t>
            </a:r>
            <a:endParaRPr b="0" i="0" sz="1200" u="none" cap="none" strike="noStrike"/>
          </a:p>
        </p:txBody>
      </p:sp>
      <p:sp>
        <p:nvSpPr>
          <p:cNvPr id="404" name="Google Shape;404;p24"/>
          <p:cNvSpPr/>
          <p:nvPr/>
        </p:nvSpPr>
        <p:spPr>
          <a:xfrm>
            <a:off x="420588" y="4250531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550069" y="4225529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Selezione default</a:t>
            </a:r>
            <a:endParaRPr b="0" i="0" sz="1200" u="none" cap="none" strike="noStrike"/>
          </a:p>
        </p:txBody>
      </p:sp>
      <p:sp>
        <p:nvSpPr>
          <p:cNvPr id="406" name="Google Shape;406;p24"/>
          <p:cNvSpPr/>
          <p:nvPr/>
        </p:nvSpPr>
        <p:spPr>
          <a:xfrm>
            <a:off x="2428875" y="2436019"/>
            <a:ext cx="2057400" cy="2421731"/>
          </a:xfrm>
          <a:custGeom>
            <a:rect b="b" l="l" r="r" t="t"/>
            <a:pathLst>
              <a:path extrusionOk="0" h="3228975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52769"/>
                </a:lnTo>
                <a:cubicBezTo>
                  <a:pt x="2743200" y="3194856"/>
                  <a:pt x="2709081" y="3228975"/>
                  <a:pt x="2666994" y="3228975"/>
                </a:cubicBezTo>
                <a:lnTo>
                  <a:pt x="76206" y="3228975"/>
                </a:lnTo>
                <a:cubicBezTo>
                  <a:pt x="34119" y="3228975"/>
                  <a:pt x="0" y="3194856"/>
                  <a:pt x="0" y="315276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2428875" y="2436019"/>
            <a:ext cx="2057400" cy="28575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561035" y="2600325"/>
            <a:ext cx="128588" cy="128588"/>
          </a:xfrm>
          <a:custGeom>
            <a:rect b="b" l="l" r="r" t="t"/>
            <a:pathLst>
              <a:path extrusionOk="0" h="171450" w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2761060" y="2564606"/>
            <a:ext cx="7786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Invites Page</a:t>
            </a:r>
            <a:endParaRPr b="0" i="0" sz="1200" u="none" cap="none" strike="noStrike"/>
          </a:p>
        </p:txBody>
      </p:sp>
      <p:sp>
        <p:nvSpPr>
          <p:cNvPr id="410" name="Google Shape;410;p24"/>
          <p:cNvSpPr/>
          <p:nvPr/>
        </p:nvSpPr>
        <p:spPr>
          <a:xfrm>
            <a:off x="2543175" y="3275410"/>
            <a:ext cx="18859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Gestione completa del ciclo di vita degli inviti, suddivisi in sezioni "Inviati" e "Ricevuti".</a:t>
            </a:r>
            <a:endParaRPr b="0" i="0" sz="1200" u="none" cap="none" strike="noStrike"/>
          </a:p>
        </p:txBody>
      </p:sp>
      <p:sp>
        <p:nvSpPr>
          <p:cNvPr id="411" name="Google Shape;411;p24"/>
          <p:cNvSpPr/>
          <p:nvPr/>
        </p:nvSpPr>
        <p:spPr>
          <a:xfrm>
            <a:off x="2563713" y="382905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2693194" y="380404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Auto-refresh 5s</a:t>
            </a:r>
            <a:endParaRPr b="0" i="0" sz="1200" u="none" cap="none" strike="noStrike"/>
          </a:p>
        </p:txBody>
      </p:sp>
      <p:sp>
        <p:nvSpPr>
          <p:cNvPr id="413" name="Google Shape;413;p24"/>
          <p:cNvSpPr/>
          <p:nvPr/>
        </p:nvSpPr>
        <p:spPr>
          <a:xfrm>
            <a:off x="2563713" y="400050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2693194" y="397549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Logica scadenza</a:t>
            </a:r>
            <a:endParaRPr b="0" i="0" sz="1200" u="none" cap="none" strike="noStrike"/>
          </a:p>
        </p:txBody>
      </p:sp>
      <p:sp>
        <p:nvSpPr>
          <p:cNvPr id="415" name="Google Shape;415;p24"/>
          <p:cNvSpPr/>
          <p:nvPr/>
        </p:nvSpPr>
        <p:spPr>
          <a:xfrm>
            <a:off x="2563713" y="417195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2693194" y="414694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Layout a colonne</a:t>
            </a:r>
            <a:endParaRPr b="0" i="0" sz="1200" u="none" cap="none" strike="noStrike"/>
          </a:p>
        </p:txBody>
      </p:sp>
      <p:sp>
        <p:nvSpPr>
          <p:cNvPr id="417" name="Google Shape;417;p24"/>
          <p:cNvSpPr/>
          <p:nvPr/>
        </p:nvSpPr>
        <p:spPr>
          <a:xfrm>
            <a:off x="4572000" y="2436019"/>
            <a:ext cx="2057400" cy="2421731"/>
          </a:xfrm>
          <a:custGeom>
            <a:rect b="b" l="l" r="r" t="t"/>
            <a:pathLst>
              <a:path extrusionOk="0" h="3228975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52769"/>
                </a:lnTo>
                <a:cubicBezTo>
                  <a:pt x="2743200" y="3194856"/>
                  <a:pt x="2709081" y="3228975"/>
                  <a:pt x="2666994" y="3228975"/>
                </a:cubicBezTo>
                <a:lnTo>
                  <a:pt x="76206" y="3228975"/>
                </a:lnTo>
                <a:cubicBezTo>
                  <a:pt x="34119" y="3228975"/>
                  <a:pt x="0" y="3194856"/>
                  <a:pt x="0" y="315276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4572000" y="2436019"/>
            <a:ext cx="2057400" cy="28575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4704160" y="2600325"/>
            <a:ext cx="128588" cy="128588"/>
          </a:xfrm>
          <a:custGeom>
            <a:rect b="b" l="l" r="r" t="t"/>
            <a:pathLst>
              <a:path extrusionOk="0" h="171450" w="171450">
                <a:moveTo>
                  <a:pt x="115528" y="91418"/>
                </a:moveTo>
                <a:cubicBezTo>
                  <a:pt x="118676" y="88270"/>
                  <a:pt x="118676" y="83180"/>
                  <a:pt x="115528" y="80066"/>
                </a:cubicBezTo>
                <a:lnTo>
                  <a:pt x="67308" y="31812"/>
                </a:lnTo>
                <a:cubicBezTo>
                  <a:pt x="64997" y="29501"/>
                  <a:pt x="61548" y="28832"/>
                  <a:pt x="58534" y="30071"/>
                </a:cubicBezTo>
                <a:cubicBezTo>
                  <a:pt x="55520" y="31310"/>
                  <a:pt x="53578" y="34257"/>
                  <a:pt x="53578" y="37505"/>
                </a:cubicBezTo>
                <a:lnTo>
                  <a:pt x="53578" y="64294"/>
                </a:lnTo>
                <a:lnTo>
                  <a:pt x="16073" y="64294"/>
                </a:lnTo>
                <a:cubicBezTo>
                  <a:pt x="7200" y="64294"/>
                  <a:pt x="0" y="71493"/>
                  <a:pt x="0" y="80367"/>
                </a:cubicBezTo>
                <a:lnTo>
                  <a:pt x="0" y="91083"/>
                </a:lnTo>
                <a:cubicBezTo>
                  <a:pt x="0" y="99957"/>
                  <a:pt x="7200" y="107156"/>
                  <a:pt x="16073" y="107156"/>
                </a:cubicBezTo>
                <a:lnTo>
                  <a:pt x="53578" y="107156"/>
                </a:lnTo>
                <a:lnTo>
                  <a:pt x="53578" y="133945"/>
                </a:lnTo>
                <a:cubicBezTo>
                  <a:pt x="53578" y="137193"/>
                  <a:pt x="55520" y="140140"/>
                  <a:pt x="58534" y="141379"/>
                </a:cubicBezTo>
                <a:cubicBezTo>
                  <a:pt x="61548" y="142618"/>
                  <a:pt x="64997" y="141949"/>
                  <a:pt x="67308" y="139638"/>
                </a:cubicBezTo>
                <a:lnTo>
                  <a:pt x="115528" y="91418"/>
                </a:lnTo>
                <a:close/>
                <a:moveTo>
                  <a:pt x="117872" y="139303"/>
                </a:moveTo>
                <a:cubicBezTo>
                  <a:pt x="111945" y="139303"/>
                  <a:pt x="107156" y="144092"/>
                  <a:pt x="107156" y="150019"/>
                </a:cubicBezTo>
                <a:cubicBezTo>
                  <a:pt x="107156" y="155946"/>
                  <a:pt x="111945" y="160734"/>
                  <a:pt x="117872" y="160734"/>
                </a:cubicBezTo>
                <a:lnTo>
                  <a:pt x="139303" y="160734"/>
                </a:lnTo>
                <a:cubicBezTo>
                  <a:pt x="157051" y="160734"/>
                  <a:pt x="171450" y="146335"/>
                  <a:pt x="171450" y="128588"/>
                </a:cubicBezTo>
                <a:lnTo>
                  <a:pt x="171450" y="42863"/>
                </a:lnTo>
                <a:cubicBezTo>
                  <a:pt x="171450" y="25115"/>
                  <a:pt x="157051" y="10716"/>
                  <a:pt x="139303" y="10716"/>
                </a:cubicBezTo>
                <a:lnTo>
                  <a:pt x="117872" y="10716"/>
                </a:lnTo>
                <a:cubicBezTo>
                  <a:pt x="111945" y="10716"/>
                  <a:pt x="107156" y="15504"/>
                  <a:pt x="107156" y="21431"/>
                </a:cubicBezTo>
                <a:cubicBezTo>
                  <a:pt x="107156" y="27358"/>
                  <a:pt x="111945" y="32147"/>
                  <a:pt x="117872" y="32147"/>
                </a:cubicBez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128588"/>
                </a:lnTo>
                <a:cubicBezTo>
                  <a:pt x="150019" y="134515"/>
                  <a:pt x="145230" y="139303"/>
                  <a:pt x="139303" y="139303"/>
                </a:cubicBezTo>
                <a:lnTo>
                  <a:pt x="117872" y="13930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4904185" y="2564606"/>
            <a:ext cx="7215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Login Page</a:t>
            </a:r>
            <a:endParaRPr b="0" i="0" sz="1200" u="none" cap="none" strike="noStrike"/>
          </a:p>
        </p:txBody>
      </p:sp>
      <p:sp>
        <p:nvSpPr>
          <p:cNvPr id="421" name="Google Shape;421;p24"/>
          <p:cNvSpPr/>
          <p:nvPr/>
        </p:nvSpPr>
        <p:spPr>
          <a:xfrm>
            <a:off x="4686300" y="3275410"/>
            <a:ext cx="18859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Modulo unico e versatile per la gestione di Login e Registrazione, con switch dinamico delle modalità.</a:t>
            </a:r>
            <a:endParaRPr b="0" i="0" sz="1200" u="none" cap="none" strike="noStrike"/>
          </a:p>
        </p:txBody>
      </p:sp>
      <p:sp>
        <p:nvSpPr>
          <p:cNvPr id="422" name="Google Shape;422;p24"/>
          <p:cNvSpPr/>
          <p:nvPr/>
        </p:nvSpPr>
        <p:spPr>
          <a:xfrm>
            <a:off x="4706838" y="382905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4836319" y="380404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Modalità duale</a:t>
            </a:r>
            <a:endParaRPr b="0" i="0" sz="1200" u="none" cap="none" strike="noStrike"/>
          </a:p>
        </p:txBody>
      </p:sp>
      <p:sp>
        <p:nvSpPr>
          <p:cNvPr id="424" name="Google Shape;424;p24"/>
          <p:cNvSpPr/>
          <p:nvPr/>
        </p:nvSpPr>
        <p:spPr>
          <a:xfrm>
            <a:off x="4706838" y="400050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4836319" y="397549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API</a:t>
            </a:r>
            <a:endParaRPr b="0" i="0" sz="1200" u="none" cap="none" strike="noStrike"/>
          </a:p>
        </p:txBody>
      </p:sp>
      <p:sp>
        <p:nvSpPr>
          <p:cNvPr id="426" name="Google Shape;426;p24"/>
          <p:cNvSpPr/>
          <p:nvPr/>
        </p:nvSpPr>
        <p:spPr>
          <a:xfrm>
            <a:off x="4706838" y="4171950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4836319" y="4146947"/>
            <a:ext cx="17287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 storage</a:t>
            </a:r>
            <a:endParaRPr b="0" i="0" sz="1200" u="none" cap="none" strike="noStrike"/>
          </a:p>
        </p:txBody>
      </p:sp>
      <p:sp>
        <p:nvSpPr>
          <p:cNvPr id="428" name="Google Shape;428;p24"/>
          <p:cNvSpPr/>
          <p:nvPr/>
        </p:nvSpPr>
        <p:spPr>
          <a:xfrm>
            <a:off x="6747272" y="832247"/>
            <a:ext cx="2107406" cy="2407444"/>
          </a:xfrm>
          <a:custGeom>
            <a:rect b="b" l="l" r="r" t="t"/>
            <a:pathLst>
              <a:path extrusionOk="0" h="3209925" w="2809875">
                <a:moveTo>
                  <a:pt x="76204" y="0"/>
                </a:moveTo>
                <a:lnTo>
                  <a:pt x="2733671" y="0"/>
                </a:lnTo>
                <a:cubicBezTo>
                  <a:pt x="2775757" y="0"/>
                  <a:pt x="2809875" y="34118"/>
                  <a:pt x="2809875" y="76204"/>
                </a:cubicBezTo>
                <a:lnTo>
                  <a:pt x="2809875" y="3133721"/>
                </a:lnTo>
                <a:cubicBezTo>
                  <a:pt x="2809875" y="3175807"/>
                  <a:pt x="2775757" y="3209925"/>
                  <a:pt x="2733671" y="3209925"/>
                </a:cubicBezTo>
                <a:lnTo>
                  <a:pt x="76204" y="3209925"/>
                </a:lnTo>
                <a:cubicBezTo>
                  <a:pt x="34118" y="3209925"/>
                  <a:pt x="0" y="3175807"/>
                  <a:pt x="0" y="3133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6865144" y="950119"/>
            <a:ext cx="19359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Tecnologie</a:t>
            </a:r>
            <a:endParaRPr b="0" i="0" sz="1200" u="none" cap="none" strike="noStrike"/>
          </a:p>
        </p:txBody>
      </p:sp>
      <p:sp>
        <p:nvSpPr>
          <p:cNvPr id="430" name="Google Shape;430;p24"/>
          <p:cNvSpPr/>
          <p:nvPr/>
        </p:nvSpPr>
        <p:spPr>
          <a:xfrm>
            <a:off x="6865144" y="1235869"/>
            <a:ext cx="1871663" cy="428625"/>
          </a:xfrm>
          <a:custGeom>
            <a:rect b="b" l="l" r="r" t="t"/>
            <a:pathLst>
              <a:path extrusionOk="0" h="571500" w="2495550">
                <a:moveTo>
                  <a:pt x="38102" y="0"/>
                </a:moveTo>
                <a:lnTo>
                  <a:pt x="2457448" y="0"/>
                </a:lnTo>
                <a:cubicBezTo>
                  <a:pt x="2478491" y="0"/>
                  <a:pt x="2495550" y="17059"/>
                  <a:pt x="2495550" y="38102"/>
                </a:cubicBezTo>
                <a:lnTo>
                  <a:pt x="2495550" y="533398"/>
                </a:lnTo>
                <a:cubicBezTo>
                  <a:pt x="2495550" y="554441"/>
                  <a:pt x="2478491" y="571500"/>
                  <a:pt x="24574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6940154" y="1385888"/>
            <a:ext cx="128588" cy="128588"/>
          </a:xfrm>
          <a:custGeom>
            <a:rect b="b" l="l" r="r" t="t"/>
            <a:pathLst>
              <a:path extrusionOk="0" h="171450" w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7140179" y="1293019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18</a:t>
            </a:r>
            <a:endParaRPr b="0" i="0" sz="1200" u="none" cap="none" strike="noStrike"/>
          </a:p>
        </p:txBody>
      </p:sp>
      <p:sp>
        <p:nvSpPr>
          <p:cNvPr id="433" name="Google Shape;433;p24"/>
          <p:cNvSpPr/>
          <p:nvPr/>
        </p:nvSpPr>
        <p:spPr>
          <a:xfrm>
            <a:off x="7140179" y="1464469"/>
            <a:ext cx="678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Framework</a:t>
            </a:r>
            <a:endParaRPr b="0" i="0" sz="1200" u="none" cap="none" strike="noStrike"/>
          </a:p>
        </p:txBody>
      </p:sp>
      <p:sp>
        <p:nvSpPr>
          <p:cNvPr id="434" name="Google Shape;434;p24"/>
          <p:cNvSpPr/>
          <p:nvPr/>
        </p:nvSpPr>
        <p:spPr>
          <a:xfrm>
            <a:off x="6865144" y="1721644"/>
            <a:ext cx="1871663" cy="428625"/>
          </a:xfrm>
          <a:custGeom>
            <a:rect b="b" l="l" r="r" t="t"/>
            <a:pathLst>
              <a:path extrusionOk="0" h="571500" w="2495550">
                <a:moveTo>
                  <a:pt x="38102" y="0"/>
                </a:moveTo>
                <a:lnTo>
                  <a:pt x="2457448" y="0"/>
                </a:lnTo>
                <a:cubicBezTo>
                  <a:pt x="2478491" y="0"/>
                  <a:pt x="2495550" y="17059"/>
                  <a:pt x="2495550" y="38102"/>
                </a:cubicBezTo>
                <a:lnTo>
                  <a:pt x="2495550" y="533398"/>
                </a:lnTo>
                <a:cubicBezTo>
                  <a:pt x="2495550" y="554441"/>
                  <a:pt x="2478491" y="571500"/>
                  <a:pt x="24574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6948190" y="1871663"/>
            <a:ext cx="112514" cy="128588"/>
          </a:xfrm>
          <a:custGeom>
            <a:rect b="b" l="l" r="r" t="t"/>
            <a:pathLst>
              <a:path extrusionOk="0" h="171450" w="150019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7140179" y="1778794"/>
            <a:ext cx="5000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</a:t>
            </a:r>
            <a:endParaRPr b="0" i="0" sz="1200" u="none" cap="none" strike="noStrike"/>
          </a:p>
        </p:txBody>
      </p:sp>
      <p:sp>
        <p:nvSpPr>
          <p:cNvPr id="437" name="Google Shape;437;p24"/>
          <p:cNvSpPr/>
          <p:nvPr/>
        </p:nvSpPr>
        <p:spPr>
          <a:xfrm>
            <a:off x="7140179" y="1950244"/>
            <a:ext cx="4929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Tool</a:t>
            </a:r>
            <a:endParaRPr b="0" i="0" sz="1200" u="none" cap="none" strike="noStrike"/>
          </a:p>
        </p:txBody>
      </p:sp>
      <p:sp>
        <p:nvSpPr>
          <p:cNvPr id="438" name="Google Shape;438;p24"/>
          <p:cNvSpPr/>
          <p:nvPr/>
        </p:nvSpPr>
        <p:spPr>
          <a:xfrm>
            <a:off x="6865144" y="2207419"/>
            <a:ext cx="1871663" cy="428625"/>
          </a:xfrm>
          <a:custGeom>
            <a:rect b="b" l="l" r="r" t="t"/>
            <a:pathLst>
              <a:path extrusionOk="0" h="571500" w="2495550">
                <a:moveTo>
                  <a:pt x="38102" y="0"/>
                </a:moveTo>
                <a:lnTo>
                  <a:pt x="2457448" y="0"/>
                </a:lnTo>
                <a:cubicBezTo>
                  <a:pt x="2478491" y="0"/>
                  <a:pt x="2495550" y="17059"/>
                  <a:pt x="2495550" y="38102"/>
                </a:cubicBezTo>
                <a:lnTo>
                  <a:pt x="2495550" y="533398"/>
                </a:lnTo>
                <a:cubicBezTo>
                  <a:pt x="2495550" y="554441"/>
                  <a:pt x="2478491" y="571500"/>
                  <a:pt x="24574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6940154" y="2357438"/>
            <a:ext cx="128588" cy="128588"/>
          </a:xfrm>
          <a:custGeom>
            <a:rect b="b" l="l" r="r" t="t"/>
            <a:pathLst>
              <a:path extrusionOk="0" h="171450" w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7140179" y="2264569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Router</a:t>
            </a:r>
            <a:endParaRPr b="0" i="0" sz="1200" u="none" cap="none" strike="noStrike"/>
          </a:p>
        </p:txBody>
      </p:sp>
      <p:sp>
        <p:nvSpPr>
          <p:cNvPr id="441" name="Google Shape;441;p24"/>
          <p:cNvSpPr/>
          <p:nvPr/>
        </p:nvSpPr>
        <p:spPr>
          <a:xfrm>
            <a:off x="7140179" y="2436019"/>
            <a:ext cx="7643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b="0" i="0" sz="1200" u="none" cap="none" strike="noStrike"/>
          </a:p>
        </p:txBody>
      </p:sp>
      <p:sp>
        <p:nvSpPr>
          <p:cNvPr id="442" name="Google Shape;442;p24"/>
          <p:cNvSpPr/>
          <p:nvPr/>
        </p:nvSpPr>
        <p:spPr>
          <a:xfrm>
            <a:off x="6865144" y="2693194"/>
            <a:ext cx="1871663" cy="428625"/>
          </a:xfrm>
          <a:custGeom>
            <a:rect b="b" l="l" r="r" t="t"/>
            <a:pathLst>
              <a:path extrusionOk="0" h="571500" w="2495550">
                <a:moveTo>
                  <a:pt x="38102" y="0"/>
                </a:moveTo>
                <a:lnTo>
                  <a:pt x="2457448" y="0"/>
                </a:lnTo>
                <a:cubicBezTo>
                  <a:pt x="2478491" y="0"/>
                  <a:pt x="2495550" y="17059"/>
                  <a:pt x="2495550" y="38102"/>
                </a:cubicBezTo>
                <a:lnTo>
                  <a:pt x="2495550" y="533398"/>
                </a:lnTo>
                <a:cubicBezTo>
                  <a:pt x="2495550" y="554441"/>
                  <a:pt x="2478491" y="571500"/>
                  <a:pt x="24574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6932117" y="2843213"/>
            <a:ext cx="144661" cy="128588"/>
          </a:xfrm>
          <a:custGeom>
            <a:rect b="b" l="l" r="r" t="t"/>
            <a:pathLst>
              <a:path extrusionOk="0" h="171450" w="192881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7140179" y="2750344"/>
            <a:ext cx="8929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 API</a:t>
            </a:r>
            <a:endParaRPr b="0" i="0" sz="1200" u="none" cap="none" strike="noStrike"/>
          </a:p>
        </p:txBody>
      </p:sp>
      <p:sp>
        <p:nvSpPr>
          <p:cNvPr id="445" name="Google Shape;445;p24"/>
          <p:cNvSpPr/>
          <p:nvPr/>
        </p:nvSpPr>
        <p:spPr>
          <a:xfrm>
            <a:off x="7140179" y="2921794"/>
            <a:ext cx="885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Comm</a:t>
            </a:r>
            <a:endParaRPr b="0" i="0" sz="1200" u="none" cap="none" strike="noStrike"/>
          </a:p>
        </p:txBody>
      </p:sp>
      <p:sp>
        <p:nvSpPr>
          <p:cNvPr id="446" name="Google Shape;446;p24"/>
          <p:cNvSpPr/>
          <p:nvPr/>
        </p:nvSpPr>
        <p:spPr>
          <a:xfrm>
            <a:off x="6743700" y="3328988"/>
            <a:ext cx="2114550" cy="942975"/>
          </a:xfrm>
          <a:custGeom>
            <a:rect b="b" l="l" r="r" t="t"/>
            <a:pathLst>
              <a:path extrusionOk="0" h="1257300" w="2819400">
                <a:moveTo>
                  <a:pt x="76205" y="0"/>
                </a:moveTo>
                <a:lnTo>
                  <a:pt x="2743195" y="0"/>
                </a:lnTo>
                <a:cubicBezTo>
                  <a:pt x="2785282" y="0"/>
                  <a:pt x="2819400" y="34118"/>
                  <a:pt x="2819400" y="76205"/>
                </a:cubicBezTo>
                <a:lnTo>
                  <a:pt x="2819400" y="1181095"/>
                </a:lnTo>
                <a:cubicBezTo>
                  <a:pt x="2819400" y="1223182"/>
                  <a:pt x="2785282" y="1257300"/>
                  <a:pt x="27431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6858000" y="3443288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Pattern</a:t>
            </a:r>
            <a:endParaRPr b="0" i="0" sz="1200" u="none" cap="none" strike="noStrike"/>
          </a:p>
        </p:txBody>
      </p:sp>
      <p:sp>
        <p:nvSpPr>
          <p:cNvPr id="448" name="Google Shape;448;p24"/>
          <p:cNvSpPr/>
          <p:nvPr/>
        </p:nvSpPr>
        <p:spPr>
          <a:xfrm>
            <a:off x="6872288" y="3696891"/>
            <a:ext cx="100013" cy="100013"/>
          </a:xfrm>
          <a:custGeom>
            <a:rect b="b" l="l" r="r" t="t"/>
            <a:pathLst>
              <a:path extrusionOk="0" h="133350" w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7029450" y="3671888"/>
            <a:ext cx="17645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Separation of Concerns</a:t>
            </a:r>
            <a:endParaRPr b="0" i="0" sz="1200" u="none" cap="none" strike="noStrike"/>
          </a:p>
        </p:txBody>
      </p:sp>
      <p:sp>
        <p:nvSpPr>
          <p:cNvPr id="450" name="Google Shape;450;p24"/>
          <p:cNvSpPr/>
          <p:nvPr/>
        </p:nvSpPr>
        <p:spPr>
          <a:xfrm>
            <a:off x="6872288" y="3868341"/>
            <a:ext cx="100013" cy="100013"/>
          </a:xfrm>
          <a:custGeom>
            <a:rect b="b" l="l" r="r" t="t"/>
            <a:pathLst>
              <a:path extrusionOk="0" h="133350" w="133350">
                <a:moveTo>
                  <a:pt x="58341" y="0"/>
                </a:moveTo>
                <a:lnTo>
                  <a:pt x="58341" y="16669"/>
                </a:lnTo>
                <a:cubicBezTo>
                  <a:pt x="58341" y="18961"/>
                  <a:pt x="60216" y="20836"/>
                  <a:pt x="62508" y="20836"/>
                </a:cubicBezTo>
                <a:lnTo>
                  <a:pt x="70842" y="20836"/>
                </a:lnTo>
                <a:cubicBezTo>
                  <a:pt x="73134" y="20836"/>
                  <a:pt x="75009" y="18961"/>
                  <a:pt x="75009" y="16669"/>
                </a:cubicBezTo>
                <a:lnTo>
                  <a:pt x="75009" y="0"/>
                </a:lnTo>
                <a:lnTo>
                  <a:pt x="83344" y="0"/>
                </a:lnTo>
                <a:cubicBezTo>
                  <a:pt x="92538" y="0"/>
                  <a:pt x="100013" y="7475"/>
                  <a:pt x="100013" y="16669"/>
                </a:cubicBezTo>
                <a:lnTo>
                  <a:pt x="100013" y="50006"/>
                </a:lnTo>
                <a:cubicBezTo>
                  <a:pt x="100013" y="51439"/>
                  <a:pt x="99830" y="52845"/>
                  <a:pt x="99492" y="54173"/>
                </a:cubicBezTo>
                <a:lnTo>
                  <a:pt x="33858" y="54173"/>
                </a:lnTo>
                <a:cubicBezTo>
                  <a:pt x="33520" y="52845"/>
                  <a:pt x="33337" y="51439"/>
                  <a:pt x="33337" y="50006"/>
                </a:cubicBezTo>
                <a:lnTo>
                  <a:pt x="33337" y="16669"/>
                </a:lnTo>
                <a:cubicBezTo>
                  <a:pt x="33337" y="7475"/>
                  <a:pt x="40812" y="0"/>
                  <a:pt x="50006" y="0"/>
                </a:cubicBezTo>
                <a:lnTo>
                  <a:pt x="58341" y="0"/>
                </a:lnTo>
                <a:close/>
                <a:moveTo>
                  <a:pt x="83344" y="133350"/>
                </a:moveTo>
                <a:cubicBezTo>
                  <a:pt x="80427" y="133350"/>
                  <a:pt x="77666" y="132595"/>
                  <a:pt x="75270" y="131266"/>
                </a:cubicBezTo>
                <a:cubicBezTo>
                  <a:pt x="77744" y="126969"/>
                  <a:pt x="79177" y="121994"/>
                  <a:pt x="79177" y="116681"/>
                </a:cubicBezTo>
                <a:lnTo>
                  <a:pt x="79177" y="83344"/>
                </a:lnTo>
                <a:cubicBezTo>
                  <a:pt x="79177" y="78031"/>
                  <a:pt x="77744" y="73056"/>
                  <a:pt x="75270" y="68759"/>
                </a:cubicBezTo>
                <a:cubicBezTo>
                  <a:pt x="77666" y="67430"/>
                  <a:pt x="80401" y="66675"/>
                  <a:pt x="83344" y="66675"/>
                </a:cubicBezTo>
                <a:lnTo>
                  <a:pt x="91678" y="66675"/>
                </a:lnTo>
                <a:lnTo>
                  <a:pt x="91678" y="83344"/>
                </a:lnTo>
                <a:cubicBezTo>
                  <a:pt x="91678" y="85636"/>
                  <a:pt x="93553" y="87511"/>
                  <a:pt x="95845" y="87511"/>
                </a:cubicBezTo>
                <a:lnTo>
                  <a:pt x="104180" y="87511"/>
                </a:lnTo>
                <a:cubicBezTo>
                  <a:pt x="106472" y="87511"/>
                  <a:pt x="108347" y="85636"/>
                  <a:pt x="108347" y="83344"/>
                </a:cubicBezTo>
                <a:lnTo>
                  <a:pt x="108347" y="66675"/>
                </a:lnTo>
                <a:lnTo>
                  <a:pt x="116681" y="66675"/>
                </a:lnTo>
                <a:cubicBezTo>
                  <a:pt x="125875" y="66675"/>
                  <a:pt x="133350" y="74150"/>
                  <a:pt x="133350" y="83344"/>
                </a:cubicBezTo>
                <a:lnTo>
                  <a:pt x="133350" y="116681"/>
                </a:lnTo>
                <a:cubicBezTo>
                  <a:pt x="133350" y="125875"/>
                  <a:pt x="125875" y="133350"/>
                  <a:pt x="116681" y="133350"/>
                </a:cubicBezTo>
                <a:lnTo>
                  <a:pt x="83344" y="133350"/>
                </a:lnTo>
                <a:close/>
                <a:moveTo>
                  <a:pt x="0" y="83344"/>
                </a:moveTo>
                <a:cubicBezTo>
                  <a:pt x="0" y="74150"/>
                  <a:pt x="7475" y="66675"/>
                  <a:pt x="16669" y="66675"/>
                </a:cubicBezTo>
                <a:lnTo>
                  <a:pt x="25003" y="66675"/>
                </a:lnTo>
                <a:lnTo>
                  <a:pt x="25003" y="83344"/>
                </a:lnTo>
                <a:cubicBezTo>
                  <a:pt x="25003" y="85636"/>
                  <a:pt x="26878" y="87511"/>
                  <a:pt x="29170" y="87511"/>
                </a:cubicBezTo>
                <a:lnTo>
                  <a:pt x="37505" y="87511"/>
                </a:lnTo>
                <a:cubicBezTo>
                  <a:pt x="39797" y="87511"/>
                  <a:pt x="41672" y="85636"/>
                  <a:pt x="41672" y="83344"/>
                </a:cubicBezTo>
                <a:lnTo>
                  <a:pt x="41672" y="66675"/>
                </a:lnTo>
                <a:lnTo>
                  <a:pt x="50006" y="66675"/>
                </a:lnTo>
                <a:cubicBezTo>
                  <a:pt x="59200" y="66675"/>
                  <a:pt x="66675" y="74150"/>
                  <a:pt x="66675" y="83344"/>
                </a:cubicBezTo>
                <a:lnTo>
                  <a:pt x="66675" y="116681"/>
                </a:lnTo>
                <a:cubicBezTo>
                  <a:pt x="66675" y="125875"/>
                  <a:pt x="59200" y="133350"/>
                  <a:pt x="50006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8334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7029450" y="3843338"/>
            <a:ext cx="17645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 Reusability</a:t>
            </a:r>
            <a:endParaRPr b="0" i="0" sz="1200" u="none" cap="none" strike="noStrike"/>
          </a:p>
        </p:txBody>
      </p:sp>
      <p:sp>
        <p:nvSpPr>
          <p:cNvPr id="452" name="Google Shape;452;p24"/>
          <p:cNvSpPr/>
          <p:nvPr/>
        </p:nvSpPr>
        <p:spPr>
          <a:xfrm>
            <a:off x="6872288" y="4039791"/>
            <a:ext cx="100013" cy="100013"/>
          </a:xfrm>
          <a:custGeom>
            <a:rect b="b" l="l" r="r" t="t"/>
            <a:pathLst>
              <a:path extrusionOk="0" h="133350" w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7029450" y="4014788"/>
            <a:ext cx="17645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State Context</a:t>
            </a:r>
            <a:endParaRPr b="0" i="0" sz="1200" u="none" cap="none" strike="noStrike"/>
          </a:p>
        </p:txBody>
      </p:sp>
      <p:sp>
        <p:nvSpPr>
          <p:cNvPr id="454" name="Google Shape;45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 Management</a:t>
            </a:r>
            <a:endParaRPr b="0" i="0" sz="1200" u="none" cap="none" strike="noStrike"/>
          </a:p>
        </p:txBody>
      </p:sp>
      <p:sp>
        <p:nvSpPr>
          <p:cNvPr id="461" name="Google Shape;461;p25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Context e Comunicazione</a:t>
            </a:r>
            <a:endParaRPr b="0" i="0" sz="1200" u="none" cap="none" strike="noStrike"/>
          </a:p>
        </p:txBody>
      </p:sp>
      <p:sp>
        <p:nvSpPr>
          <p:cNvPr id="462" name="Google Shape;462;p25"/>
          <p:cNvSpPr/>
          <p:nvPr/>
        </p:nvSpPr>
        <p:spPr>
          <a:xfrm>
            <a:off x="300038" y="828675"/>
            <a:ext cx="4214813" cy="3350419"/>
          </a:xfrm>
          <a:custGeom>
            <a:rect b="b" l="l" r="r" t="t"/>
            <a:pathLst>
              <a:path extrusionOk="0" h="4467225" w="5619750">
                <a:moveTo>
                  <a:pt x="38100" y="0"/>
                </a:moveTo>
                <a:lnTo>
                  <a:pt x="5543539" y="0"/>
                </a:lnTo>
                <a:cubicBezTo>
                  <a:pt x="5585629" y="0"/>
                  <a:pt x="5619750" y="34121"/>
                  <a:pt x="5619750" y="76211"/>
                </a:cubicBezTo>
                <a:lnTo>
                  <a:pt x="5619750" y="4391014"/>
                </a:lnTo>
                <a:cubicBezTo>
                  <a:pt x="5619750" y="4433104"/>
                  <a:pt x="5585629" y="4467225"/>
                  <a:pt x="5543539" y="4467225"/>
                </a:cubicBezTo>
                <a:lnTo>
                  <a:pt x="38100" y="4467225"/>
                </a:lnTo>
                <a:cubicBezTo>
                  <a:pt x="17072" y="4467225"/>
                  <a:pt x="0" y="4450153"/>
                  <a:pt x="0" y="4429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5"/>
          <p:cNvSpPr/>
          <p:nvPr/>
        </p:nvSpPr>
        <p:spPr>
          <a:xfrm>
            <a:off x="300038" y="828675"/>
            <a:ext cx="28575" cy="3350419"/>
          </a:xfrm>
          <a:custGeom>
            <a:rect b="b" l="l" r="r" t="t"/>
            <a:pathLst>
              <a:path extrusionOk="0" h="4467225" w="38100">
                <a:moveTo>
                  <a:pt x="38100" y="0"/>
                </a:moveTo>
                <a:lnTo>
                  <a:pt x="38100" y="0"/>
                </a:lnTo>
                <a:lnTo>
                  <a:pt x="38100" y="4467225"/>
                </a:lnTo>
                <a:lnTo>
                  <a:pt x="38100" y="4467225"/>
                </a:lnTo>
                <a:cubicBezTo>
                  <a:pt x="17072" y="4467225"/>
                  <a:pt x="0" y="4450153"/>
                  <a:pt x="0" y="4429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/>
          <p:nvPr/>
        </p:nvSpPr>
        <p:spPr>
          <a:xfrm>
            <a:off x="428625" y="942975"/>
            <a:ext cx="4043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Pattern Context API</a:t>
            </a:r>
            <a:endParaRPr b="0" i="0" sz="1200" u="none" cap="none" strike="noStrike"/>
          </a:p>
        </p:txBody>
      </p:sp>
      <p:sp>
        <p:nvSpPr>
          <p:cNvPr id="465" name="Google Shape;465;p25"/>
          <p:cNvSpPr/>
          <p:nvPr/>
        </p:nvSpPr>
        <p:spPr>
          <a:xfrm>
            <a:off x="428625" y="1200150"/>
            <a:ext cx="4029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WebSocketContext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mantiene un'unica connessione WebSocket attiva e distribuisce lo stato globale a tutte le pagine senza prop drilling.</a:t>
            </a:r>
            <a:endParaRPr b="0" i="0" sz="1200" u="none" cap="none" strike="noStrike"/>
          </a:p>
        </p:txBody>
      </p:sp>
      <p:sp>
        <p:nvSpPr>
          <p:cNvPr id="466" name="Google Shape;466;p25"/>
          <p:cNvSpPr/>
          <p:nvPr/>
        </p:nvSpPr>
        <p:spPr>
          <a:xfrm>
            <a:off x="428625" y="1953816"/>
            <a:ext cx="3971925" cy="528638"/>
          </a:xfrm>
          <a:custGeom>
            <a:rect b="b" l="l" r="r" t="t"/>
            <a:pathLst>
              <a:path extrusionOk="0" h="704850" w="5295900">
                <a:moveTo>
                  <a:pt x="38097" y="0"/>
                </a:moveTo>
                <a:lnTo>
                  <a:pt x="5257803" y="0"/>
                </a:lnTo>
                <a:cubicBezTo>
                  <a:pt x="5278829" y="0"/>
                  <a:pt x="5295900" y="17071"/>
                  <a:pt x="5295900" y="38097"/>
                </a:cubicBezTo>
                <a:lnTo>
                  <a:pt x="5295900" y="666753"/>
                </a:lnTo>
                <a:cubicBezTo>
                  <a:pt x="5295900" y="687793"/>
                  <a:pt x="5278843" y="704850"/>
                  <a:pt x="5257803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514350" y="2039541"/>
            <a:ext cx="171450" cy="171450"/>
          </a:xfrm>
          <a:custGeom>
            <a:rect b="b" l="l" r="r" t="t"/>
            <a:pathLst>
              <a:path extrusionOk="0" h="228600" w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5"/>
          <p:cNvSpPr/>
          <p:nvPr/>
        </p:nvSpPr>
        <p:spPr>
          <a:xfrm>
            <a:off x="514350" y="2039541"/>
            <a:ext cx="2214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200" u="none" cap="none" strike="noStrike"/>
          </a:p>
        </p:txBody>
      </p:sp>
      <p:sp>
        <p:nvSpPr>
          <p:cNvPr id="469" name="Google Shape;469;p25"/>
          <p:cNvSpPr/>
          <p:nvPr/>
        </p:nvSpPr>
        <p:spPr>
          <a:xfrm>
            <a:off x="741443" y="2039541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Riferimento al Socket</a:t>
            </a:r>
            <a:endParaRPr b="0" i="0" sz="1200" u="none" cap="none" strike="noStrike"/>
          </a:p>
        </p:txBody>
      </p:sp>
      <p:sp>
        <p:nvSpPr>
          <p:cNvPr id="470" name="Google Shape;470;p25"/>
          <p:cNvSpPr/>
          <p:nvPr/>
        </p:nvSpPr>
        <p:spPr>
          <a:xfrm>
            <a:off x="514350" y="2239566"/>
            <a:ext cx="3857625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useRef mantiene la connessione "viva" senza causare re-rendering.</a:t>
            </a:r>
            <a:endParaRPr b="0" i="0" sz="1200" u="none" cap="none" strike="noStrike"/>
          </a:p>
        </p:txBody>
      </p:sp>
      <p:sp>
        <p:nvSpPr>
          <p:cNvPr id="471" name="Google Shape;471;p25"/>
          <p:cNvSpPr/>
          <p:nvPr/>
        </p:nvSpPr>
        <p:spPr>
          <a:xfrm>
            <a:off x="428625" y="2568178"/>
            <a:ext cx="3971925" cy="528638"/>
          </a:xfrm>
          <a:custGeom>
            <a:rect b="b" l="l" r="r" t="t"/>
            <a:pathLst>
              <a:path extrusionOk="0" h="704850" w="5295900">
                <a:moveTo>
                  <a:pt x="38097" y="0"/>
                </a:moveTo>
                <a:lnTo>
                  <a:pt x="5257803" y="0"/>
                </a:lnTo>
                <a:cubicBezTo>
                  <a:pt x="5278829" y="0"/>
                  <a:pt x="5295900" y="17071"/>
                  <a:pt x="5295900" y="38097"/>
                </a:cubicBezTo>
                <a:lnTo>
                  <a:pt x="5295900" y="666753"/>
                </a:lnTo>
                <a:cubicBezTo>
                  <a:pt x="5295900" y="687793"/>
                  <a:pt x="5278843" y="704850"/>
                  <a:pt x="5257803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514350" y="2653903"/>
            <a:ext cx="171450" cy="171450"/>
          </a:xfrm>
          <a:custGeom>
            <a:rect b="b" l="l" r="r" t="t"/>
            <a:pathLst>
              <a:path extrusionOk="0" h="228600" w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514350" y="2653903"/>
            <a:ext cx="2214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200" u="none" cap="none" strike="noStrike"/>
          </a:p>
        </p:txBody>
      </p:sp>
      <p:sp>
        <p:nvSpPr>
          <p:cNvPr id="474" name="Google Shape;474;p25"/>
          <p:cNvSpPr/>
          <p:nvPr/>
        </p:nvSpPr>
        <p:spPr>
          <a:xfrm>
            <a:off x="741443" y="2653903"/>
            <a:ext cx="6643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Auto-Login</a:t>
            </a:r>
            <a:endParaRPr b="0" i="0" sz="1200" u="none" cap="none" strike="noStrike"/>
          </a:p>
        </p:txBody>
      </p:sp>
      <p:sp>
        <p:nvSpPr>
          <p:cNvPr id="475" name="Google Shape;475;p25"/>
          <p:cNvSpPr/>
          <p:nvPr/>
        </p:nvSpPr>
        <p:spPr>
          <a:xfrm>
            <a:off x="514350" y="2853928"/>
            <a:ext cx="3857625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useEffect ripristina sessione da sessionStorage all'avvio.</a:t>
            </a:r>
            <a:endParaRPr b="0" i="0" sz="1200" u="none" cap="none" strike="noStrike"/>
          </a:p>
        </p:txBody>
      </p:sp>
      <p:sp>
        <p:nvSpPr>
          <p:cNvPr id="476" name="Google Shape;476;p25"/>
          <p:cNvSpPr/>
          <p:nvPr/>
        </p:nvSpPr>
        <p:spPr>
          <a:xfrm>
            <a:off x="428625" y="3182541"/>
            <a:ext cx="3971925" cy="528638"/>
          </a:xfrm>
          <a:custGeom>
            <a:rect b="b" l="l" r="r" t="t"/>
            <a:pathLst>
              <a:path extrusionOk="0" h="704850" w="5295900">
                <a:moveTo>
                  <a:pt x="38097" y="0"/>
                </a:moveTo>
                <a:lnTo>
                  <a:pt x="5257803" y="0"/>
                </a:lnTo>
                <a:cubicBezTo>
                  <a:pt x="5278829" y="0"/>
                  <a:pt x="5295900" y="17071"/>
                  <a:pt x="5295900" y="38097"/>
                </a:cubicBezTo>
                <a:lnTo>
                  <a:pt x="5295900" y="666753"/>
                </a:lnTo>
                <a:cubicBezTo>
                  <a:pt x="5295900" y="687793"/>
                  <a:pt x="5278843" y="704850"/>
                  <a:pt x="5257803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514350" y="3268266"/>
            <a:ext cx="171450" cy="171450"/>
          </a:xfrm>
          <a:custGeom>
            <a:rect b="b" l="l" r="r" t="t"/>
            <a:pathLst>
              <a:path extrusionOk="0" h="228600" w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514350" y="3268266"/>
            <a:ext cx="2214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57150" spcFirstLastPara="1" rIns="57150" wrap="square" tIns="143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200" u="none" cap="none" strike="noStrike"/>
          </a:p>
        </p:txBody>
      </p:sp>
      <p:sp>
        <p:nvSpPr>
          <p:cNvPr id="479" name="Google Shape;479;p25"/>
          <p:cNvSpPr/>
          <p:nvPr/>
        </p:nvSpPr>
        <p:spPr>
          <a:xfrm>
            <a:off x="741443" y="3268266"/>
            <a:ext cx="1507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Centralino handleMessage</a:t>
            </a:r>
            <a:endParaRPr b="0" i="0" sz="1200" u="none" cap="none" strike="noStrike"/>
          </a:p>
        </p:txBody>
      </p:sp>
      <p:sp>
        <p:nvSpPr>
          <p:cNvPr id="480" name="Google Shape;480;p25"/>
          <p:cNvSpPr/>
          <p:nvPr/>
        </p:nvSpPr>
        <p:spPr>
          <a:xfrm>
            <a:off x="514350" y="3468291"/>
            <a:ext cx="3857625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Switch aggiorna lo stato React in base al type del messaggio.</a:t>
            </a:r>
            <a:endParaRPr b="0" i="0" sz="1200" u="none" cap="none" strike="noStrike"/>
          </a:p>
        </p:txBody>
      </p:sp>
      <p:sp>
        <p:nvSpPr>
          <p:cNvPr id="481" name="Google Shape;481;p25"/>
          <p:cNvSpPr/>
          <p:nvPr/>
        </p:nvSpPr>
        <p:spPr>
          <a:xfrm>
            <a:off x="4643438" y="828675"/>
            <a:ext cx="4214813" cy="3350419"/>
          </a:xfrm>
          <a:custGeom>
            <a:rect b="b" l="l" r="r" t="t"/>
            <a:pathLst>
              <a:path extrusionOk="0" h="4467225" w="5619750">
                <a:moveTo>
                  <a:pt x="38100" y="0"/>
                </a:moveTo>
                <a:lnTo>
                  <a:pt x="5543539" y="0"/>
                </a:lnTo>
                <a:cubicBezTo>
                  <a:pt x="5585629" y="0"/>
                  <a:pt x="5619750" y="34121"/>
                  <a:pt x="5619750" y="76211"/>
                </a:cubicBezTo>
                <a:lnTo>
                  <a:pt x="5619750" y="4391014"/>
                </a:lnTo>
                <a:cubicBezTo>
                  <a:pt x="5619750" y="4433104"/>
                  <a:pt x="5585629" y="4467225"/>
                  <a:pt x="5543539" y="4467225"/>
                </a:cubicBezTo>
                <a:lnTo>
                  <a:pt x="38100" y="4467225"/>
                </a:lnTo>
                <a:cubicBezTo>
                  <a:pt x="17072" y="4467225"/>
                  <a:pt x="0" y="4450153"/>
                  <a:pt x="0" y="4429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4643438" y="828675"/>
            <a:ext cx="28575" cy="3350419"/>
          </a:xfrm>
          <a:custGeom>
            <a:rect b="b" l="l" r="r" t="t"/>
            <a:pathLst>
              <a:path extrusionOk="0" h="4467225" w="38100">
                <a:moveTo>
                  <a:pt x="38100" y="0"/>
                </a:moveTo>
                <a:lnTo>
                  <a:pt x="38100" y="0"/>
                </a:lnTo>
                <a:lnTo>
                  <a:pt x="38100" y="4467225"/>
                </a:lnTo>
                <a:lnTo>
                  <a:pt x="38100" y="4467225"/>
                </a:lnTo>
                <a:cubicBezTo>
                  <a:pt x="17072" y="4467225"/>
                  <a:pt x="0" y="4450153"/>
                  <a:pt x="0" y="4429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4772025" y="942975"/>
            <a:ext cx="4043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Stato Globale</a:t>
            </a:r>
            <a:endParaRPr b="0" i="0" sz="1200" u="none" cap="none" strike="noStrike"/>
          </a:p>
        </p:txBody>
      </p:sp>
      <p:sp>
        <p:nvSpPr>
          <p:cNvPr id="484" name="Google Shape;484;p25"/>
          <p:cNvSpPr/>
          <p:nvPr/>
        </p:nvSpPr>
        <p:spPr>
          <a:xfrm>
            <a:off x="4772025" y="1375172"/>
            <a:ext cx="3971925" cy="457200"/>
          </a:xfrm>
          <a:custGeom>
            <a:rect b="b" l="l" r="r" t="t"/>
            <a:pathLst>
              <a:path extrusionOk="0" h="609600" w="52959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4850606" y="1460897"/>
            <a:ext cx="100013" cy="1143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5057775" y="1432322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</a:t>
            </a:r>
            <a:endParaRPr b="0" i="0" sz="1200" u="none" cap="none" strike="noStrike"/>
          </a:p>
        </p:txBody>
      </p:sp>
      <p:sp>
        <p:nvSpPr>
          <p:cNvPr id="487" name="Google Shape;487;p25"/>
          <p:cNvSpPr/>
          <p:nvPr/>
        </p:nvSpPr>
        <p:spPr>
          <a:xfrm>
            <a:off x="5057775" y="1603772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Username corrente autenticato</a:t>
            </a:r>
            <a:endParaRPr b="0" i="0" sz="1200" u="none" cap="none" strike="noStrike"/>
          </a:p>
        </p:txBody>
      </p:sp>
      <p:sp>
        <p:nvSpPr>
          <p:cNvPr id="488" name="Google Shape;488;p25"/>
          <p:cNvSpPr/>
          <p:nvPr/>
        </p:nvSpPr>
        <p:spPr>
          <a:xfrm>
            <a:off x="4772025" y="1889522"/>
            <a:ext cx="3971925" cy="457200"/>
          </a:xfrm>
          <a:custGeom>
            <a:rect b="b" l="l" r="r" t="t"/>
            <a:pathLst>
              <a:path extrusionOk="0" h="609600" w="52959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829175" y="1975247"/>
            <a:ext cx="142875" cy="114300"/>
          </a:xfrm>
          <a:custGeom>
            <a:rect b="b" l="l" r="r" t="t"/>
            <a:pathLst>
              <a:path extrusionOk="0" h="152400" w="1905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5057775" y="1946672"/>
            <a:ext cx="13858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groups</a:t>
            </a:r>
            <a:endParaRPr b="0" i="0" sz="1200" u="none" cap="none" strike="noStrike"/>
          </a:p>
        </p:txBody>
      </p:sp>
      <p:sp>
        <p:nvSpPr>
          <p:cNvPr id="491" name="Google Shape;491;p25"/>
          <p:cNvSpPr/>
          <p:nvPr/>
        </p:nvSpPr>
        <p:spPr>
          <a:xfrm>
            <a:off x="5057775" y="2118122"/>
            <a:ext cx="13858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Array delle chat disponibili</a:t>
            </a:r>
            <a:endParaRPr b="0" i="0" sz="1200" u="none" cap="none" strike="noStrike"/>
          </a:p>
        </p:txBody>
      </p:sp>
      <p:sp>
        <p:nvSpPr>
          <p:cNvPr id="492" name="Google Shape;492;p25"/>
          <p:cNvSpPr/>
          <p:nvPr/>
        </p:nvSpPr>
        <p:spPr>
          <a:xfrm>
            <a:off x="4772025" y="2403872"/>
            <a:ext cx="3971925" cy="457200"/>
          </a:xfrm>
          <a:custGeom>
            <a:rect b="b" l="l" r="r" t="t"/>
            <a:pathLst>
              <a:path extrusionOk="0" h="609600" w="52959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4836319" y="2489597"/>
            <a:ext cx="128588" cy="114300"/>
          </a:xfrm>
          <a:custGeom>
            <a:rect b="b" l="l" r="r" t="t"/>
            <a:pathLst>
              <a:path extrusionOk="0" h="152400" w="17145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5057775" y="2461022"/>
            <a:ext cx="1657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messages</a:t>
            </a:r>
            <a:endParaRPr b="0" i="0" sz="1200" u="none" cap="none" strike="noStrike"/>
          </a:p>
        </p:txBody>
      </p:sp>
      <p:sp>
        <p:nvSpPr>
          <p:cNvPr id="495" name="Google Shape;495;p25"/>
          <p:cNvSpPr/>
          <p:nvPr/>
        </p:nvSpPr>
        <p:spPr>
          <a:xfrm>
            <a:off x="5057775" y="2632472"/>
            <a:ext cx="1657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Oggetto dizionario per group_id</a:t>
            </a:r>
            <a:endParaRPr b="0" i="0" sz="1200" u="none" cap="none" strike="noStrike"/>
          </a:p>
        </p:txBody>
      </p:sp>
      <p:sp>
        <p:nvSpPr>
          <p:cNvPr id="496" name="Google Shape;496;p25"/>
          <p:cNvSpPr/>
          <p:nvPr/>
        </p:nvSpPr>
        <p:spPr>
          <a:xfrm>
            <a:off x="4772025" y="2918222"/>
            <a:ext cx="3971925" cy="457200"/>
          </a:xfrm>
          <a:custGeom>
            <a:rect b="b" l="l" r="r" t="t"/>
            <a:pathLst>
              <a:path extrusionOk="0" h="609600" w="52959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4843463" y="3003947"/>
            <a:ext cx="114300" cy="114300"/>
          </a:xfrm>
          <a:custGeom>
            <a:rect b="b" l="l" r="r" t="t"/>
            <a:pathLst>
              <a:path extrusionOk="0" h="152400" w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5057775" y="2975372"/>
            <a:ext cx="1107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invitations</a:t>
            </a:r>
            <a:endParaRPr b="0" i="0" sz="1200" u="none" cap="none" strike="noStrike"/>
          </a:p>
        </p:txBody>
      </p:sp>
      <p:sp>
        <p:nvSpPr>
          <p:cNvPr id="499" name="Google Shape;499;p25"/>
          <p:cNvSpPr/>
          <p:nvPr/>
        </p:nvSpPr>
        <p:spPr>
          <a:xfrm>
            <a:off x="5057775" y="3146822"/>
            <a:ext cx="1107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Inviti ricevuti e inviati</a:t>
            </a:r>
            <a:endParaRPr b="0" i="0" sz="1200" u="none" cap="none" strike="noStrike"/>
          </a:p>
        </p:txBody>
      </p:sp>
      <p:sp>
        <p:nvSpPr>
          <p:cNvPr id="500" name="Google Shape;500;p25"/>
          <p:cNvSpPr/>
          <p:nvPr/>
        </p:nvSpPr>
        <p:spPr>
          <a:xfrm>
            <a:off x="4772025" y="3432572"/>
            <a:ext cx="3971925" cy="457200"/>
          </a:xfrm>
          <a:custGeom>
            <a:rect b="b" l="l" r="r" t="t"/>
            <a:pathLst>
              <a:path extrusionOk="0" h="609600" w="52959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571500"/>
                </a:lnTo>
                <a:cubicBezTo>
                  <a:pt x="5295900" y="592528"/>
                  <a:pt x="5278828" y="609600"/>
                  <a:pt x="5257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4843463" y="3518297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5057775" y="3489722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wsError</a:t>
            </a:r>
            <a:endParaRPr b="0" i="0" sz="1200" u="none" cap="none" strike="noStrike"/>
          </a:p>
        </p:txBody>
      </p:sp>
      <p:sp>
        <p:nvSpPr>
          <p:cNvPr id="503" name="Google Shape;503;p25"/>
          <p:cNvSpPr/>
          <p:nvPr/>
        </p:nvSpPr>
        <p:spPr>
          <a:xfrm>
            <a:off x="5057775" y="3661172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Errori per innescare toast</a:t>
            </a:r>
            <a:endParaRPr b="0" i="0" sz="1200" u="none" cap="none" strike="noStrike"/>
          </a:p>
        </p:txBody>
      </p:sp>
      <p:sp>
        <p:nvSpPr>
          <p:cNvPr id="504" name="Google Shape;504;p25"/>
          <p:cNvSpPr/>
          <p:nvPr/>
        </p:nvSpPr>
        <p:spPr>
          <a:xfrm>
            <a:off x="289322" y="4239816"/>
            <a:ext cx="2071688" cy="614363"/>
          </a:xfrm>
          <a:custGeom>
            <a:rect b="b" l="l" r="r" t="t"/>
            <a:pathLst>
              <a:path extrusionOk="0" h="81915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742953"/>
                </a:lnTo>
                <a:cubicBezTo>
                  <a:pt x="2762250" y="785035"/>
                  <a:pt x="2728135" y="819150"/>
                  <a:pt x="2686053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1254621" y="4321969"/>
            <a:ext cx="144661" cy="128588"/>
          </a:xfrm>
          <a:custGeom>
            <a:rect b="b" l="l" r="r" t="t"/>
            <a:pathLst>
              <a:path extrusionOk="0" h="171450" w="192881">
                <a:moveTo>
                  <a:pt x="179621" y="-8807"/>
                </a:moveTo>
                <a:cubicBezTo>
                  <a:pt x="182902" y="-9979"/>
                  <a:pt x="186519" y="-9142"/>
                  <a:pt x="188997" y="-6697"/>
                </a:cubicBezTo>
                <a:cubicBezTo>
                  <a:pt x="191475" y="-4253"/>
                  <a:pt x="192278" y="-603"/>
                  <a:pt x="191106" y="2679"/>
                </a:cubicBezTo>
                <a:lnTo>
                  <a:pt x="131501" y="169072"/>
                </a:lnTo>
                <a:cubicBezTo>
                  <a:pt x="129826" y="173727"/>
                  <a:pt x="125440" y="176808"/>
                  <a:pt x="120517" y="176808"/>
                </a:cubicBezTo>
                <a:cubicBezTo>
                  <a:pt x="115762" y="176808"/>
                  <a:pt x="111476" y="173928"/>
                  <a:pt x="109701" y="169541"/>
                </a:cubicBezTo>
                <a:lnTo>
                  <a:pt x="88203" y="116633"/>
                </a:lnTo>
                <a:cubicBezTo>
                  <a:pt x="86696" y="112949"/>
                  <a:pt x="87366" y="108730"/>
                  <a:pt x="89944" y="105716"/>
                </a:cubicBezTo>
                <a:lnTo>
                  <a:pt x="121589" y="68078"/>
                </a:lnTo>
                <a:cubicBezTo>
                  <a:pt x="123297" y="66035"/>
                  <a:pt x="123163" y="63055"/>
                  <a:pt x="121287" y="61180"/>
                </a:cubicBezTo>
                <a:cubicBezTo>
                  <a:pt x="119412" y="59304"/>
                  <a:pt x="116398" y="59170"/>
                  <a:pt x="114389" y="60878"/>
                </a:cubicBezTo>
                <a:lnTo>
                  <a:pt x="76751" y="92456"/>
                </a:lnTo>
                <a:cubicBezTo>
                  <a:pt x="73703" y="95001"/>
                  <a:pt x="69518" y="95670"/>
                  <a:pt x="65834" y="94197"/>
                </a:cubicBezTo>
                <a:lnTo>
                  <a:pt x="12758" y="72598"/>
                </a:lnTo>
                <a:cubicBezTo>
                  <a:pt x="8372" y="70824"/>
                  <a:pt x="5492" y="66537"/>
                  <a:pt x="5492" y="61782"/>
                </a:cubicBezTo>
                <a:cubicBezTo>
                  <a:pt x="5492" y="56860"/>
                  <a:pt x="8573" y="52473"/>
                  <a:pt x="13227" y="50799"/>
                </a:cubicBezTo>
                <a:lnTo>
                  <a:pt x="179621" y="-880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321469" y="4479131"/>
            <a:ext cx="20073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sendMessage</a:t>
            </a:r>
            <a:endParaRPr b="0" i="0" sz="1200" u="none" cap="none" strike="noStrike"/>
          </a:p>
        </p:txBody>
      </p:sp>
      <p:sp>
        <p:nvSpPr>
          <p:cNvPr id="507" name="Google Shape;507;p25"/>
          <p:cNvSpPr/>
          <p:nvPr/>
        </p:nvSpPr>
        <p:spPr>
          <a:xfrm>
            <a:off x="325041" y="4650581"/>
            <a:ext cx="2000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Invio messaggi</a:t>
            </a:r>
            <a:endParaRPr b="0" i="0" sz="1200" u="none" cap="none" strike="noStrike"/>
          </a:p>
        </p:txBody>
      </p:sp>
      <p:sp>
        <p:nvSpPr>
          <p:cNvPr id="508" name="Google Shape;508;p25"/>
          <p:cNvSpPr/>
          <p:nvPr/>
        </p:nvSpPr>
        <p:spPr>
          <a:xfrm>
            <a:off x="2453879" y="4239816"/>
            <a:ext cx="2071688" cy="614363"/>
          </a:xfrm>
          <a:custGeom>
            <a:rect b="b" l="l" r="r" t="t"/>
            <a:pathLst>
              <a:path extrusionOk="0" h="81915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742953"/>
                </a:lnTo>
                <a:cubicBezTo>
                  <a:pt x="2762250" y="785035"/>
                  <a:pt x="2728135" y="819150"/>
                  <a:pt x="2686053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427214" y="4321969"/>
            <a:ext cx="128588" cy="128588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2486025" y="4479131"/>
            <a:ext cx="20073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createChat</a:t>
            </a:r>
            <a:endParaRPr b="0" i="0" sz="1200" u="none" cap="none" strike="noStrike"/>
          </a:p>
        </p:txBody>
      </p:sp>
      <p:sp>
        <p:nvSpPr>
          <p:cNvPr id="511" name="Google Shape;511;p25"/>
          <p:cNvSpPr/>
          <p:nvPr/>
        </p:nvSpPr>
        <p:spPr>
          <a:xfrm>
            <a:off x="2489597" y="4650581"/>
            <a:ext cx="2000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Creazione chat</a:t>
            </a:r>
            <a:endParaRPr b="0" i="0" sz="1200" u="none" cap="none" strike="noStrike"/>
          </a:p>
        </p:txBody>
      </p:sp>
      <p:sp>
        <p:nvSpPr>
          <p:cNvPr id="512" name="Google Shape;512;p25"/>
          <p:cNvSpPr/>
          <p:nvPr/>
        </p:nvSpPr>
        <p:spPr>
          <a:xfrm>
            <a:off x="4618435" y="4239816"/>
            <a:ext cx="2071688" cy="614363"/>
          </a:xfrm>
          <a:custGeom>
            <a:rect b="b" l="l" r="r" t="t"/>
            <a:pathLst>
              <a:path extrusionOk="0" h="81915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742953"/>
                </a:lnTo>
                <a:cubicBezTo>
                  <a:pt x="2762250" y="785035"/>
                  <a:pt x="2728135" y="819150"/>
                  <a:pt x="2686053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5575697" y="4321969"/>
            <a:ext cx="160735" cy="128588"/>
          </a:xfrm>
          <a:custGeom>
            <a:rect b="b" l="l" r="r" t="t"/>
            <a:pathLst>
              <a:path extrusionOk="0" h="171450" w="214313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182166" y="32147"/>
                </a:moveTo>
                <a:cubicBezTo>
                  <a:pt x="186619" y="32147"/>
                  <a:pt x="190202" y="35730"/>
                  <a:pt x="190202" y="40184"/>
                </a:cubicBezTo>
                <a:lnTo>
                  <a:pt x="190202" y="56257"/>
                </a:lnTo>
                <a:lnTo>
                  <a:pt x="206276" y="56257"/>
                </a:lnTo>
                <a:cubicBezTo>
                  <a:pt x="210729" y="56257"/>
                  <a:pt x="214313" y="59840"/>
                  <a:pt x="214313" y="64294"/>
                </a:cubicBezTo>
                <a:cubicBezTo>
                  <a:pt x="214313" y="68747"/>
                  <a:pt x="210729" y="72330"/>
                  <a:pt x="206276" y="72330"/>
                </a:cubicBezTo>
                <a:lnTo>
                  <a:pt x="190202" y="72330"/>
                </a:lnTo>
                <a:lnTo>
                  <a:pt x="190202" y="88404"/>
                </a:lnTo>
                <a:cubicBezTo>
                  <a:pt x="190202" y="92858"/>
                  <a:pt x="186619" y="96441"/>
                  <a:pt x="182166" y="96441"/>
                </a:cubicBezTo>
                <a:cubicBezTo>
                  <a:pt x="177712" y="96441"/>
                  <a:pt x="174129" y="92858"/>
                  <a:pt x="174129" y="88404"/>
                </a:cubicBezTo>
                <a:lnTo>
                  <a:pt x="174129" y="72330"/>
                </a:lnTo>
                <a:lnTo>
                  <a:pt x="158055" y="72330"/>
                </a:lnTo>
                <a:cubicBezTo>
                  <a:pt x="153602" y="72330"/>
                  <a:pt x="150019" y="68747"/>
                  <a:pt x="150019" y="64294"/>
                </a:cubicBezTo>
                <a:cubicBezTo>
                  <a:pt x="150019" y="59840"/>
                  <a:pt x="153602" y="56257"/>
                  <a:pt x="158055" y="56257"/>
                </a:cubicBezTo>
                <a:lnTo>
                  <a:pt x="174129" y="56257"/>
                </a:lnTo>
                <a:lnTo>
                  <a:pt x="174129" y="40184"/>
                </a:lnTo>
                <a:cubicBezTo>
                  <a:pt x="174129" y="35730"/>
                  <a:pt x="177712" y="32147"/>
                  <a:pt x="182166" y="32147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4650581" y="4479131"/>
            <a:ext cx="20073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sendInvite</a:t>
            </a:r>
            <a:endParaRPr b="0" i="0" sz="1200" u="none" cap="none" strike="noStrike"/>
          </a:p>
        </p:txBody>
      </p:sp>
      <p:sp>
        <p:nvSpPr>
          <p:cNvPr id="515" name="Google Shape;515;p25"/>
          <p:cNvSpPr/>
          <p:nvPr/>
        </p:nvSpPr>
        <p:spPr>
          <a:xfrm>
            <a:off x="4654153" y="4650581"/>
            <a:ext cx="2000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Invio inviti</a:t>
            </a:r>
            <a:endParaRPr b="0" i="0" sz="1200" u="none" cap="none" strike="noStrike"/>
          </a:p>
        </p:txBody>
      </p:sp>
      <p:sp>
        <p:nvSpPr>
          <p:cNvPr id="516" name="Google Shape;516;p25"/>
          <p:cNvSpPr/>
          <p:nvPr/>
        </p:nvSpPr>
        <p:spPr>
          <a:xfrm>
            <a:off x="6782991" y="4239816"/>
            <a:ext cx="2071688" cy="614363"/>
          </a:xfrm>
          <a:custGeom>
            <a:rect b="b" l="l" r="r" t="t"/>
            <a:pathLst>
              <a:path extrusionOk="0" h="81915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742953"/>
                </a:lnTo>
                <a:cubicBezTo>
                  <a:pt x="2762250" y="785035"/>
                  <a:pt x="2728135" y="819150"/>
                  <a:pt x="2686053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7756327" y="4321969"/>
            <a:ext cx="128588" cy="128588"/>
          </a:xfrm>
          <a:custGeom>
            <a:rect b="b" l="l" r="r" t="t"/>
            <a:pathLst>
              <a:path extrusionOk="0" h="171450" w="171450">
                <a:moveTo>
                  <a:pt x="68379" y="6161"/>
                </a:moveTo>
                <a:cubicBezTo>
                  <a:pt x="72397" y="7836"/>
                  <a:pt x="75009" y="11720"/>
                  <a:pt x="75009" y="16073"/>
                </a:cubicBezTo>
                <a:lnTo>
                  <a:pt x="75009" y="42863"/>
                </a:lnTo>
                <a:lnTo>
                  <a:pt x="112514" y="42863"/>
                </a:lnTo>
                <a:cubicBezTo>
                  <a:pt x="145063" y="42863"/>
                  <a:pt x="171450" y="69250"/>
                  <a:pt x="171450" y="101798"/>
                </a:cubicBezTo>
                <a:cubicBezTo>
                  <a:pt x="171450" y="139738"/>
                  <a:pt x="144159" y="156683"/>
                  <a:pt x="137897" y="160098"/>
                </a:cubicBezTo>
                <a:cubicBezTo>
                  <a:pt x="137060" y="160567"/>
                  <a:pt x="136122" y="160734"/>
                  <a:pt x="135184" y="160734"/>
                </a:cubicBezTo>
                <a:cubicBezTo>
                  <a:pt x="131534" y="160734"/>
                  <a:pt x="128588" y="157754"/>
                  <a:pt x="128588" y="154138"/>
                </a:cubicBezTo>
                <a:cubicBezTo>
                  <a:pt x="128588" y="151626"/>
                  <a:pt x="130027" y="149316"/>
                  <a:pt x="131869" y="147608"/>
                </a:cubicBezTo>
                <a:cubicBezTo>
                  <a:pt x="135017" y="144661"/>
                  <a:pt x="139303" y="138767"/>
                  <a:pt x="139303" y="128621"/>
                </a:cubicBezTo>
                <a:cubicBezTo>
                  <a:pt x="139303" y="110873"/>
                  <a:pt x="124904" y="96474"/>
                  <a:pt x="107156" y="96474"/>
                </a:cubicBezTo>
                <a:lnTo>
                  <a:pt x="75009" y="96474"/>
                </a:lnTo>
                <a:lnTo>
                  <a:pt x="75009" y="123263"/>
                </a:lnTo>
                <a:cubicBezTo>
                  <a:pt x="75009" y="127583"/>
                  <a:pt x="72397" y="131501"/>
                  <a:pt x="68379" y="133175"/>
                </a:cubicBezTo>
                <a:cubicBezTo>
                  <a:pt x="64361" y="134849"/>
                  <a:pt x="59773" y="133912"/>
                  <a:pt x="56692" y="130865"/>
                </a:cubicBezTo>
                <a:lnTo>
                  <a:pt x="3114" y="77286"/>
                </a:lnTo>
                <a:cubicBezTo>
                  <a:pt x="-1072" y="73101"/>
                  <a:pt x="-1072" y="66303"/>
                  <a:pt x="3114" y="62117"/>
                </a:cubicBezTo>
                <a:lnTo>
                  <a:pt x="56692" y="8539"/>
                </a:lnTo>
                <a:cubicBezTo>
                  <a:pt x="59773" y="5458"/>
                  <a:pt x="64361" y="4554"/>
                  <a:pt x="68379" y="622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6815138" y="4479131"/>
            <a:ext cx="20073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respondToInvite</a:t>
            </a:r>
            <a:endParaRPr b="0" i="0" sz="1200" u="none" cap="none" strike="noStrike"/>
          </a:p>
        </p:txBody>
      </p:sp>
      <p:sp>
        <p:nvSpPr>
          <p:cNvPr id="519" name="Google Shape;519;p25"/>
          <p:cNvSpPr/>
          <p:nvPr/>
        </p:nvSpPr>
        <p:spPr>
          <a:xfrm>
            <a:off x="6818710" y="4650581"/>
            <a:ext cx="2000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Risposta inviti</a:t>
            </a:r>
            <a:endParaRPr b="0" i="0" sz="1200" u="none" cap="none" strike="noStrike"/>
          </a:p>
        </p:txBody>
      </p:sp>
      <p:sp>
        <p:nvSpPr>
          <p:cNvPr id="520" name="Google Shape;52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4_backend.png" id="526" name="Google Shape;526;p26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27" name="Google Shape;527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528" name="Google Shape;528;p26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b="0" i="0" sz="1200" u="none" cap="none" strike="noStrike"/>
          </a:p>
        </p:txBody>
      </p:sp>
      <p:sp>
        <p:nvSpPr>
          <p:cNvPr id="529" name="Google Shape;529;p26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</a:t>
            </a:r>
            <a:endParaRPr b="0" i="0" sz="1200" u="none" cap="none" strike="noStrike"/>
          </a:p>
        </p:txBody>
      </p:sp>
      <p:sp>
        <p:nvSpPr>
          <p:cNvPr id="530" name="Google Shape;530;p26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Logica applicativa in Rust</a:t>
            </a:r>
            <a:endParaRPr b="0" i="0" sz="1200" u="none" cap="none" strike="noStrike"/>
          </a:p>
        </p:txBody>
      </p:sp>
      <p:sp>
        <p:nvSpPr>
          <p:cNvPr id="531" name="Google Shape;531;p26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532" name="Google Shape;5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Architecture</a:t>
            </a:r>
            <a:endParaRPr b="0" i="0" sz="1200" u="none" cap="none" strike="noStrike"/>
          </a:p>
        </p:txBody>
      </p:sp>
      <p:sp>
        <p:nvSpPr>
          <p:cNvPr id="540" name="Google Shape;540;p27"/>
          <p:cNvSpPr/>
          <p:nvPr/>
        </p:nvSpPr>
        <p:spPr>
          <a:xfrm>
            <a:off x="285750" y="485775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Pattern Controller-Service-Repository</a:t>
            </a:r>
            <a:endParaRPr b="0" i="0" sz="1200" u="none" cap="none" strike="noStrike"/>
          </a:p>
        </p:txBody>
      </p:sp>
      <p:sp>
        <p:nvSpPr>
          <p:cNvPr id="541" name="Google Shape;541;p27"/>
          <p:cNvSpPr/>
          <p:nvPr/>
        </p:nvSpPr>
        <p:spPr>
          <a:xfrm>
            <a:off x="300038" y="828675"/>
            <a:ext cx="6329363" cy="2300288"/>
          </a:xfrm>
          <a:custGeom>
            <a:rect b="b" l="l" r="r" t="t"/>
            <a:pathLst>
              <a:path extrusionOk="0" h="3067050" w="8439150">
                <a:moveTo>
                  <a:pt x="38100" y="0"/>
                </a:moveTo>
                <a:lnTo>
                  <a:pt x="8362964" y="0"/>
                </a:lnTo>
                <a:cubicBezTo>
                  <a:pt x="8405041" y="0"/>
                  <a:pt x="8439150" y="34109"/>
                  <a:pt x="8439150" y="76186"/>
                </a:cubicBezTo>
                <a:lnTo>
                  <a:pt x="8439150" y="2990864"/>
                </a:lnTo>
                <a:cubicBezTo>
                  <a:pt x="8439150" y="3032941"/>
                  <a:pt x="8405041" y="3067050"/>
                  <a:pt x="8362964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300038" y="828675"/>
            <a:ext cx="28575" cy="2300288"/>
          </a:xfrm>
          <a:custGeom>
            <a:rect b="b" l="l" r="r" t="t"/>
            <a:pathLst>
              <a:path extrusionOk="0" h="3067050" w="3810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428625" y="942975"/>
            <a:ext cx="61579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Separazione delle Responsabilità</a:t>
            </a:r>
            <a:endParaRPr b="0" i="0" sz="1200" u="none" cap="none" strike="noStrike"/>
          </a:p>
        </p:txBody>
      </p:sp>
      <p:sp>
        <p:nvSpPr>
          <p:cNvPr id="544" name="Google Shape;544;p27"/>
          <p:cNvSpPr/>
          <p:nvPr/>
        </p:nvSpPr>
        <p:spPr>
          <a:xfrm>
            <a:off x="428625" y="1200150"/>
            <a:ext cx="6143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backend segue il pattern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Controller-Service-Repository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 isolare chiaramente responsabilità e facilitare manutenzione e testing.</a:t>
            </a:r>
            <a:endParaRPr b="0" i="0" sz="1200" u="none" cap="none" strike="noStrike"/>
          </a:p>
        </p:txBody>
      </p:sp>
      <p:sp>
        <p:nvSpPr>
          <p:cNvPr id="545" name="Google Shape;545;p27"/>
          <p:cNvSpPr/>
          <p:nvPr/>
        </p:nvSpPr>
        <p:spPr>
          <a:xfrm>
            <a:off x="432197" y="1603772"/>
            <a:ext cx="1964531" cy="1407319"/>
          </a:xfrm>
          <a:custGeom>
            <a:rect b="b" l="l" r="r" t="t"/>
            <a:pathLst>
              <a:path extrusionOk="0" h="1876425" w="2619375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1800223"/>
                </a:lnTo>
                <a:cubicBezTo>
                  <a:pt x="2619375" y="1842308"/>
                  <a:pt x="2585258" y="1876425"/>
                  <a:pt x="254317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521494" y="1693069"/>
            <a:ext cx="228600" cy="2286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593825" y="1757363"/>
            <a:ext cx="87511" cy="100013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07244" y="1721644"/>
            <a:ext cx="6643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Controllers</a:t>
            </a:r>
            <a:endParaRPr b="0" i="0" sz="1200" u="none" cap="none" strike="noStrike"/>
          </a:p>
        </p:txBody>
      </p:sp>
      <p:sp>
        <p:nvSpPr>
          <p:cNvPr id="549" name="Google Shape;549;p27"/>
          <p:cNvSpPr/>
          <p:nvPr/>
        </p:nvSpPr>
        <p:spPr>
          <a:xfrm>
            <a:off x="521494" y="1978819"/>
            <a:ext cx="18430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Gestiscono richieste HTTP/WebSocket, validano dati e orchestrano la logica.</a:t>
            </a:r>
            <a:endParaRPr b="0" i="0" sz="1200" u="none" cap="none" strike="noStrike"/>
          </a:p>
        </p:txBody>
      </p:sp>
      <p:sp>
        <p:nvSpPr>
          <p:cNvPr id="550" name="Google Shape;550;p27"/>
          <p:cNvSpPr/>
          <p:nvPr/>
        </p:nvSpPr>
        <p:spPr>
          <a:xfrm>
            <a:off x="548283" y="2646760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671513" y="2621756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authentication_controller.rs</a:t>
            </a:r>
            <a:endParaRPr b="0" i="0" sz="1200" u="none" cap="none" strike="noStrike"/>
          </a:p>
        </p:txBody>
      </p:sp>
      <p:sp>
        <p:nvSpPr>
          <p:cNvPr id="552" name="Google Shape;552;p27"/>
          <p:cNvSpPr/>
          <p:nvPr/>
        </p:nvSpPr>
        <p:spPr>
          <a:xfrm>
            <a:off x="548283" y="2803922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671513" y="2778919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web_socket_controller.rs</a:t>
            </a:r>
            <a:endParaRPr b="0" i="0" sz="1200" u="none" cap="none" strike="noStrike"/>
          </a:p>
        </p:txBody>
      </p:sp>
      <p:sp>
        <p:nvSpPr>
          <p:cNvPr id="554" name="Google Shape;554;p27"/>
          <p:cNvSpPr/>
          <p:nvPr/>
        </p:nvSpPr>
        <p:spPr>
          <a:xfrm>
            <a:off x="2489597" y="1603772"/>
            <a:ext cx="1964531" cy="1407319"/>
          </a:xfrm>
          <a:custGeom>
            <a:rect b="b" l="l" r="r" t="t"/>
            <a:pathLst>
              <a:path extrusionOk="0" h="1876425" w="2619375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1800223"/>
                </a:lnTo>
                <a:cubicBezTo>
                  <a:pt x="2619375" y="1842308"/>
                  <a:pt x="2585258" y="1876425"/>
                  <a:pt x="254317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2578894" y="1693069"/>
            <a:ext cx="228600" cy="2286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2632472" y="1757363"/>
            <a:ext cx="125016" cy="100013"/>
          </a:xfrm>
          <a:custGeom>
            <a:rect b="b" l="l" r="r" t="t"/>
            <a:pathLst>
              <a:path extrusionOk="0" h="133350" w="166688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2864644" y="1721644"/>
            <a:ext cx="5286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Services</a:t>
            </a:r>
            <a:endParaRPr b="0" i="0" sz="1200" u="none" cap="none" strike="noStrike"/>
          </a:p>
        </p:txBody>
      </p:sp>
      <p:sp>
        <p:nvSpPr>
          <p:cNvPr id="558" name="Google Shape;558;p27"/>
          <p:cNvSpPr/>
          <p:nvPr/>
        </p:nvSpPr>
        <p:spPr>
          <a:xfrm>
            <a:off x="2578894" y="1978819"/>
            <a:ext cx="18430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Implementano la business logic: validazione, hashing, gestione gruppi.</a:t>
            </a:r>
            <a:endParaRPr b="0" i="0" sz="1200" u="none" cap="none" strike="noStrike"/>
          </a:p>
        </p:txBody>
      </p:sp>
      <p:sp>
        <p:nvSpPr>
          <p:cNvPr id="559" name="Google Shape;559;p27"/>
          <p:cNvSpPr/>
          <p:nvPr/>
        </p:nvSpPr>
        <p:spPr>
          <a:xfrm>
            <a:off x="2605683" y="2489597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2728913" y="2464594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user_service.rs</a:t>
            </a:r>
            <a:endParaRPr b="0" i="0" sz="1200" u="none" cap="none" strike="noStrike"/>
          </a:p>
        </p:txBody>
      </p:sp>
      <p:sp>
        <p:nvSpPr>
          <p:cNvPr id="561" name="Google Shape;561;p27"/>
          <p:cNvSpPr/>
          <p:nvPr/>
        </p:nvSpPr>
        <p:spPr>
          <a:xfrm>
            <a:off x="2605683" y="2646760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2728913" y="2621756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chat_service.rs</a:t>
            </a:r>
            <a:endParaRPr b="0" i="0" sz="1200" u="none" cap="none" strike="noStrike"/>
          </a:p>
        </p:txBody>
      </p:sp>
      <p:sp>
        <p:nvSpPr>
          <p:cNvPr id="563" name="Google Shape;563;p27"/>
          <p:cNvSpPr/>
          <p:nvPr/>
        </p:nvSpPr>
        <p:spPr>
          <a:xfrm>
            <a:off x="2605683" y="2803922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2728913" y="2778919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auth_service.rs</a:t>
            </a:r>
            <a:endParaRPr b="0" i="0" sz="1200" u="none" cap="none" strike="noStrike"/>
          </a:p>
        </p:txBody>
      </p:sp>
      <p:sp>
        <p:nvSpPr>
          <p:cNvPr id="565" name="Google Shape;565;p27"/>
          <p:cNvSpPr/>
          <p:nvPr/>
        </p:nvSpPr>
        <p:spPr>
          <a:xfrm>
            <a:off x="4546997" y="1603772"/>
            <a:ext cx="1964531" cy="1407319"/>
          </a:xfrm>
          <a:custGeom>
            <a:rect b="b" l="l" r="r" t="t"/>
            <a:pathLst>
              <a:path extrusionOk="0" h="1876425" w="2619375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1800223"/>
                </a:lnTo>
                <a:cubicBezTo>
                  <a:pt x="2619375" y="1842308"/>
                  <a:pt x="2585258" y="1876425"/>
                  <a:pt x="254317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4636294" y="1693069"/>
            <a:ext cx="228600" cy="2286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4708625" y="1757363"/>
            <a:ext cx="87511" cy="100013"/>
          </a:xfrm>
          <a:custGeom>
            <a:rect b="b" l="l" r="r" t="t"/>
            <a:pathLst>
              <a:path extrusionOk="0" h="133350" w="116681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4922044" y="1721644"/>
            <a:ext cx="7500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Repositories</a:t>
            </a:r>
            <a:endParaRPr b="0" i="0" sz="1200" u="none" cap="none" strike="noStrike"/>
          </a:p>
        </p:txBody>
      </p:sp>
      <p:sp>
        <p:nvSpPr>
          <p:cNvPr id="569" name="Google Shape;569;p27"/>
          <p:cNvSpPr/>
          <p:nvPr/>
        </p:nvSpPr>
        <p:spPr>
          <a:xfrm>
            <a:off x="4636294" y="1978819"/>
            <a:ext cx="18430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Accesso ai dati con query sicure, atomicità e integrità referenziale.</a:t>
            </a:r>
            <a:endParaRPr b="0" i="0" sz="1200" u="none" cap="none" strike="noStrike"/>
          </a:p>
        </p:txBody>
      </p:sp>
      <p:sp>
        <p:nvSpPr>
          <p:cNvPr id="570" name="Google Shape;570;p27"/>
          <p:cNvSpPr/>
          <p:nvPr/>
        </p:nvSpPr>
        <p:spPr>
          <a:xfrm>
            <a:off x="4663083" y="2489597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4786313" y="2464594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group_repository.rs</a:t>
            </a:r>
            <a:endParaRPr b="0" i="0" sz="1200" u="none" cap="none" strike="noStrike"/>
          </a:p>
        </p:txBody>
      </p:sp>
      <p:sp>
        <p:nvSpPr>
          <p:cNvPr id="572" name="Google Shape;572;p27"/>
          <p:cNvSpPr/>
          <p:nvPr/>
        </p:nvSpPr>
        <p:spPr>
          <a:xfrm>
            <a:off x="4663083" y="2646760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4786313" y="2621756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message_repository.rs</a:t>
            </a:r>
            <a:endParaRPr b="0" i="0" sz="1200" u="none" cap="none" strike="noStrike"/>
          </a:p>
        </p:txBody>
      </p:sp>
      <p:sp>
        <p:nvSpPr>
          <p:cNvPr id="574" name="Google Shape;574;p27"/>
          <p:cNvSpPr/>
          <p:nvPr/>
        </p:nvSpPr>
        <p:spPr>
          <a:xfrm>
            <a:off x="4663083" y="2803922"/>
            <a:ext cx="75010" cy="100013"/>
          </a:xfrm>
          <a:custGeom>
            <a:rect b="b" l="l" r="r" t="t"/>
            <a:pathLst>
              <a:path extrusionOk="0" h="133350" w="100013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4786313" y="2778919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user_repository.rs</a:t>
            </a:r>
            <a:endParaRPr b="0" i="0" sz="1200" u="none" cap="none" strike="noStrike"/>
          </a:p>
        </p:txBody>
      </p:sp>
      <p:sp>
        <p:nvSpPr>
          <p:cNvPr id="576" name="Google Shape;576;p27"/>
          <p:cNvSpPr/>
          <p:nvPr/>
        </p:nvSpPr>
        <p:spPr>
          <a:xfrm>
            <a:off x="285750" y="3214688"/>
            <a:ext cx="6343650" cy="1643063"/>
          </a:xfrm>
          <a:custGeom>
            <a:rect b="b" l="l" r="r" t="t"/>
            <a:pathLst>
              <a:path extrusionOk="0" h="2190750" w="8458200">
                <a:moveTo>
                  <a:pt x="76194" y="0"/>
                </a:moveTo>
                <a:lnTo>
                  <a:pt x="8382006" y="0"/>
                </a:lnTo>
                <a:cubicBezTo>
                  <a:pt x="8424058" y="0"/>
                  <a:pt x="8458200" y="34142"/>
                  <a:pt x="8458200" y="76194"/>
                </a:cubicBezTo>
                <a:lnTo>
                  <a:pt x="8458200" y="2114556"/>
                </a:lnTo>
                <a:cubicBezTo>
                  <a:pt x="8458200" y="2156637"/>
                  <a:pt x="8424087" y="2190750"/>
                  <a:pt x="8382006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400050" y="3536156"/>
            <a:ext cx="61793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Flusso di una Richiesta</a:t>
            </a:r>
            <a:endParaRPr b="0" i="0" sz="1200" u="none" cap="none" strike="noStrike"/>
          </a:p>
        </p:txBody>
      </p:sp>
      <p:sp>
        <p:nvSpPr>
          <p:cNvPr id="578" name="Google Shape;578;p27"/>
          <p:cNvSpPr/>
          <p:nvPr/>
        </p:nvSpPr>
        <p:spPr>
          <a:xfrm>
            <a:off x="400050" y="3793331"/>
            <a:ext cx="1321594" cy="742950"/>
          </a:xfrm>
          <a:custGeom>
            <a:rect b="b" l="l" r="r" t="t"/>
            <a:pathLst>
              <a:path extrusionOk="0" h="990600" w="1762125">
                <a:moveTo>
                  <a:pt x="38098" y="0"/>
                </a:moveTo>
                <a:lnTo>
                  <a:pt x="1724027" y="0"/>
                </a:lnTo>
                <a:cubicBezTo>
                  <a:pt x="1745068" y="0"/>
                  <a:pt x="1762125" y="17057"/>
                  <a:pt x="1762125" y="38098"/>
                </a:cubicBezTo>
                <a:lnTo>
                  <a:pt x="1762125" y="952502"/>
                </a:lnTo>
                <a:cubicBezTo>
                  <a:pt x="1762125" y="973543"/>
                  <a:pt x="1745068" y="990600"/>
                  <a:pt x="172402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918419" y="3850481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1004144" y="3936206"/>
            <a:ext cx="114300" cy="114300"/>
          </a:xfrm>
          <a:custGeom>
            <a:rect b="b" l="l" r="r" t="t"/>
            <a:pathLst>
              <a:path extrusionOk="0" h="152400" w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428625" y="4164806"/>
            <a:ext cx="12644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</a:t>
            </a:r>
            <a:endParaRPr b="0" i="0" sz="1200" u="none" cap="none" strike="noStrike"/>
          </a:p>
        </p:txBody>
      </p:sp>
      <p:sp>
        <p:nvSpPr>
          <p:cNvPr id="582" name="Google Shape;582;p27"/>
          <p:cNvSpPr/>
          <p:nvPr/>
        </p:nvSpPr>
        <p:spPr>
          <a:xfrm>
            <a:off x="432197" y="4336256"/>
            <a:ext cx="1257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HTTP/WebSocket</a:t>
            </a:r>
            <a:endParaRPr b="0" i="0" sz="1200" u="none" cap="none" strike="noStrike"/>
          </a:p>
        </p:txBody>
      </p:sp>
      <p:sp>
        <p:nvSpPr>
          <p:cNvPr id="583" name="Google Shape;583;p27"/>
          <p:cNvSpPr/>
          <p:nvPr/>
        </p:nvSpPr>
        <p:spPr>
          <a:xfrm>
            <a:off x="1797546" y="4100513"/>
            <a:ext cx="128588" cy="128588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1997571" y="3793331"/>
            <a:ext cx="1321594" cy="742950"/>
          </a:xfrm>
          <a:custGeom>
            <a:rect b="b" l="l" r="r" t="t"/>
            <a:pathLst>
              <a:path extrusionOk="0" h="990600" w="1762125">
                <a:moveTo>
                  <a:pt x="38098" y="0"/>
                </a:moveTo>
                <a:lnTo>
                  <a:pt x="1724027" y="0"/>
                </a:lnTo>
                <a:cubicBezTo>
                  <a:pt x="1745068" y="0"/>
                  <a:pt x="1762125" y="17057"/>
                  <a:pt x="1762125" y="38098"/>
                </a:cubicBezTo>
                <a:lnTo>
                  <a:pt x="1762125" y="952502"/>
                </a:lnTo>
                <a:cubicBezTo>
                  <a:pt x="1762125" y="973543"/>
                  <a:pt x="1745068" y="990600"/>
                  <a:pt x="172402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2515940" y="3850481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2608808" y="3936206"/>
            <a:ext cx="100013" cy="1143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2026146" y="4164806"/>
            <a:ext cx="12644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Controller</a:t>
            </a:r>
            <a:endParaRPr b="0" i="0" sz="1200" u="none" cap="none" strike="noStrike"/>
          </a:p>
        </p:txBody>
      </p:sp>
      <p:sp>
        <p:nvSpPr>
          <p:cNvPr id="588" name="Google Shape;588;p27"/>
          <p:cNvSpPr/>
          <p:nvPr/>
        </p:nvSpPr>
        <p:spPr>
          <a:xfrm>
            <a:off x="2029718" y="4336256"/>
            <a:ext cx="1257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Validazione</a:t>
            </a:r>
            <a:endParaRPr b="0" i="0" sz="1200" u="none" cap="none" strike="noStrike"/>
          </a:p>
        </p:txBody>
      </p:sp>
      <p:sp>
        <p:nvSpPr>
          <p:cNvPr id="589" name="Google Shape;589;p27"/>
          <p:cNvSpPr/>
          <p:nvPr/>
        </p:nvSpPr>
        <p:spPr>
          <a:xfrm>
            <a:off x="3395067" y="4100513"/>
            <a:ext cx="128588" cy="128588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3595092" y="3793331"/>
            <a:ext cx="1321594" cy="742950"/>
          </a:xfrm>
          <a:custGeom>
            <a:rect b="b" l="l" r="r" t="t"/>
            <a:pathLst>
              <a:path extrusionOk="0" h="990600" w="1762125">
                <a:moveTo>
                  <a:pt x="38098" y="0"/>
                </a:moveTo>
                <a:lnTo>
                  <a:pt x="1724027" y="0"/>
                </a:lnTo>
                <a:cubicBezTo>
                  <a:pt x="1745068" y="0"/>
                  <a:pt x="1762125" y="17057"/>
                  <a:pt x="1762125" y="38098"/>
                </a:cubicBezTo>
                <a:lnTo>
                  <a:pt x="1762125" y="952502"/>
                </a:lnTo>
                <a:cubicBezTo>
                  <a:pt x="1762125" y="973543"/>
                  <a:pt x="1745068" y="990600"/>
                  <a:pt x="172402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4113461" y="3850481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4184898" y="3936206"/>
            <a:ext cx="142875" cy="114300"/>
          </a:xfrm>
          <a:custGeom>
            <a:rect b="b" l="l" r="r" t="t"/>
            <a:pathLst>
              <a:path extrusionOk="0" h="152400" w="1905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3623667" y="4164806"/>
            <a:ext cx="12644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</a:t>
            </a:r>
            <a:endParaRPr b="0" i="0" sz="1200" u="none" cap="none" strike="noStrike"/>
          </a:p>
        </p:txBody>
      </p:sp>
      <p:sp>
        <p:nvSpPr>
          <p:cNvPr id="594" name="Google Shape;594;p27"/>
          <p:cNvSpPr/>
          <p:nvPr/>
        </p:nvSpPr>
        <p:spPr>
          <a:xfrm>
            <a:off x="3627239" y="4336256"/>
            <a:ext cx="1257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Logic</a:t>
            </a:r>
            <a:endParaRPr b="0" i="0" sz="1200" u="none" cap="none" strike="noStrike"/>
          </a:p>
        </p:txBody>
      </p:sp>
      <p:sp>
        <p:nvSpPr>
          <p:cNvPr id="595" name="Google Shape;595;p27"/>
          <p:cNvSpPr/>
          <p:nvPr/>
        </p:nvSpPr>
        <p:spPr>
          <a:xfrm>
            <a:off x="4992588" y="4100513"/>
            <a:ext cx="128588" cy="128588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5192613" y="3793331"/>
            <a:ext cx="1321594" cy="742950"/>
          </a:xfrm>
          <a:custGeom>
            <a:rect b="b" l="l" r="r" t="t"/>
            <a:pathLst>
              <a:path extrusionOk="0" h="990600" w="1762125">
                <a:moveTo>
                  <a:pt x="38098" y="0"/>
                </a:moveTo>
                <a:lnTo>
                  <a:pt x="1724027" y="0"/>
                </a:lnTo>
                <a:cubicBezTo>
                  <a:pt x="1745068" y="0"/>
                  <a:pt x="1762125" y="17057"/>
                  <a:pt x="1762125" y="38098"/>
                </a:cubicBezTo>
                <a:lnTo>
                  <a:pt x="1762125" y="952502"/>
                </a:lnTo>
                <a:cubicBezTo>
                  <a:pt x="1762125" y="973543"/>
                  <a:pt x="1745068" y="990600"/>
                  <a:pt x="172402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5710982" y="3850481"/>
            <a:ext cx="285750" cy="28575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5803850" y="3936206"/>
            <a:ext cx="100013" cy="1143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5221188" y="4164806"/>
            <a:ext cx="12644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Repository</a:t>
            </a:r>
            <a:endParaRPr b="0" i="0" sz="1200" u="none" cap="none" strike="noStrike"/>
          </a:p>
        </p:txBody>
      </p:sp>
      <p:sp>
        <p:nvSpPr>
          <p:cNvPr id="600" name="Google Shape;600;p27"/>
          <p:cNvSpPr/>
          <p:nvPr/>
        </p:nvSpPr>
        <p:spPr>
          <a:xfrm>
            <a:off x="5224760" y="4336256"/>
            <a:ext cx="1257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SQL</a:t>
            </a:r>
            <a:endParaRPr b="0" i="0" sz="1200" u="none" cap="none" strike="noStrike"/>
          </a:p>
        </p:txBody>
      </p:sp>
      <p:sp>
        <p:nvSpPr>
          <p:cNvPr id="601" name="Google Shape;601;p27"/>
          <p:cNvSpPr/>
          <p:nvPr/>
        </p:nvSpPr>
        <p:spPr>
          <a:xfrm>
            <a:off x="6747272" y="832247"/>
            <a:ext cx="2107406" cy="1721644"/>
          </a:xfrm>
          <a:custGeom>
            <a:rect b="b" l="l" r="r" t="t"/>
            <a:pathLst>
              <a:path extrusionOk="0" h="2295525" w="2809875">
                <a:moveTo>
                  <a:pt x="76211" y="0"/>
                </a:moveTo>
                <a:lnTo>
                  <a:pt x="2733664" y="0"/>
                </a:lnTo>
                <a:cubicBezTo>
                  <a:pt x="2775754" y="0"/>
                  <a:pt x="2809875" y="34121"/>
                  <a:pt x="2809875" y="76211"/>
                </a:cubicBezTo>
                <a:lnTo>
                  <a:pt x="2809875" y="2219314"/>
                </a:lnTo>
                <a:cubicBezTo>
                  <a:pt x="2809875" y="2261404"/>
                  <a:pt x="2775754" y="2295525"/>
                  <a:pt x="27336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6865144" y="950119"/>
            <a:ext cx="19359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Vantaggi</a:t>
            </a:r>
            <a:endParaRPr b="0" i="0" sz="1200" u="none" cap="none" strike="noStrike"/>
          </a:p>
        </p:txBody>
      </p:sp>
      <p:sp>
        <p:nvSpPr>
          <p:cNvPr id="603" name="Google Shape;603;p27"/>
          <p:cNvSpPr/>
          <p:nvPr/>
        </p:nvSpPr>
        <p:spPr>
          <a:xfrm>
            <a:off x="6879431" y="1378023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7065169" y="1252094"/>
            <a:ext cx="172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Testabilità: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Ogni livello è testabile</a:t>
            </a:r>
            <a:endParaRPr b="0" i="0" sz="1200" u="none" cap="none" strike="noStrike"/>
          </a:p>
        </p:txBody>
      </p:sp>
      <p:sp>
        <p:nvSpPr>
          <p:cNvPr id="605" name="Google Shape;605;p27"/>
          <p:cNvSpPr/>
          <p:nvPr/>
        </p:nvSpPr>
        <p:spPr>
          <a:xfrm>
            <a:off x="6879431" y="1713170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065169" y="1587242"/>
            <a:ext cx="172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Manutenibilità: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Modifiche isolate</a:t>
            </a:r>
            <a:endParaRPr b="0" i="0" sz="1200" u="none" cap="none" strike="noStrike"/>
          </a:p>
        </p:txBody>
      </p:sp>
      <p:sp>
        <p:nvSpPr>
          <p:cNvPr id="607" name="Google Shape;607;p27"/>
          <p:cNvSpPr/>
          <p:nvPr/>
        </p:nvSpPr>
        <p:spPr>
          <a:xfrm>
            <a:off x="6879431" y="2015867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7065169" y="1987292"/>
            <a:ext cx="1514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Riusabilità: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Servizi condivisi</a:t>
            </a:r>
            <a:endParaRPr b="0" i="0" sz="1200" u="none" cap="none" strike="noStrike"/>
          </a:p>
        </p:txBody>
      </p:sp>
      <p:sp>
        <p:nvSpPr>
          <p:cNvPr id="609" name="Google Shape;609;p27"/>
          <p:cNvSpPr/>
          <p:nvPr/>
        </p:nvSpPr>
        <p:spPr>
          <a:xfrm>
            <a:off x="6879431" y="2293144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7065169" y="2264569"/>
            <a:ext cx="1535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Scalabilità: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Facile estendere</a:t>
            </a:r>
            <a:endParaRPr b="0" i="0" sz="1200" u="none" cap="none" strike="noStrike"/>
          </a:p>
        </p:txBody>
      </p:sp>
      <p:sp>
        <p:nvSpPr>
          <p:cNvPr id="611" name="Google Shape;611;p27"/>
          <p:cNvSpPr/>
          <p:nvPr/>
        </p:nvSpPr>
        <p:spPr>
          <a:xfrm>
            <a:off x="6743700" y="2643201"/>
            <a:ext cx="2114550" cy="2213229"/>
          </a:xfrm>
          <a:custGeom>
            <a:rect b="b" l="l" r="r" t="t"/>
            <a:pathLst>
              <a:path extrusionOk="0" h="2819400" w="2819400">
                <a:moveTo>
                  <a:pt x="76208" y="0"/>
                </a:moveTo>
                <a:lnTo>
                  <a:pt x="2743192" y="0"/>
                </a:lnTo>
                <a:cubicBezTo>
                  <a:pt x="2785280" y="0"/>
                  <a:pt x="2819400" y="34120"/>
                  <a:pt x="2819400" y="76208"/>
                </a:cubicBezTo>
                <a:lnTo>
                  <a:pt x="2819400" y="2743192"/>
                </a:lnTo>
                <a:cubicBezTo>
                  <a:pt x="2819400" y="2785280"/>
                  <a:pt x="2785280" y="2819400"/>
                  <a:pt x="274319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6858000" y="2757488"/>
            <a:ext cx="19502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File Core</a:t>
            </a:r>
            <a:endParaRPr b="0" i="0" sz="1200" u="none" cap="none" strike="noStrike"/>
          </a:p>
        </p:txBody>
      </p:sp>
      <p:sp>
        <p:nvSpPr>
          <p:cNvPr id="613" name="Google Shape;613;p27"/>
          <p:cNvSpPr/>
          <p:nvPr/>
        </p:nvSpPr>
        <p:spPr>
          <a:xfrm>
            <a:off x="6858000" y="3043238"/>
            <a:ext cx="1885950" cy="285750"/>
          </a:xfrm>
          <a:custGeom>
            <a:rect b="b" l="l" r="r" t="t"/>
            <a:pathLst>
              <a:path extrusionOk="0" h="381000" w="2514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42900"/>
                </a:lnTo>
                <a:cubicBezTo>
                  <a:pt x="2514600" y="363928"/>
                  <a:pt x="2497528" y="381000"/>
                  <a:pt x="24765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6943725" y="3128963"/>
            <a:ext cx="85725" cy="114300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7115175" y="3100388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main.rs</a:t>
            </a:r>
            <a:endParaRPr b="0" i="0" sz="1200" u="none" cap="none" strike="noStrike"/>
          </a:p>
        </p:txBody>
      </p:sp>
      <p:sp>
        <p:nvSpPr>
          <p:cNvPr id="616" name="Google Shape;616;p27"/>
          <p:cNvSpPr/>
          <p:nvPr/>
        </p:nvSpPr>
        <p:spPr>
          <a:xfrm>
            <a:off x="6858000" y="3371850"/>
            <a:ext cx="1885950" cy="285750"/>
          </a:xfrm>
          <a:custGeom>
            <a:rect b="b" l="l" r="r" t="t"/>
            <a:pathLst>
              <a:path extrusionOk="0" h="381000" w="2514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42900"/>
                </a:lnTo>
                <a:cubicBezTo>
                  <a:pt x="2514600" y="363928"/>
                  <a:pt x="2497528" y="381000"/>
                  <a:pt x="24765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6943725" y="3457575"/>
            <a:ext cx="85725" cy="114300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115175" y="3429000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router.rs</a:t>
            </a:r>
            <a:endParaRPr b="0" i="0" sz="1200" u="none" cap="none" strike="noStrike"/>
          </a:p>
        </p:txBody>
      </p:sp>
      <p:sp>
        <p:nvSpPr>
          <p:cNvPr id="619" name="Google Shape;619;p27"/>
          <p:cNvSpPr/>
          <p:nvPr/>
        </p:nvSpPr>
        <p:spPr>
          <a:xfrm>
            <a:off x="6858000" y="3700463"/>
            <a:ext cx="1885950" cy="285750"/>
          </a:xfrm>
          <a:custGeom>
            <a:rect b="b" l="l" r="r" t="t"/>
            <a:pathLst>
              <a:path extrusionOk="0" h="381000" w="2514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42900"/>
                </a:lnTo>
                <a:cubicBezTo>
                  <a:pt x="2514600" y="363928"/>
                  <a:pt x="2497528" y="381000"/>
                  <a:pt x="24765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6943725" y="3786188"/>
            <a:ext cx="85725" cy="114300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7115175" y="3757613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state.rs</a:t>
            </a:r>
            <a:endParaRPr b="0" i="0" sz="1200" u="none" cap="none" strike="noStrike"/>
          </a:p>
        </p:txBody>
      </p:sp>
      <p:sp>
        <p:nvSpPr>
          <p:cNvPr id="622" name="Google Shape;622;p27"/>
          <p:cNvSpPr/>
          <p:nvPr/>
        </p:nvSpPr>
        <p:spPr>
          <a:xfrm>
            <a:off x="6858000" y="4029075"/>
            <a:ext cx="1885950" cy="285750"/>
          </a:xfrm>
          <a:custGeom>
            <a:rect b="b" l="l" r="r" t="t"/>
            <a:pathLst>
              <a:path extrusionOk="0" h="381000" w="2514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42900"/>
                </a:lnTo>
                <a:cubicBezTo>
                  <a:pt x="2514600" y="363928"/>
                  <a:pt x="2497528" y="381000"/>
                  <a:pt x="24765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6943725" y="4114800"/>
            <a:ext cx="85725" cy="114300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7115175" y="4086225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error.rs</a:t>
            </a:r>
            <a:endParaRPr b="0" i="0" sz="1200" u="none" cap="none" strike="noStrike"/>
          </a:p>
        </p:txBody>
      </p:sp>
      <p:sp>
        <p:nvSpPr>
          <p:cNvPr id="625" name="Google Shape;625;p27"/>
          <p:cNvSpPr/>
          <p:nvPr/>
        </p:nvSpPr>
        <p:spPr>
          <a:xfrm>
            <a:off x="6858000" y="4357688"/>
            <a:ext cx="1885950" cy="285750"/>
          </a:xfrm>
          <a:custGeom>
            <a:rect b="b" l="l" r="r" t="t"/>
            <a:pathLst>
              <a:path extrusionOk="0" h="381000" w="2514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42900"/>
                </a:lnTo>
                <a:cubicBezTo>
                  <a:pt x="2514600" y="363928"/>
                  <a:pt x="2497528" y="381000"/>
                  <a:pt x="24765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6943725" y="4443413"/>
            <a:ext cx="85725" cy="114300"/>
          </a:xfrm>
          <a:custGeom>
            <a:rect b="b" l="l" r="r" t="t"/>
            <a:pathLst>
              <a:path extrusionOk="0"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115175" y="4414838"/>
            <a:ext cx="7500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cpu_logger.rs</a:t>
            </a:r>
            <a:endParaRPr b="0" i="0" sz="1200" u="none" cap="none" strike="noStrike"/>
          </a:p>
        </p:txBody>
      </p:sp>
      <p:sp>
        <p:nvSpPr>
          <p:cNvPr id="628" name="Google Shape;62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8"/>
          <p:cNvSpPr/>
          <p:nvPr/>
        </p:nvSpPr>
        <p:spPr>
          <a:xfrm>
            <a:off x="285750" y="285750"/>
            <a:ext cx="8629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Authentication Flow</a:t>
            </a:r>
            <a:endParaRPr b="0" i="0" sz="1200" u="none" cap="none" strike="noStrike"/>
          </a:p>
        </p:txBody>
      </p:sp>
      <p:sp>
        <p:nvSpPr>
          <p:cNvPr id="635" name="Google Shape;635;p28"/>
          <p:cNvSpPr/>
          <p:nvPr/>
        </p:nvSpPr>
        <p:spPr>
          <a:xfrm>
            <a:off x="285750" y="485775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Flusso di Autenticazione</a:t>
            </a:r>
            <a:endParaRPr b="0" i="0" sz="1200" u="none" cap="none" strike="noStrike"/>
          </a:p>
        </p:txBody>
      </p:sp>
      <p:pic>
        <p:nvPicPr>
          <p:cNvPr id="636" name="Google Shape;636;p28" title="Gemini_Generated_Image_fahy3hfahy3hfah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63" y="800100"/>
            <a:ext cx="7773676" cy="423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9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Authentication Flow</a:t>
            </a:r>
            <a:endParaRPr b="0" i="0" sz="1200" u="none" cap="none" strike="noStrike"/>
          </a:p>
        </p:txBody>
      </p:sp>
      <p:sp>
        <p:nvSpPr>
          <p:cNvPr id="644" name="Google Shape;644;p29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Flusso di Autenticazione</a:t>
            </a:r>
            <a:endParaRPr b="0" i="0" sz="1200" u="none" cap="none" strike="noStrike"/>
          </a:p>
        </p:txBody>
      </p:sp>
      <p:sp>
        <p:nvSpPr>
          <p:cNvPr id="645" name="Google Shape;645;p29"/>
          <p:cNvSpPr/>
          <p:nvPr/>
        </p:nvSpPr>
        <p:spPr>
          <a:xfrm>
            <a:off x="300038" y="828675"/>
            <a:ext cx="5622131" cy="585788"/>
          </a:xfrm>
          <a:custGeom>
            <a:rect b="b" l="l" r="r" t="t"/>
            <a:pathLst>
              <a:path extrusionOk="0" h="781050" w="7496175">
                <a:moveTo>
                  <a:pt x="38100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704851"/>
                </a:lnTo>
                <a:cubicBezTo>
                  <a:pt x="7496175" y="746934"/>
                  <a:pt x="7462059" y="781050"/>
                  <a:pt x="7419976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9"/>
          <p:cNvSpPr/>
          <p:nvPr/>
        </p:nvSpPr>
        <p:spPr>
          <a:xfrm>
            <a:off x="300038" y="828675"/>
            <a:ext cx="28575" cy="585788"/>
          </a:xfrm>
          <a:custGeom>
            <a:rect b="b" l="l" r="r" t="t"/>
            <a:pathLst>
              <a:path extrusionOk="0" h="781050" w="3810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9"/>
          <p:cNvSpPr/>
          <p:nvPr/>
        </p:nvSpPr>
        <p:spPr>
          <a:xfrm>
            <a:off x="400050" y="914400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9"/>
          <p:cNvSpPr/>
          <p:nvPr/>
        </p:nvSpPr>
        <p:spPr>
          <a:xfrm>
            <a:off x="371475" y="9144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/>
          </a:p>
        </p:txBody>
      </p:sp>
      <p:sp>
        <p:nvSpPr>
          <p:cNvPr id="649" name="Google Shape;649;p29"/>
          <p:cNvSpPr/>
          <p:nvPr/>
        </p:nvSpPr>
        <p:spPr>
          <a:xfrm>
            <a:off x="714375" y="928688"/>
            <a:ext cx="10072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Richiesta HTTP</a:t>
            </a:r>
            <a:endParaRPr b="0" i="0" sz="1200" u="none" cap="none" strike="noStrike"/>
          </a:p>
        </p:txBody>
      </p:sp>
      <p:sp>
        <p:nvSpPr>
          <p:cNvPr id="650" name="Google Shape;650;p29"/>
          <p:cNvSpPr/>
          <p:nvPr/>
        </p:nvSpPr>
        <p:spPr>
          <a:xfrm>
            <a:off x="400050" y="1171575"/>
            <a:ext cx="549354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frontend invia POST a </a:t>
            </a:r>
            <a:r>
              <a:rPr b="0" i="0" lang="it" sz="800" u="none" cap="none" strike="noStrike">
                <a:solidFill>
                  <a:srgbClr val="D97706"/>
                </a:solidFill>
                <a:highlight>
                  <a:srgbClr val="1A1D21"/>
                </a:highlight>
                <a:latin typeface="Arial"/>
                <a:ea typeface="Arial"/>
                <a:cs typeface="Arial"/>
                <a:sym typeface="Arial"/>
              </a:rPr>
              <a:t>/login 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 JSON contenente username e password.</a:t>
            </a:r>
            <a:endParaRPr b="0" i="0" sz="1200" u="none" cap="none" strike="noStrike"/>
          </a:p>
        </p:txBody>
      </p:sp>
      <p:sp>
        <p:nvSpPr>
          <p:cNvPr id="651" name="Google Shape;651;p29"/>
          <p:cNvSpPr/>
          <p:nvPr/>
        </p:nvSpPr>
        <p:spPr>
          <a:xfrm>
            <a:off x="300038" y="1471613"/>
            <a:ext cx="5622131" cy="585788"/>
          </a:xfrm>
          <a:custGeom>
            <a:rect b="b" l="l" r="r" t="t"/>
            <a:pathLst>
              <a:path extrusionOk="0" h="781050" w="7496175">
                <a:moveTo>
                  <a:pt x="38100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704851"/>
                </a:lnTo>
                <a:cubicBezTo>
                  <a:pt x="7496175" y="746934"/>
                  <a:pt x="7462059" y="781050"/>
                  <a:pt x="7419976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9"/>
          <p:cNvSpPr/>
          <p:nvPr/>
        </p:nvSpPr>
        <p:spPr>
          <a:xfrm>
            <a:off x="300038" y="1471613"/>
            <a:ext cx="28575" cy="585788"/>
          </a:xfrm>
          <a:custGeom>
            <a:rect b="b" l="l" r="r" t="t"/>
            <a:pathLst>
              <a:path extrusionOk="0" h="781050" w="3810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400050" y="1557338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9"/>
          <p:cNvSpPr/>
          <p:nvPr/>
        </p:nvSpPr>
        <p:spPr>
          <a:xfrm>
            <a:off x="371475" y="1557338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/>
          </a:p>
        </p:txBody>
      </p:sp>
      <p:sp>
        <p:nvSpPr>
          <p:cNvPr id="655" name="Google Shape;655;p29"/>
          <p:cNvSpPr/>
          <p:nvPr/>
        </p:nvSpPr>
        <p:spPr>
          <a:xfrm>
            <a:off x="714375" y="1571625"/>
            <a:ext cx="13787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Validazione e Ricerca</a:t>
            </a:r>
            <a:endParaRPr b="0" i="0" sz="1200" u="none" cap="none" strike="noStrike"/>
          </a:p>
        </p:txBody>
      </p:sp>
      <p:sp>
        <p:nvSpPr>
          <p:cNvPr id="656" name="Google Shape;656;p29"/>
          <p:cNvSpPr/>
          <p:nvPr/>
        </p:nvSpPr>
        <p:spPr>
          <a:xfrm>
            <a:off x="400050" y="1814513"/>
            <a:ext cx="549354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service valida input e cerca l'utente nel database tramite repository.</a:t>
            </a:r>
            <a:endParaRPr b="0" i="0" sz="1200" u="none" cap="none" strike="noStrike"/>
          </a:p>
        </p:txBody>
      </p:sp>
      <p:sp>
        <p:nvSpPr>
          <p:cNvPr id="657" name="Google Shape;657;p29"/>
          <p:cNvSpPr/>
          <p:nvPr/>
        </p:nvSpPr>
        <p:spPr>
          <a:xfrm>
            <a:off x="300038" y="2114550"/>
            <a:ext cx="5622131" cy="585788"/>
          </a:xfrm>
          <a:custGeom>
            <a:rect b="b" l="l" r="r" t="t"/>
            <a:pathLst>
              <a:path extrusionOk="0" h="781050" w="7496175">
                <a:moveTo>
                  <a:pt x="38100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704851"/>
                </a:lnTo>
                <a:cubicBezTo>
                  <a:pt x="7496175" y="746934"/>
                  <a:pt x="7462059" y="781050"/>
                  <a:pt x="7419976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9"/>
          <p:cNvSpPr/>
          <p:nvPr/>
        </p:nvSpPr>
        <p:spPr>
          <a:xfrm>
            <a:off x="300038" y="2114550"/>
            <a:ext cx="28575" cy="585788"/>
          </a:xfrm>
          <a:custGeom>
            <a:rect b="b" l="l" r="r" t="t"/>
            <a:pathLst>
              <a:path extrusionOk="0" h="781050" w="3810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9"/>
          <p:cNvSpPr/>
          <p:nvPr/>
        </p:nvSpPr>
        <p:spPr>
          <a:xfrm>
            <a:off x="400050" y="2200275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371475" y="220027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/>
          </a:p>
        </p:txBody>
      </p:sp>
      <p:sp>
        <p:nvSpPr>
          <p:cNvPr id="661" name="Google Shape;661;p29"/>
          <p:cNvSpPr/>
          <p:nvPr/>
        </p:nvSpPr>
        <p:spPr>
          <a:xfrm>
            <a:off x="714375" y="2214563"/>
            <a:ext cx="1171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Verifica Password</a:t>
            </a:r>
            <a:endParaRPr b="0" i="0" sz="1200" u="none" cap="none" strike="noStrike"/>
          </a:p>
        </p:txBody>
      </p:sp>
      <p:sp>
        <p:nvSpPr>
          <p:cNvPr id="662" name="Google Shape;662;p29"/>
          <p:cNvSpPr/>
          <p:nvPr/>
        </p:nvSpPr>
        <p:spPr>
          <a:xfrm>
            <a:off x="400050" y="2457450"/>
            <a:ext cx="549354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Confronto con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Argon2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la password in chiaro viene processata e confrontata con l'hash salvato.</a:t>
            </a:r>
            <a:endParaRPr b="0" i="0" sz="1200" u="none" cap="none" strike="noStrike"/>
          </a:p>
        </p:txBody>
      </p:sp>
      <p:sp>
        <p:nvSpPr>
          <p:cNvPr id="663" name="Google Shape;663;p29"/>
          <p:cNvSpPr/>
          <p:nvPr/>
        </p:nvSpPr>
        <p:spPr>
          <a:xfrm>
            <a:off x="300038" y="2757488"/>
            <a:ext cx="5622131" cy="585788"/>
          </a:xfrm>
          <a:custGeom>
            <a:rect b="b" l="l" r="r" t="t"/>
            <a:pathLst>
              <a:path extrusionOk="0" h="781050" w="7496175">
                <a:moveTo>
                  <a:pt x="38100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704851"/>
                </a:lnTo>
                <a:cubicBezTo>
                  <a:pt x="7496175" y="746934"/>
                  <a:pt x="7462059" y="781050"/>
                  <a:pt x="7419976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300038" y="2757488"/>
            <a:ext cx="28575" cy="585788"/>
          </a:xfrm>
          <a:custGeom>
            <a:rect b="b" l="l" r="r" t="t"/>
            <a:pathLst>
              <a:path extrusionOk="0" h="781050" w="3810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9"/>
          <p:cNvSpPr/>
          <p:nvPr/>
        </p:nvSpPr>
        <p:spPr>
          <a:xfrm>
            <a:off x="400050" y="2843213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371475" y="2843213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/>
          </a:p>
        </p:txBody>
      </p:sp>
      <p:sp>
        <p:nvSpPr>
          <p:cNvPr id="667" name="Google Shape;667;p29"/>
          <p:cNvSpPr/>
          <p:nvPr/>
        </p:nvSpPr>
        <p:spPr>
          <a:xfrm>
            <a:off x="714375" y="2857500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Generazione JWT</a:t>
            </a:r>
            <a:endParaRPr b="0" i="0" sz="1200" u="none" cap="none" strike="noStrike"/>
          </a:p>
        </p:txBody>
      </p:sp>
      <p:sp>
        <p:nvSpPr>
          <p:cNvPr id="668" name="Google Shape;668;p29"/>
          <p:cNvSpPr/>
          <p:nvPr/>
        </p:nvSpPr>
        <p:spPr>
          <a:xfrm>
            <a:off x="400050" y="3100388"/>
            <a:ext cx="549354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Creazione token con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claims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(username, user_id, exp 24h) firmato con chiave segreta.</a:t>
            </a:r>
            <a:endParaRPr b="0" i="0" sz="1200" u="none" cap="none" strike="noStrike"/>
          </a:p>
        </p:txBody>
      </p:sp>
      <p:sp>
        <p:nvSpPr>
          <p:cNvPr id="669" name="Google Shape;669;p29"/>
          <p:cNvSpPr/>
          <p:nvPr/>
        </p:nvSpPr>
        <p:spPr>
          <a:xfrm>
            <a:off x="300038" y="3400425"/>
            <a:ext cx="5622131" cy="585788"/>
          </a:xfrm>
          <a:custGeom>
            <a:rect b="b" l="l" r="r" t="t"/>
            <a:pathLst>
              <a:path extrusionOk="0" h="781050" w="7496175">
                <a:moveTo>
                  <a:pt x="38100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704851"/>
                </a:lnTo>
                <a:cubicBezTo>
                  <a:pt x="7496175" y="746934"/>
                  <a:pt x="7462059" y="781050"/>
                  <a:pt x="7419976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9"/>
          <p:cNvSpPr/>
          <p:nvPr/>
        </p:nvSpPr>
        <p:spPr>
          <a:xfrm>
            <a:off x="300038" y="3400425"/>
            <a:ext cx="28575" cy="585788"/>
          </a:xfrm>
          <a:custGeom>
            <a:rect b="b" l="l" r="r" t="t"/>
            <a:pathLst>
              <a:path extrusionOk="0" h="781050" w="3810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9"/>
          <p:cNvSpPr/>
          <p:nvPr/>
        </p:nvSpPr>
        <p:spPr>
          <a:xfrm>
            <a:off x="400050" y="3486150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371475" y="348615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/>
          </a:p>
        </p:txBody>
      </p:sp>
      <p:sp>
        <p:nvSpPr>
          <p:cNvPr id="673" name="Google Shape;673;p29"/>
          <p:cNvSpPr/>
          <p:nvPr/>
        </p:nvSpPr>
        <p:spPr>
          <a:xfrm>
            <a:off x="714375" y="3500438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Risposta al Client</a:t>
            </a:r>
            <a:endParaRPr b="0" i="0" sz="1200" u="none" cap="none" strike="noStrike"/>
          </a:p>
        </p:txBody>
      </p:sp>
      <p:sp>
        <p:nvSpPr>
          <p:cNvPr id="674" name="Google Shape;674;p29"/>
          <p:cNvSpPr/>
          <p:nvPr/>
        </p:nvSpPr>
        <p:spPr>
          <a:xfrm>
            <a:off x="400050" y="3743325"/>
            <a:ext cx="5493544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200 OK con token nel campo message della risposta JSON.</a:t>
            </a:r>
            <a:endParaRPr b="0" i="0" sz="1200" u="none" cap="none" strike="noStrike"/>
          </a:p>
        </p:txBody>
      </p:sp>
      <p:sp>
        <p:nvSpPr>
          <p:cNvPr id="675" name="Google Shape;675;p29"/>
          <p:cNvSpPr/>
          <p:nvPr/>
        </p:nvSpPr>
        <p:spPr>
          <a:xfrm>
            <a:off x="6042440" y="832247"/>
            <a:ext cx="2814638" cy="1578769"/>
          </a:xfrm>
          <a:custGeom>
            <a:rect b="b" l="l" r="r" t="t"/>
            <a:pathLst>
              <a:path extrusionOk="0" h="2105025" w="3752850">
                <a:moveTo>
                  <a:pt x="76202" y="0"/>
                </a:moveTo>
                <a:lnTo>
                  <a:pt x="3676648" y="0"/>
                </a:lnTo>
                <a:cubicBezTo>
                  <a:pt x="3718733" y="0"/>
                  <a:pt x="3752850" y="34117"/>
                  <a:pt x="3752850" y="76202"/>
                </a:cubicBezTo>
                <a:lnTo>
                  <a:pt x="3752850" y="2028823"/>
                </a:lnTo>
                <a:cubicBezTo>
                  <a:pt x="3752850" y="2070908"/>
                  <a:pt x="3718733" y="2105025"/>
                  <a:pt x="3676648" y="2105025"/>
                </a:cubicBezTo>
                <a:lnTo>
                  <a:pt x="76202" y="2105025"/>
                </a:lnTo>
                <a:cubicBezTo>
                  <a:pt x="34117" y="2105025"/>
                  <a:pt x="0" y="2070908"/>
                  <a:pt x="0" y="2028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>
            <a:off x="6160313" y="950119"/>
            <a:ext cx="26431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Sicurezza</a:t>
            </a:r>
            <a:endParaRPr b="0" i="0" sz="1200" u="none" cap="none" strike="noStrike"/>
          </a:p>
        </p:txBody>
      </p:sp>
      <p:sp>
        <p:nvSpPr>
          <p:cNvPr id="677" name="Google Shape;677;p29"/>
          <p:cNvSpPr/>
          <p:nvPr/>
        </p:nvSpPr>
        <p:spPr>
          <a:xfrm>
            <a:off x="6174600" y="1264444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9"/>
          <p:cNvSpPr/>
          <p:nvPr/>
        </p:nvSpPr>
        <p:spPr>
          <a:xfrm>
            <a:off x="6360338" y="1235869"/>
            <a:ext cx="11001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Argon2 Hashing</a:t>
            </a:r>
            <a:endParaRPr b="0" i="0" sz="1200" u="none" cap="none" strike="noStrike"/>
          </a:p>
        </p:txBody>
      </p:sp>
      <p:sp>
        <p:nvSpPr>
          <p:cNvPr id="679" name="Google Shape;679;p29"/>
          <p:cNvSpPr/>
          <p:nvPr/>
        </p:nvSpPr>
        <p:spPr>
          <a:xfrm>
            <a:off x="6360338" y="1407319"/>
            <a:ext cx="109299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 memory-hard</a:t>
            </a:r>
            <a:endParaRPr b="0" i="0" sz="1200" u="none" cap="none" strike="noStrike"/>
          </a:p>
        </p:txBody>
      </p:sp>
      <p:sp>
        <p:nvSpPr>
          <p:cNvPr id="680" name="Google Shape;680;p29"/>
          <p:cNvSpPr/>
          <p:nvPr/>
        </p:nvSpPr>
        <p:spPr>
          <a:xfrm>
            <a:off x="6174600" y="1635919"/>
            <a:ext cx="114300" cy="114300"/>
          </a:xfrm>
          <a:custGeom>
            <a:rect b="b" l="l" r="r" t="t"/>
            <a:pathLst>
              <a:path extrusionOk="0" h="152400" w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9"/>
          <p:cNvSpPr/>
          <p:nvPr/>
        </p:nvSpPr>
        <p:spPr>
          <a:xfrm>
            <a:off x="6360338" y="1607344"/>
            <a:ext cx="8143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JWT Tokens</a:t>
            </a:r>
            <a:endParaRPr b="0" i="0" sz="1200" u="none" cap="none" strike="noStrike"/>
          </a:p>
        </p:txBody>
      </p:sp>
      <p:sp>
        <p:nvSpPr>
          <p:cNvPr id="682" name="Google Shape;682;p29"/>
          <p:cNvSpPr/>
          <p:nvPr/>
        </p:nvSpPr>
        <p:spPr>
          <a:xfrm>
            <a:off x="6360338" y="1778794"/>
            <a:ext cx="8072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Scadenza 24 ore</a:t>
            </a:r>
            <a:endParaRPr b="0" i="0" sz="1200" u="none" cap="none" strike="noStrike"/>
          </a:p>
        </p:txBody>
      </p:sp>
      <p:sp>
        <p:nvSpPr>
          <p:cNvPr id="683" name="Google Shape;683;p29"/>
          <p:cNvSpPr/>
          <p:nvPr/>
        </p:nvSpPr>
        <p:spPr>
          <a:xfrm>
            <a:off x="6181744" y="2007394"/>
            <a:ext cx="100013" cy="114300"/>
          </a:xfrm>
          <a:custGeom>
            <a:rect b="b" l="l" r="r" t="t"/>
            <a:pathLst>
              <a:path extrusionOk="0" h="152400" w="133350">
                <a:moveTo>
                  <a:pt x="50899" y="-4762"/>
                </a:moveTo>
                <a:cubicBezTo>
                  <a:pt x="40065" y="-4762"/>
                  <a:pt x="33695" y="12591"/>
                  <a:pt x="30569" y="28575"/>
                </a:cubicBezTo>
                <a:lnTo>
                  <a:pt x="21431" y="28575"/>
                </a:lnTo>
                <a:cubicBezTo>
                  <a:pt x="17472" y="28575"/>
                  <a:pt x="14288" y="31760"/>
                  <a:pt x="14288" y="35719"/>
                </a:cubicBezTo>
                <a:cubicBezTo>
                  <a:pt x="14288" y="39678"/>
                  <a:pt x="17472" y="42863"/>
                  <a:pt x="21431" y="42863"/>
                </a:cubicBezTo>
                <a:lnTo>
                  <a:pt x="28575" y="42863"/>
                </a:lnTo>
                <a:lnTo>
                  <a:pt x="28575" y="52388"/>
                </a:lnTo>
                <a:cubicBezTo>
                  <a:pt x="28575" y="57448"/>
                  <a:pt x="29557" y="62270"/>
                  <a:pt x="31343" y="66675"/>
                </a:cubicBezTo>
                <a:lnTo>
                  <a:pt x="28575" y="66675"/>
                </a:lnTo>
                <a:lnTo>
                  <a:pt x="28575" y="66675"/>
                </a:lnTo>
                <a:lnTo>
                  <a:pt x="22473" y="66675"/>
                </a:lnTo>
                <a:cubicBezTo>
                  <a:pt x="17949" y="66675"/>
                  <a:pt x="14288" y="70336"/>
                  <a:pt x="14288" y="74861"/>
                </a:cubicBezTo>
                <a:cubicBezTo>
                  <a:pt x="14288" y="75754"/>
                  <a:pt x="14436" y="76617"/>
                  <a:pt x="14704" y="77450"/>
                </a:cubicBezTo>
                <a:lnTo>
                  <a:pt x="23306" y="103227"/>
                </a:lnTo>
                <a:cubicBezTo>
                  <a:pt x="11966" y="112990"/>
                  <a:pt x="4763" y="127427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7427"/>
                  <a:pt x="121384" y="112990"/>
                  <a:pt x="110044" y="103257"/>
                </a:cubicBezTo>
                <a:lnTo>
                  <a:pt x="118646" y="77480"/>
                </a:lnTo>
                <a:cubicBezTo>
                  <a:pt x="118914" y="76646"/>
                  <a:pt x="119062" y="75783"/>
                  <a:pt x="119062" y="74890"/>
                </a:cubicBezTo>
                <a:cubicBezTo>
                  <a:pt x="119062" y="70366"/>
                  <a:pt x="115401" y="66705"/>
                  <a:pt x="110877" y="66705"/>
                </a:cubicBezTo>
                <a:lnTo>
                  <a:pt x="104775" y="66705"/>
                </a:lnTo>
                <a:lnTo>
                  <a:pt x="104775" y="66705"/>
                </a:lnTo>
                <a:lnTo>
                  <a:pt x="102007" y="66705"/>
                </a:lnTo>
                <a:cubicBezTo>
                  <a:pt x="103793" y="62299"/>
                  <a:pt x="104775" y="57477"/>
                  <a:pt x="104775" y="52417"/>
                </a:cubicBezTo>
                <a:lnTo>
                  <a:pt x="104775" y="42892"/>
                </a:lnTo>
                <a:lnTo>
                  <a:pt x="111919" y="42892"/>
                </a:lnTo>
                <a:cubicBezTo>
                  <a:pt x="115878" y="42892"/>
                  <a:pt x="119062" y="39707"/>
                  <a:pt x="119062" y="35749"/>
                </a:cubicBezTo>
                <a:cubicBezTo>
                  <a:pt x="119062" y="31790"/>
                  <a:pt x="115878" y="28605"/>
                  <a:pt x="111919" y="28605"/>
                </a:cubicBezTo>
                <a:lnTo>
                  <a:pt x="102781" y="28605"/>
                </a:lnTo>
                <a:cubicBezTo>
                  <a:pt x="99685" y="12621"/>
                  <a:pt x="93285" y="-4733"/>
                  <a:pt x="82451" y="-4733"/>
                </a:cubicBezTo>
                <a:cubicBezTo>
                  <a:pt x="79593" y="-4733"/>
                  <a:pt x="76795" y="-3572"/>
                  <a:pt x="74265" y="-2292"/>
                </a:cubicBezTo>
                <a:cubicBezTo>
                  <a:pt x="71824" y="-1072"/>
                  <a:pt x="68788" y="30"/>
                  <a:pt x="66675" y="30"/>
                </a:cubicBezTo>
                <a:cubicBezTo>
                  <a:pt x="64562" y="30"/>
                  <a:pt x="61526" y="-1072"/>
                  <a:pt x="59085" y="-2292"/>
                </a:cubicBezTo>
                <a:cubicBezTo>
                  <a:pt x="56555" y="-3602"/>
                  <a:pt x="53757" y="-4762"/>
                  <a:pt x="50899" y="-4762"/>
                </a:cubicBezTo>
                <a:close/>
                <a:moveTo>
                  <a:pt x="78790" y="139422"/>
                </a:moveTo>
                <a:lnTo>
                  <a:pt x="71408" y="118318"/>
                </a:lnTo>
                <a:lnTo>
                  <a:pt x="79712" y="108645"/>
                </a:lnTo>
                <a:cubicBezTo>
                  <a:pt x="80516" y="107692"/>
                  <a:pt x="80962" y="106501"/>
                  <a:pt x="80962" y="105251"/>
                </a:cubicBezTo>
                <a:cubicBezTo>
                  <a:pt x="80962" y="102364"/>
                  <a:pt x="78641" y="100042"/>
                  <a:pt x="75754" y="100042"/>
                </a:cubicBezTo>
                <a:lnTo>
                  <a:pt x="57596" y="100042"/>
                </a:lnTo>
                <a:cubicBezTo>
                  <a:pt x="54709" y="100042"/>
                  <a:pt x="52387" y="102364"/>
                  <a:pt x="52387" y="105251"/>
                </a:cubicBezTo>
                <a:cubicBezTo>
                  <a:pt x="52387" y="106501"/>
                  <a:pt x="52834" y="107692"/>
                  <a:pt x="53638" y="108645"/>
                </a:cubicBezTo>
                <a:lnTo>
                  <a:pt x="61942" y="118318"/>
                </a:lnTo>
                <a:lnTo>
                  <a:pt x="54560" y="139422"/>
                </a:lnTo>
                <a:lnTo>
                  <a:pt x="37594" y="85725"/>
                </a:lnTo>
                <a:lnTo>
                  <a:pt x="48220" y="85725"/>
                </a:lnTo>
                <a:cubicBezTo>
                  <a:pt x="53697" y="88761"/>
                  <a:pt x="59978" y="90488"/>
                  <a:pt x="66675" y="90488"/>
                </a:cubicBezTo>
                <a:cubicBezTo>
                  <a:pt x="73372" y="90488"/>
                  <a:pt x="79653" y="88761"/>
                  <a:pt x="85130" y="85725"/>
                </a:cubicBezTo>
                <a:lnTo>
                  <a:pt x="95756" y="85725"/>
                </a:lnTo>
                <a:lnTo>
                  <a:pt x="78790" y="139422"/>
                </a:lnTo>
                <a:close/>
                <a:moveTo>
                  <a:pt x="66675" y="76200"/>
                </a:moveTo>
                <a:cubicBezTo>
                  <a:pt x="56346" y="76200"/>
                  <a:pt x="47565" y="69622"/>
                  <a:pt x="44261" y="60424"/>
                </a:cubicBezTo>
                <a:cubicBezTo>
                  <a:pt x="45958" y="61377"/>
                  <a:pt x="47923" y="61912"/>
                  <a:pt x="50006" y="61912"/>
                </a:cubicBezTo>
                <a:lnTo>
                  <a:pt x="53697" y="61912"/>
                </a:lnTo>
                <a:cubicBezTo>
                  <a:pt x="58609" y="61912"/>
                  <a:pt x="62954" y="58757"/>
                  <a:pt x="64502" y="54114"/>
                </a:cubicBezTo>
                <a:cubicBezTo>
                  <a:pt x="65187" y="52030"/>
                  <a:pt x="68134" y="52030"/>
                  <a:pt x="68818" y="54114"/>
                </a:cubicBezTo>
                <a:cubicBezTo>
                  <a:pt x="70366" y="58757"/>
                  <a:pt x="74741" y="61912"/>
                  <a:pt x="79623" y="61912"/>
                </a:cubicBezTo>
                <a:lnTo>
                  <a:pt x="83314" y="61912"/>
                </a:lnTo>
                <a:cubicBezTo>
                  <a:pt x="85398" y="61912"/>
                  <a:pt x="87362" y="61377"/>
                  <a:pt x="89059" y="60424"/>
                </a:cubicBezTo>
                <a:cubicBezTo>
                  <a:pt x="85755" y="69622"/>
                  <a:pt x="76974" y="76200"/>
                  <a:pt x="66645" y="762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6360338" y="1978819"/>
            <a:ext cx="14644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Messaggi Generici</a:t>
            </a:r>
            <a:endParaRPr b="0" i="0" sz="1200" u="none" cap="none" strike="noStrike"/>
          </a:p>
        </p:txBody>
      </p:sp>
      <p:sp>
        <p:nvSpPr>
          <p:cNvPr id="685" name="Google Shape;685;p29"/>
          <p:cNvSpPr/>
          <p:nvPr/>
        </p:nvSpPr>
        <p:spPr>
          <a:xfrm>
            <a:off x="6360338" y="2150269"/>
            <a:ext cx="14573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"Invalid username or password"</a:t>
            </a:r>
            <a:endParaRPr b="0" i="0" sz="1200" u="none" cap="none" strike="noStrike"/>
          </a:p>
        </p:txBody>
      </p:sp>
      <p:sp>
        <p:nvSpPr>
          <p:cNvPr id="686" name="Google Shape;686;p29"/>
          <p:cNvSpPr/>
          <p:nvPr/>
        </p:nvSpPr>
        <p:spPr>
          <a:xfrm>
            <a:off x="6038869" y="2521740"/>
            <a:ext cx="2821781" cy="942975"/>
          </a:xfrm>
          <a:custGeom>
            <a:rect b="b" l="l" r="r" t="t"/>
            <a:pathLst>
              <a:path extrusionOk="0" h="1257300" w="3762375">
                <a:moveTo>
                  <a:pt x="76205" y="0"/>
                </a:moveTo>
                <a:lnTo>
                  <a:pt x="3686170" y="0"/>
                </a:lnTo>
                <a:cubicBezTo>
                  <a:pt x="3728257" y="0"/>
                  <a:pt x="3762375" y="34118"/>
                  <a:pt x="3762375" y="76205"/>
                </a:cubicBezTo>
                <a:lnTo>
                  <a:pt x="3762375" y="1181095"/>
                </a:lnTo>
                <a:cubicBezTo>
                  <a:pt x="3762375" y="1223182"/>
                  <a:pt x="3728257" y="1257300"/>
                  <a:pt x="36861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9"/>
          <p:cNvSpPr/>
          <p:nvPr/>
        </p:nvSpPr>
        <p:spPr>
          <a:xfrm>
            <a:off x="6153169" y="2636040"/>
            <a:ext cx="26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JWT Claims</a:t>
            </a:r>
            <a:endParaRPr b="0" i="0" sz="1200" u="none" cap="none" strike="noStrike"/>
          </a:p>
        </p:txBody>
      </p:sp>
      <p:sp>
        <p:nvSpPr>
          <p:cNvPr id="688" name="Google Shape;688;p29"/>
          <p:cNvSpPr/>
          <p:nvPr/>
        </p:nvSpPr>
        <p:spPr>
          <a:xfrm>
            <a:off x="6173707" y="2889644"/>
            <a:ext cx="87511" cy="100013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9"/>
          <p:cNvSpPr/>
          <p:nvPr/>
        </p:nvSpPr>
        <p:spPr>
          <a:xfrm>
            <a:off x="6303188" y="2864640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username</a:t>
            </a:r>
            <a:endParaRPr b="0" i="0" sz="1200" u="none" cap="none" strike="noStrike"/>
          </a:p>
        </p:txBody>
      </p:sp>
      <p:sp>
        <p:nvSpPr>
          <p:cNvPr id="690" name="Google Shape;690;p29"/>
          <p:cNvSpPr/>
          <p:nvPr/>
        </p:nvSpPr>
        <p:spPr>
          <a:xfrm>
            <a:off x="6161205" y="3061094"/>
            <a:ext cx="112514" cy="100013"/>
          </a:xfrm>
          <a:custGeom>
            <a:rect b="b" l="l" r="r" t="t"/>
            <a:pathLst>
              <a:path extrusionOk="0" h="133350" w="150019">
                <a:moveTo>
                  <a:pt x="0" y="25003"/>
                </a:moveTo>
                <a:cubicBezTo>
                  <a:pt x="0" y="15809"/>
                  <a:pt x="7475" y="8334"/>
                  <a:pt x="16669" y="8334"/>
                </a:cubicBezTo>
                <a:lnTo>
                  <a:pt x="133350" y="8334"/>
                </a:lnTo>
                <a:cubicBezTo>
                  <a:pt x="142544" y="8334"/>
                  <a:pt x="150019" y="15809"/>
                  <a:pt x="150019" y="25003"/>
                </a:cubicBezTo>
                <a:lnTo>
                  <a:pt x="0" y="25003"/>
                </a:lnTo>
                <a:close/>
                <a:moveTo>
                  <a:pt x="0" y="37505"/>
                </a:moveTo>
                <a:lnTo>
                  <a:pt x="150019" y="37505"/>
                </a:lnTo>
                <a:lnTo>
                  <a:pt x="150019" y="108347"/>
                </a:lnTo>
                <a:cubicBezTo>
                  <a:pt x="150019" y="117541"/>
                  <a:pt x="142544" y="125016"/>
                  <a:pt x="133350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7505"/>
                </a:lnTo>
                <a:close/>
                <a:moveTo>
                  <a:pt x="64409" y="108347"/>
                </a:moveTo>
                <a:cubicBezTo>
                  <a:pt x="69670" y="108347"/>
                  <a:pt x="73603" y="103294"/>
                  <a:pt x="70243" y="99231"/>
                </a:cubicBezTo>
                <a:cubicBezTo>
                  <a:pt x="66415" y="94621"/>
                  <a:pt x="60633" y="91678"/>
                  <a:pt x="54173" y="91678"/>
                </a:cubicBezTo>
                <a:lnTo>
                  <a:pt x="37505" y="91678"/>
                </a:lnTo>
                <a:cubicBezTo>
                  <a:pt x="31046" y="91678"/>
                  <a:pt x="25264" y="94621"/>
                  <a:pt x="21435" y="99231"/>
                </a:cubicBezTo>
                <a:cubicBezTo>
                  <a:pt x="18075" y="103294"/>
                  <a:pt x="22008" y="108347"/>
                  <a:pt x="27269" y="108347"/>
                </a:cubicBezTo>
                <a:lnTo>
                  <a:pt x="64383" y="108347"/>
                </a:lnTo>
                <a:close/>
                <a:moveTo>
                  <a:pt x="45839" y="81260"/>
                </a:moveTo>
                <a:cubicBezTo>
                  <a:pt x="53889" y="81260"/>
                  <a:pt x="60424" y="74725"/>
                  <a:pt x="60424" y="66675"/>
                </a:cubicBezTo>
                <a:cubicBezTo>
                  <a:pt x="60424" y="58625"/>
                  <a:pt x="53889" y="52090"/>
                  <a:pt x="45839" y="52090"/>
                </a:cubicBezTo>
                <a:cubicBezTo>
                  <a:pt x="37789" y="52090"/>
                  <a:pt x="31254" y="58625"/>
                  <a:pt x="31254" y="66675"/>
                </a:cubicBezTo>
                <a:cubicBezTo>
                  <a:pt x="31254" y="74725"/>
                  <a:pt x="37789" y="81260"/>
                  <a:pt x="45839" y="81260"/>
                </a:cubicBezTo>
                <a:close/>
                <a:moveTo>
                  <a:pt x="93762" y="54173"/>
                </a:moveTo>
                <a:cubicBezTo>
                  <a:pt x="90298" y="54173"/>
                  <a:pt x="87511" y="56960"/>
                  <a:pt x="87511" y="60424"/>
                </a:cubicBezTo>
                <a:cubicBezTo>
                  <a:pt x="87511" y="63888"/>
                  <a:pt x="90298" y="66675"/>
                  <a:pt x="93762" y="66675"/>
                </a:cubicBezTo>
                <a:lnTo>
                  <a:pt x="122932" y="66675"/>
                </a:lnTo>
                <a:cubicBezTo>
                  <a:pt x="126396" y="66675"/>
                  <a:pt x="129183" y="63888"/>
                  <a:pt x="129183" y="60424"/>
                </a:cubicBezTo>
                <a:cubicBezTo>
                  <a:pt x="129183" y="56960"/>
                  <a:pt x="126396" y="54173"/>
                  <a:pt x="122932" y="54173"/>
                </a:cubicBezTo>
                <a:lnTo>
                  <a:pt x="93762" y="54173"/>
                </a:lnTo>
                <a:close/>
                <a:moveTo>
                  <a:pt x="93762" y="79177"/>
                </a:moveTo>
                <a:cubicBezTo>
                  <a:pt x="90298" y="79177"/>
                  <a:pt x="87511" y="81963"/>
                  <a:pt x="87511" y="85427"/>
                </a:cubicBezTo>
                <a:cubicBezTo>
                  <a:pt x="87511" y="88891"/>
                  <a:pt x="90298" y="91678"/>
                  <a:pt x="93762" y="91678"/>
                </a:cubicBezTo>
                <a:lnTo>
                  <a:pt x="122932" y="91678"/>
                </a:lnTo>
                <a:cubicBezTo>
                  <a:pt x="126396" y="91678"/>
                  <a:pt x="129183" y="88891"/>
                  <a:pt x="129183" y="85427"/>
                </a:cubicBezTo>
                <a:cubicBezTo>
                  <a:pt x="129183" y="81963"/>
                  <a:pt x="126396" y="79177"/>
                  <a:pt x="122932" y="79177"/>
                </a:cubicBezTo>
                <a:lnTo>
                  <a:pt x="93762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9"/>
          <p:cNvSpPr/>
          <p:nvPr/>
        </p:nvSpPr>
        <p:spPr>
          <a:xfrm>
            <a:off x="6303188" y="3036090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ID utente</a:t>
            </a:r>
            <a:endParaRPr b="0" i="0" sz="1200" u="none" cap="none" strike="noStrike"/>
          </a:p>
        </p:txBody>
      </p:sp>
      <p:sp>
        <p:nvSpPr>
          <p:cNvPr id="692" name="Google Shape;692;p29"/>
          <p:cNvSpPr/>
          <p:nvPr/>
        </p:nvSpPr>
        <p:spPr>
          <a:xfrm>
            <a:off x="6167456" y="323254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6303188" y="3207540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scadenza 24h</a:t>
            </a:r>
            <a:endParaRPr b="0" i="0" sz="1200" u="none" cap="none" strike="noStrike"/>
          </a:p>
        </p:txBody>
      </p:sp>
      <p:sp>
        <p:nvSpPr>
          <p:cNvPr id="694" name="Google Shape;69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0"/>
          <p:cNvSpPr/>
          <p:nvPr/>
        </p:nvSpPr>
        <p:spPr>
          <a:xfrm>
            <a:off x="285750" y="285750"/>
            <a:ext cx="8629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Messaging</a:t>
            </a:r>
            <a:endParaRPr b="0" i="0" sz="1200" u="none" cap="none" strike="noStrike"/>
          </a:p>
        </p:txBody>
      </p:sp>
      <p:sp>
        <p:nvSpPr>
          <p:cNvPr id="701" name="Google Shape;701;p30"/>
          <p:cNvSpPr/>
          <p:nvPr/>
        </p:nvSpPr>
        <p:spPr>
          <a:xfrm>
            <a:off x="285750" y="485775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Flusso dei Messaggi in Tempo Reale</a:t>
            </a:r>
            <a:endParaRPr b="0" i="0" sz="1200" u="none" cap="none" strike="noStrike"/>
          </a:p>
        </p:txBody>
      </p:sp>
      <p:pic>
        <p:nvPicPr>
          <p:cNvPr id="702" name="Google Shape;702;p30" title="flusso_messagg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0" y="800100"/>
            <a:ext cx="7668772" cy="41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1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Messaging</a:t>
            </a:r>
            <a:endParaRPr b="0" i="0" sz="1200" u="none" cap="none" strike="noStrike"/>
          </a:p>
        </p:txBody>
      </p:sp>
      <p:sp>
        <p:nvSpPr>
          <p:cNvPr id="710" name="Google Shape;710;p31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Flusso dei Messaggi in Tempo Reale</a:t>
            </a:r>
            <a:endParaRPr b="0" i="0" sz="1200" u="none" cap="none" strike="noStrike"/>
          </a:p>
        </p:txBody>
      </p:sp>
      <p:sp>
        <p:nvSpPr>
          <p:cNvPr id="711" name="Google Shape;711;p31"/>
          <p:cNvSpPr/>
          <p:nvPr/>
        </p:nvSpPr>
        <p:spPr>
          <a:xfrm>
            <a:off x="300038" y="828675"/>
            <a:ext cx="6329363" cy="764381"/>
          </a:xfrm>
          <a:custGeom>
            <a:rect b="b" l="l" r="r" t="t"/>
            <a:pathLst>
              <a:path extrusionOk="0" h="1019175" w="8439150">
                <a:moveTo>
                  <a:pt x="38100" y="0"/>
                </a:moveTo>
                <a:lnTo>
                  <a:pt x="8362946" y="0"/>
                </a:lnTo>
                <a:cubicBezTo>
                  <a:pt x="8405032" y="0"/>
                  <a:pt x="8439150" y="34118"/>
                  <a:pt x="8439150" y="76204"/>
                </a:cubicBezTo>
                <a:lnTo>
                  <a:pt x="8439150" y="942971"/>
                </a:lnTo>
                <a:cubicBezTo>
                  <a:pt x="8439150" y="985057"/>
                  <a:pt x="8405032" y="1019175"/>
                  <a:pt x="8362946" y="1019175"/>
                </a:cubicBezTo>
                <a:lnTo>
                  <a:pt x="38100" y="1019175"/>
                </a:lnTo>
                <a:cubicBezTo>
                  <a:pt x="17058" y="1019175"/>
                  <a:pt x="0" y="1002117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300038" y="828675"/>
            <a:ext cx="28575" cy="764381"/>
          </a:xfrm>
          <a:custGeom>
            <a:rect b="b" l="l" r="r" t="t"/>
            <a:pathLst>
              <a:path extrusionOk="0" h="1019175" w="38100">
                <a:moveTo>
                  <a:pt x="38100" y="0"/>
                </a:moveTo>
                <a:lnTo>
                  <a:pt x="38100" y="0"/>
                </a:lnTo>
                <a:lnTo>
                  <a:pt x="38100" y="1019175"/>
                </a:lnTo>
                <a:lnTo>
                  <a:pt x="38100" y="1019175"/>
                </a:lnTo>
                <a:cubicBezTo>
                  <a:pt x="17072" y="1019175"/>
                  <a:pt x="0" y="1002103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371475" y="885825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342900" y="885825"/>
            <a:ext cx="2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/>
          </a:p>
        </p:txBody>
      </p:sp>
      <p:sp>
        <p:nvSpPr>
          <p:cNvPr id="715" name="Google Shape;715;p31"/>
          <p:cNvSpPr/>
          <p:nvPr/>
        </p:nvSpPr>
        <p:spPr>
          <a:xfrm>
            <a:off x="685800" y="900113"/>
            <a:ext cx="147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Frontend Invia Payload</a:t>
            </a:r>
            <a:endParaRPr b="0" i="0" sz="1200" u="none" cap="none" strike="noStrike"/>
          </a:p>
        </p:txBody>
      </p:sp>
      <p:sp>
        <p:nvSpPr>
          <p:cNvPr id="716" name="Google Shape;716;p31"/>
          <p:cNvSpPr/>
          <p:nvPr/>
        </p:nvSpPr>
        <p:spPr>
          <a:xfrm>
            <a:off x="371475" y="1143000"/>
            <a:ext cx="62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 invia JSON con type, group_id e content.</a:t>
            </a:r>
            <a:endParaRPr b="0" i="0" sz="1200" u="none" cap="none" strike="noStrike"/>
          </a:p>
        </p:txBody>
      </p:sp>
      <p:sp>
        <p:nvSpPr>
          <p:cNvPr id="717" name="Google Shape;717;p31"/>
          <p:cNvSpPr/>
          <p:nvPr/>
        </p:nvSpPr>
        <p:spPr>
          <a:xfrm>
            <a:off x="371475" y="1328738"/>
            <a:ext cx="6200775" cy="207169"/>
          </a:xfrm>
          <a:custGeom>
            <a:rect b="b" l="l" r="r" t="t"/>
            <a:pathLst>
              <a:path extrusionOk="0" h="276225" w="8267700">
                <a:moveTo>
                  <a:pt x="38100" y="0"/>
                </a:moveTo>
                <a:lnTo>
                  <a:pt x="8229600" y="0"/>
                </a:lnTo>
                <a:cubicBezTo>
                  <a:pt x="8250642" y="0"/>
                  <a:pt x="8267700" y="17058"/>
                  <a:pt x="8267700" y="38100"/>
                </a:cubicBezTo>
                <a:lnTo>
                  <a:pt x="8267700" y="238125"/>
                </a:lnTo>
                <a:cubicBezTo>
                  <a:pt x="8267700" y="259167"/>
                  <a:pt x="8250642" y="276225"/>
                  <a:pt x="82296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400050" y="1371600"/>
            <a:ext cx="40842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{ "type": "send_group_message", "group_id": 5, "content": "Ciao!" }</a:t>
            </a:r>
            <a:endParaRPr b="0" i="0" sz="1200" u="none" cap="none" strike="noStrike"/>
          </a:p>
        </p:txBody>
      </p:sp>
      <p:sp>
        <p:nvSpPr>
          <p:cNvPr id="719" name="Google Shape;719;p31"/>
          <p:cNvSpPr/>
          <p:nvPr/>
        </p:nvSpPr>
        <p:spPr>
          <a:xfrm>
            <a:off x="300038" y="1646635"/>
            <a:ext cx="6329363" cy="528638"/>
          </a:xfrm>
          <a:custGeom>
            <a:rect b="b" l="l" r="r" t="t"/>
            <a:pathLst>
              <a:path extrusionOk="0" h="704850" w="8439150">
                <a:moveTo>
                  <a:pt x="38100" y="0"/>
                </a:moveTo>
                <a:lnTo>
                  <a:pt x="8362949" y="0"/>
                </a:lnTo>
                <a:cubicBezTo>
                  <a:pt x="8405034" y="0"/>
                  <a:pt x="8439150" y="34116"/>
                  <a:pt x="8439150" y="76201"/>
                </a:cubicBezTo>
                <a:lnTo>
                  <a:pt x="8439150" y="628649"/>
                </a:lnTo>
                <a:cubicBezTo>
                  <a:pt x="8439150" y="670734"/>
                  <a:pt x="8405034" y="704850"/>
                  <a:pt x="83629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1"/>
          <p:cNvSpPr/>
          <p:nvPr/>
        </p:nvSpPr>
        <p:spPr>
          <a:xfrm>
            <a:off x="300038" y="1646635"/>
            <a:ext cx="28575" cy="528638"/>
          </a:xfrm>
          <a:custGeom>
            <a:rect b="b" l="l" r="r" t="t"/>
            <a:pathLst>
              <a:path extrusionOk="0" h="704850" w="3810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1"/>
          <p:cNvSpPr/>
          <p:nvPr/>
        </p:nvSpPr>
        <p:spPr>
          <a:xfrm>
            <a:off x="371475" y="1703785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342900" y="1703785"/>
            <a:ext cx="2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/>
          </a:p>
        </p:txBody>
      </p:sp>
      <p:sp>
        <p:nvSpPr>
          <p:cNvPr id="723" name="Google Shape;723;p31"/>
          <p:cNvSpPr/>
          <p:nvPr/>
        </p:nvSpPr>
        <p:spPr>
          <a:xfrm>
            <a:off x="685800" y="1718072"/>
            <a:ext cx="169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Controller Riceve e Smista</a:t>
            </a:r>
            <a:endParaRPr b="0" i="0" sz="1200" u="none" cap="none" strike="noStrike"/>
          </a:p>
        </p:txBody>
      </p:sp>
      <p:sp>
        <p:nvSpPr>
          <p:cNvPr id="724" name="Google Shape;724;p31"/>
          <p:cNvSpPr/>
          <p:nvPr/>
        </p:nvSpPr>
        <p:spPr>
          <a:xfrm>
            <a:off x="371475" y="1960960"/>
            <a:ext cx="62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Deserializzazione con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serde_json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pattern matching su ClientMessage::SendGroupMessage.</a:t>
            </a:r>
            <a:endParaRPr b="0" i="0" sz="1200" u="none" cap="none" strike="noStrike"/>
          </a:p>
        </p:txBody>
      </p:sp>
      <p:sp>
        <p:nvSpPr>
          <p:cNvPr id="725" name="Google Shape;725;p31"/>
          <p:cNvSpPr/>
          <p:nvPr/>
        </p:nvSpPr>
        <p:spPr>
          <a:xfrm>
            <a:off x="300038" y="2232422"/>
            <a:ext cx="6329363" cy="528638"/>
          </a:xfrm>
          <a:custGeom>
            <a:rect b="b" l="l" r="r" t="t"/>
            <a:pathLst>
              <a:path extrusionOk="0" h="704850" w="8439150">
                <a:moveTo>
                  <a:pt x="38100" y="0"/>
                </a:moveTo>
                <a:lnTo>
                  <a:pt x="8362949" y="0"/>
                </a:lnTo>
                <a:cubicBezTo>
                  <a:pt x="8405034" y="0"/>
                  <a:pt x="8439150" y="34116"/>
                  <a:pt x="8439150" y="76201"/>
                </a:cubicBezTo>
                <a:lnTo>
                  <a:pt x="8439150" y="628649"/>
                </a:lnTo>
                <a:cubicBezTo>
                  <a:pt x="8439150" y="670734"/>
                  <a:pt x="8405034" y="704850"/>
                  <a:pt x="83629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300038" y="2232422"/>
            <a:ext cx="28575" cy="528638"/>
          </a:xfrm>
          <a:custGeom>
            <a:rect b="b" l="l" r="r" t="t"/>
            <a:pathLst>
              <a:path extrusionOk="0" h="704850" w="3810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371475" y="2289572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342900" y="2289572"/>
            <a:ext cx="2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/>
          </a:p>
        </p:txBody>
      </p:sp>
      <p:sp>
        <p:nvSpPr>
          <p:cNvPr id="729" name="Google Shape;729;p31"/>
          <p:cNvSpPr/>
          <p:nvPr/>
        </p:nvSpPr>
        <p:spPr>
          <a:xfrm>
            <a:off x="685800" y="2303860"/>
            <a:ext cx="14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Validazione Sicurezza</a:t>
            </a:r>
            <a:endParaRPr b="0" i="0" sz="1200" u="none" cap="none" strike="noStrike"/>
          </a:p>
        </p:txBody>
      </p:sp>
      <p:sp>
        <p:nvSpPr>
          <p:cNvPr id="730" name="Google Shape;730;p31"/>
          <p:cNvSpPr/>
          <p:nvPr/>
        </p:nvSpPr>
        <p:spPr>
          <a:xfrm>
            <a:off x="371475" y="2546747"/>
            <a:ext cx="62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service verifica che il mittente sia membro del gruppo prima di procedere, altrimenti restituisce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ValidationError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</a:t>
            </a:r>
            <a:endParaRPr b="0" i="0" sz="1200" u="none" cap="none" strike="noStrike"/>
          </a:p>
        </p:txBody>
      </p:sp>
      <p:sp>
        <p:nvSpPr>
          <p:cNvPr id="731" name="Google Shape;731;p31"/>
          <p:cNvSpPr/>
          <p:nvPr/>
        </p:nvSpPr>
        <p:spPr>
          <a:xfrm>
            <a:off x="300038" y="2818210"/>
            <a:ext cx="6329363" cy="528638"/>
          </a:xfrm>
          <a:custGeom>
            <a:rect b="b" l="l" r="r" t="t"/>
            <a:pathLst>
              <a:path extrusionOk="0" h="704850" w="8439150">
                <a:moveTo>
                  <a:pt x="38100" y="0"/>
                </a:moveTo>
                <a:lnTo>
                  <a:pt x="8362949" y="0"/>
                </a:lnTo>
                <a:cubicBezTo>
                  <a:pt x="8405034" y="0"/>
                  <a:pt x="8439150" y="34116"/>
                  <a:pt x="8439150" y="76201"/>
                </a:cubicBezTo>
                <a:lnTo>
                  <a:pt x="8439150" y="628649"/>
                </a:lnTo>
                <a:cubicBezTo>
                  <a:pt x="8439150" y="670734"/>
                  <a:pt x="8405034" y="704850"/>
                  <a:pt x="83629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1"/>
          <p:cNvSpPr/>
          <p:nvPr/>
        </p:nvSpPr>
        <p:spPr>
          <a:xfrm>
            <a:off x="300038" y="2818210"/>
            <a:ext cx="28575" cy="528638"/>
          </a:xfrm>
          <a:custGeom>
            <a:rect b="b" l="l" r="r" t="t"/>
            <a:pathLst>
              <a:path extrusionOk="0" h="704850" w="3810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1"/>
          <p:cNvSpPr/>
          <p:nvPr/>
        </p:nvSpPr>
        <p:spPr>
          <a:xfrm>
            <a:off x="371475" y="2875359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342900" y="2875359"/>
            <a:ext cx="2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/>
          </a:p>
        </p:txBody>
      </p:sp>
      <p:sp>
        <p:nvSpPr>
          <p:cNvPr id="735" name="Google Shape;735;p31"/>
          <p:cNvSpPr/>
          <p:nvPr/>
        </p:nvSpPr>
        <p:spPr>
          <a:xfrm>
            <a:off x="685800" y="2889647"/>
            <a:ext cx="1392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Salvataggio Database</a:t>
            </a:r>
            <a:endParaRPr b="0" i="0" sz="1200" u="none" cap="none" strike="noStrike"/>
          </a:p>
        </p:txBody>
      </p:sp>
      <p:sp>
        <p:nvSpPr>
          <p:cNvPr id="736" name="Google Shape;736;p31"/>
          <p:cNvSpPr/>
          <p:nvPr/>
        </p:nvSpPr>
        <p:spPr>
          <a:xfrm>
            <a:off x="371475" y="3132534"/>
            <a:ext cx="62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SQL parametrizzata INSERT con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timestamp automatico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nel campo created_at.</a:t>
            </a:r>
            <a:endParaRPr b="0" i="0" sz="1200" u="none" cap="none" strike="noStrike"/>
          </a:p>
        </p:txBody>
      </p:sp>
      <p:sp>
        <p:nvSpPr>
          <p:cNvPr id="737" name="Google Shape;737;p31"/>
          <p:cNvSpPr/>
          <p:nvPr/>
        </p:nvSpPr>
        <p:spPr>
          <a:xfrm>
            <a:off x="300038" y="3403997"/>
            <a:ext cx="6329363" cy="528638"/>
          </a:xfrm>
          <a:custGeom>
            <a:rect b="b" l="l" r="r" t="t"/>
            <a:pathLst>
              <a:path extrusionOk="0" h="704850" w="8439150">
                <a:moveTo>
                  <a:pt x="38100" y="0"/>
                </a:moveTo>
                <a:lnTo>
                  <a:pt x="8362949" y="0"/>
                </a:lnTo>
                <a:cubicBezTo>
                  <a:pt x="8405034" y="0"/>
                  <a:pt x="8439150" y="34116"/>
                  <a:pt x="8439150" y="76201"/>
                </a:cubicBezTo>
                <a:lnTo>
                  <a:pt x="8439150" y="628649"/>
                </a:lnTo>
                <a:cubicBezTo>
                  <a:pt x="8439150" y="670734"/>
                  <a:pt x="8405034" y="704850"/>
                  <a:pt x="83629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300038" y="3403997"/>
            <a:ext cx="28575" cy="528638"/>
          </a:xfrm>
          <a:custGeom>
            <a:rect b="b" l="l" r="r" t="t"/>
            <a:pathLst>
              <a:path extrusionOk="0" h="704850" w="3810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371475" y="3461147"/>
            <a:ext cx="228600" cy="2286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342900" y="3461147"/>
            <a:ext cx="2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1A1D2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/>
          </a:p>
        </p:txBody>
      </p:sp>
      <p:sp>
        <p:nvSpPr>
          <p:cNvPr id="741" name="Google Shape;741;p31"/>
          <p:cNvSpPr/>
          <p:nvPr/>
        </p:nvSpPr>
        <p:spPr>
          <a:xfrm>
            <a:off x="685800" y="3475435"/>
            <a:ext cx="132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Broadcast ai Membri</a:t>
            </a:r>
            <a:endParaRPr b="0" i="0" sz="1200" u="none" cap="none" strike="noStrike"/>
          </a:p>
        </p:txBody>
      </p:sp>
      <p:sp>
        <p:nvSpPr>
          <p:cNvPr id="742" name="Google Shape;742;p31"/>
          <p:cNvSpPr/>
          <p:nvPr/>
        </p:nvSpPr>
        <p:spPr>
          <a:xfrm>
            <a:off x="371475" y="3718322"/>
            <a:ext cx="62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Costruzione ServerMessage::GroupChat e broadcast a tutti i membri online tramite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ConnectionMap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</a:t>
            </a:r>
            <a:endParaRPr b="0" i="0" sz="1200" u="none" cap="none" strike="noStrike"/>
          </a:p>
        </p:txBody>
      </p:sp>
      <p:sp>
        <p:nvSpPr>
          <p:cNvPr id="743" name="Google Shape;743;p31"/>
          <p:cNvSpPr/>
          <p:nvPr/>
        </p:nvSpPr>
        <p:spPr>
          <a:xfrm>
            <a:off x="6747275" y="832249"/>
            <a:ext cx="2107406" cy="940451"/>
          </a:xfrm>
          <a:custGeom>
            <a:rect b="b" l="l" r="r" t="t"/>
            <a:pathLst>
              <a:path extrusionOk="0" h="2066925" w="2809875">
                <a:moveTo>
                  <a:pt x="76208" y="0"/>
                </a:moveTo>
                <a:lnTo>
                  <a:pt x="2733667" y="0"/>
                </a:lnTo>
                <a:cubicBezTo>
                  <a:pt x="2775756" y="0"/>
                  <a:pt x="2809875" y="34119"/>
                  <a:pt x="2809875" y="76208"/>
                </a:cubicBezTo>
                <a:lnTo>
                  <a:pt x="2809875" y="1990717"/>
                </a:lnTo>
                <a:cubicBezTo>
                  <a:pt x="2809875" y="2032806"/>
                  <a:pt x="2775756" y="2066925"/>
                  <a:pt x="273366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6865144" y="950119"/>
            <a:ext cx="193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Performance</a:t>
            </a:r>
            <a:endParaRPr b="0" i="0" sz="1200" u="none" cap="none" strike="noStrike"/>
          </a:p>
        </p:txBody>
      </p:sp>
      <p:sp>
        <p:nvSpPr>
          <p:cNvPr id="745" name="Google Shape;745;p31"/>
          <p:cNvSpPr/>
          <p:nvPr/>
        </p:nvSpPr>
        <p:spPr>
          <a:xfrm>
            <a:off x="6865144" y="1187644"/>
            <a:ext cx="1871663" cy="485775"/>
          </a:xfrm>
          <a:custGeom>
            <a:rect b="b" l="l" r="r" t="t"/>
            <a:pathLst>
              <a:path extrusionOk="0" h="647700" w="2495550">
                <a:moveTo>
                  <a:pt x="38098" y="0"/>
                </a:moveTo>
                <a:lnTo>
                  <a:pt x="2457452" y="0"/>
                </a:lnTo>
                <a:cubicBezTo>
                  <a:pt x="2478479" y="0"/>
                  <a:pt x="2495550" y="17071"/>
                  <a:pt x="2495550" y="38098"/>
                </a:cubicBezTo>
                <a:lnTo>
                  <a:pt x="2495550" y="609602"/>
                </a:lnTo>
                <a:cubicBezTo>
                  <a:pt x="2495550" y="630643"/>
                  <a:pt x="2478493" y="647700"/>
                  <a:pt x="24574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6879431" y="1244794"/>
            <a:ext cx="18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Async</a:t>
            </a:r>
            <a:endParaRPr b="0" i="0" sz="1200" u="none" cap="none" strike="noStrike"/>
          </a:p>
        </p:txBody>
      </p:sp>
      <p:sp>
        <p:nvSpPr>
          <p:cNvPr id="747" name="Google Shape;747;p31"/>
          <p:cNvSpPr/>
          <p:nvPr/>
        </p:nvSpPr>
        <p:spPr>
          <a:xfrm>
            <a:off x="6897291" y="1473394"/>
            <a:ext cx="1807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Gestione I/O</a:t>
            </a:r>
            <a:endParaRPr b="0" i="0" sz="1200" u="none" cap="none" strike="noStrike"/>
          </a:p>
        </p:txBody>
      </p:sp>
      <p:sp>
        <p:nvSpPr>
          <p:cNvPr id="748" name="Google Shape;748;p31"/>
          <p:cNvSpPr/>
          <p:nvPr/>
        </p:nvSpPr>
        <p:spPr>
          <a:xfrm>
            <a:off x="6743700" y="1877213"/>
            <a:ext cx="2114550" cy="942975"/>
          </a:xfrm>
          <a:custGeom>
            <a:rect b="b" l="l" r="r" t="t"/>
            <a:pathLst>
              <a:path extrusionOk="0" h="1257300" w="2819400">
                <a:moveTo>
                  <a:pt x="76205" y="0"/>
                </a:moveTo>
                <a:lnTo>
                  <a:pt x="2743195" y="0"/>
                </a:lnTo>
                <a:cubicBezTo>
                  <a:pt x="2785282" y="0"/>
                  <a:pt x="2819400" y="34118"/>
                  <a:pt x="2819400" y="76205"/>
                </a:cubicBezTo>
                <a:lnTo>
                  <a:pt x="2819400" y="1181095"/>
                </a:lnTo>
                <a:cubicBezTo>
                  <a:pt x="2819400" y="1223182"/>
                  <a:pt x="2785282" y="1257300"/>
                  <a:pt x="27431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6858000" y="1991513"/>
            <a:ext cx="194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Vantaggi WebSocket</a:t>
            </a:r>
            <a:endParaRPr b="0" i="0" sz="1200" u="none" cap="none" strike="noStrike"/>
          </a:p>
        </p:txBody>
      </p:sp>
      <p:sp>
        <p:nvSpPr>
          <p:cNvPr id="750" name="Google Shape;750;p31"/>
          <p:cNvSpPr/>
          <p:nvPr/>
        </p:nvSpPr>
        <p:spPr>
          <a:xfrm>
            <a:off x="6878538" y="2245116"/>
            <a:ext cx="87511" cy="100013"/>
          </a:xfrm>
          <a:custGeom>
            <a:rect b="b" l="l" r="r" t="t"/>
            <a:pathLst>
              <a:path extrusionOk="0" h="133350" w="116681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>
            <a:off x="7008019" y="2220113"/>
            <a:ext cx="17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Full-duplex</a:t>
            </a:r>
            <a:endParaRPr b="0" i="0" sz="1200" u="none" cap="none" strike="noStrike"/>
          </a:p>
        </p:txBody>
      </p:sp>
      <p:sp>
        <p:nvSpPr>
          <p:cNvPr id="752" name="Google Shape;752;p31"/>
          <p:cNvSpPr/>
          <p:nvPr/>
        </p:nvSpPr>
        <p:spPr>
          <a:xfrm>
            <a:off x="6872288" y="2416566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7008019" y="2391563"/>
            <a:ext cx="17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latency</a:t>
            </a:r>
            <a:endParaRPr b="0" i="0" sz="1200" u="none" cap="none" strike="noStrike"/>
          </a:p>
        </p:txBody>
      </p:sp>
      <p:sp>
        <p:nvSpPr>
          <p:cNvPr id="754" name="Google Shape;754;p31"/>
          <p:cNvSpPr/>
          <p:nvPr/>
        </p:nvSpPr>
        <p:spPr>
          <a:xfrm>
            <a:off x="6878538" y="2588016"/>
            <a:ext cx="87511" cy="100013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>
            <a:off x="7008019" y="2563013"/>
            <a:ext cx="17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Stateful connection</a:t>
            </a:r>
            <a:endParaRPr b="0" i="0" sz="1200" u="none" cap="none" strike="noStrike"/>
          </a:p>
        </p:txBody>
      </p:sp>
      <p:sp>
        <p:nvSpPr>
          <p:cNvPr id="756" name="Google Shape;756;p31"/>
          <p:cNvSpPr/>
          <p:nvPr/>
        </p:nvSpPr>
        <p:spPr>
          <a:xfrm>
            <a:off x="6743700" y="2905913"/>
            <a:ext cx="2114550" cy="735806"/>
          </a:xfrm>
          <a:custGeom>
            <a:rect b="b" l="l" r="r" t="t"/>
            <a:pathLst>
              <a:path extrusionOk="0" h="981075" w="2819400">
                <a:moveTo>
                  <a:pt x="76200" y="0"/>
                </a:moveTo>
                <a:lnTo>
                  <a:pt x="2743200" y="0"/>
                </a:lnTo>
                <a:cubicBezTo>
                  <a:pt x="2785284" y="0"/>
                  <a:pt x="2819400" y="34116"/>
                  <a:pt x="2819400" y="76200"/>
                </a:cubicBezTo>
                <a:lnTo>
                  <a:pt x="2819400" y="904875"/>
                </a:lnTo>
                <a:cubicBezTo>
                  <a:pt x="2819400" y="946959"/>
                  <a:pt x="2785284" y="981075"/>
                  <a:pt x="27432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/>
          <p:nvPr/>
        </p:nvSpPr>
        <p:spPr>
          <a:xfrm>
            <a:off x="6858000" y="3020213"/>
            <a:ext cx="194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Pattern Echo</a:t>
            </a:r>
            <a:endParaRPr b="0" i="0" sz="1200" u="none" cap="none" strike="noStrike"/>
          </a:p>
        </p:txBody>
      </p:sp>
      <p:sp>
        <p:nvSpPr>
          <p:cNvPr id="758" name="Google Shape;758;p31"/>
          <p:cNvSpPr/>
          <p:nvPr/>
        </p:nvSpPr>
        <p:spPr>
          <a:xfrm>
            <a:off x="6858000" y="3248813"/>
            <a:ext cx="1935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server invia il messaggio anche al mittente per conferma.</a:t>
            </a:r>
            <a:endParaRPr b="0" i="0" sz="1200" u="none" cap="none" strike="noStrike"/>
          </a:p>
        </p:txBody>
      </p:sp>
      <p:sp>
        <p:nvSpPr>
          <p:cNvPr id="759" name="Google Shape;75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Concurrency Management</a:t>
            </a:r>
            <a:endParaRPr b="0" i="0" sz="1200" u="none" cap="none" strike="noStrike"/>
          </a:p>
        </p:txBody>
      </p:sp>
      <p:sp>
        <p:nvSpPr>
          <p:cNvPr id="766" name="Google Shape;766;p32"/>
          <p:cNvSpPr/>
          <p:nvPr/>
        </p:nvSpPr>
        <p:spPr>
          <a:xfrm>
            <a:off x="285750" y="514350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Gestione Concorrenza e Stato Globale</a:t>
            </a:r>
            <a:endParaRPr b="0" i="0" sz="1200" u="none" cap="none" strike="noStrike"/>
          </a:p>
        </p:txBody>
      </p:sp>
      <p:sp>
        <p:nvSpPr>
          <p:cNvPr id="767" name="Google Shape;767;p32"/>
          <p:cNvSpPr/>
          <p:nvPr/>
        </p:nvSpPr>
        <p:spPr>
          <a:xfrm>
            <a:off x="300038" y="914400"/>
            <a:ext cx="5622131" cy="1571625"/>
          </a:xfrm>
          <a:custGeom>
            <a:rect b="b" l="l" r="r" t="t"/>
            <a:pathLst>
              <a:path extrusionOk="0" h="2095500" w="7496175">
                <a:moveTo>
                  <a:pt x="38100" y="0"/>
                </a:moveTo>
                <a:lnTo>
                  <a:pt x="7419983" y="0"/>
                </a:lnTo>
                <a:cubicBezTo>
                  <a:pt x="7462063" y="0"/>
                  <a:pt x="7496175" y="34112"/>
                  <a:pt x="7496175" y="76192"/>
                </a:cubicBezTo>
                <a:lnTo>
                  <a:pt x="7496175" y="2019308"/>
                </a:lnTo>
                <a:cubicBezTo>
                  <a:pt x="7496175" y="2061388"/>
                  <a:pt x="7462063" y="2095500"/>
                  <a:pt x="7419983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300038" y="914400"/>
            <a:ext cx="28575" cy="1571625"/>
          </a:xfrm>
          <a:custGeom>
            <a:rect b="b" l="l" r="r" t="t"/>
            <a:pathLst>
              <a:path extrusionOk="0" h="2095500" w="381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428625" y="1028700"/>
            <a:ext cx="54506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ConnectionMap - Stato Globale</a:t>
            </a:r>
            <a:endParaRPr b="0" i="0" sz="1200" u="none" cap="none" strike="noStrike"/>
          </a:p>
        </p:txBody>
      </p:sp>
      <p:sp>
        <p:nvSpPr>
          <p:cNvPr id="770" name="Google Shape;770;p32"/>
          <p:cNvSpPr/>
          <p:nvPr/>
        </p:nvSpPr>
        <p:spPr>
          <a:xfrm>
            <a:off x="428625" y="1314450"/>
            <a:ext cx="54363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ConnectionMap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è una HashMap thread-safe che traccia tutte le connessioni WebSocket attive, permettendo broadcast efficiente.</a:t>
            </a:r>
            <a:endParaRPr b="0" i="0" sz="1200" u="none" cap="none" strike="noStrike"/>
          </a:p>
        </p:txBody>
      </p:sp>
      <p:sp>
        <p:nvSpPr>
          <p:cNvPr id="771" name="Google Shape;771;p32"/>
          <p:cNvSpPr/>
          <p:nvPr/>
        </p:nvSpPr>
        <p:spPr>
          <a:xfrm>
            <a:off x="428625" y="1771650"/>
            <a:ext cx="5379244" cy="600075"/>
          </a:xfrm>
          <a:custGeom>
            <a:rect b="b" l="l" r="r" t="t"/>
            <a:pathLst>
              <a:path extrusionOk="0" h="800100" w="7172325">
                <a:moveTo>
                  <a:pt x="38101" y="0"/>
                </a:moveTo>
                <a:lnTo>
                  <a:pt x="7134224" y="0"/>
                </a:lnTo>
                <a:cubicBezTo>
                  <a:pt x="7155267" y="0"/>
                  <a:pt x="7172325" y="17058"/>
                  <a:pt x="7172325" y="38101"/>
                </a:cubicBezTo>
                <a:lnTo>
                  <a:pt x="7172325" y="761999"/>
                </a:lnTo>
                <a:cubicBezTo>
                  <a:pt x="7172325" y="783042"/>
                  <a:pt x="7155267" y="800100"/>
                  <a:pt x="71342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508100" y="1868100"/>
            <a:ext cx="52419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pub type ConnectionMap = Arc&lt;RwLock&lt;HashMap&lt;i64,HashMap&lt;Uuid, mpsc::Sender&lt;ServerMessage&gt;&gt;&gt;&gt;&gt;;</a:t>
            </a:r>
            <a:endParaRPr b="0" i="0" sz="1200" u="none" cap="none" strike="noStrike"/>
          </a:p>
        </p:txBody>
      </p:sp>
      <p:sp>
        <p:nvSpPr>
          <p:cNvPr id="773" name="Google Shape;773;p32"/>
          <p:cNvSpPr/>
          <p:nvPr/>
        </p:nvSpPr>
        <p:spPr>
          <a:xfrm>
            <a:off x="285750" y="2614613"/>
            <a:ext cx="2764631" cy="2243138"/>
          </a:xfrm>
          <a:custGeom>
            <a:rect b="b" l="l" r="r" t="t"/>
            <a:pathLst>
              <a:path extrusionOk="0" h="2990850" w="368617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914643"/>
                </a:lnTo>
                <a:cubicBezTo>
                  <a:pt x="3686175" y="2956731"/>
                  <a:pt x="3652056" y="2990850"/>
                  <a:pt x="3609968" y="2990850"/>
                </a:cubicBezTo>
                <a:lnTo>
                  <a:pt x="76207" y="2990850"/>
                </a:lnTo>
                <a:cubicBezTo>
                  <a:pt x="34119" y="2990850"/>
                  <a:pt x="0" y="2956731"/>
                  <a:pt x="0" y="2914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285750" y="2614613"/>
            <a:ext cx="2764631" cy="28575"/>
          </a:xfrm>
          <a:custGeom>
            <a:rect b="b" l="l" r="r" t="t"/>
            <a:pathLst>
              <a:path extrusionOk="0" h="38100" w="368617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417910" y="2778919"/>
            <a:ext cx="128588" cy="128588"/>
          </a:xfrm>
          <a:custGeom>
            <a:rect b="b" l="l" r="r" t="t"/>
            <a:pathLst>
              <a:path extrusionOk="0" h="171450" w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617935" y="2743200"/>
            <a:ext cx="8072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Tokio Tasks</a:t>
            </a:r>
            <a:endParaRPr b="0" i="0" sz="1200" u="none" cap="none" strike="noStrike"/>
          </a:p>
        </p:txBody>
      </p:sp>
      <p:sp>
        <p:nvSpPr>
          <p:cNvPr id="777" name="Google Shape;777;p32"/>
          <p:cNvSpPr/>
          <p:nvPr/>
        </p:nvSpPr>
        <p:spPr>
          <a:xfrm>
            <a:off x="400050" y="3364706"/>
            <a:ext cx="2593181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Sfrutta il runtime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Tokio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 gestire in modo efficiente le operazioni asincrone e la concorrenza.</a:t>
            </a:r>
            <a:endParaRPr b="0" i="0" sz="1200" u="none" cap="none" strike="noStrike"/>
          </a:p>
        </p:txBody>
      </p:sp>
      <p:sp>
        <p:nvSpPr>
          <p:cNvPr id="778" name="Google Shape;778;p32"/>
          <p:cNvSpPr/>
          <p:nvPr/>
        </p:nvSpPr>
        <p:spPr>
          <a:xfrm>
            <a:off x="420588" y="3875484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2"/>
          <p:cNvSpPr/>
          <p:nvPr/>
        </p:nvSpPr>
        <p:spPr>
          <a:xfrm>
            <a:off x="550069" y="385405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send_task: invio messaggi</a:t>
            </a:r>
            <a:endParaRPr b="0" i="0" sz="1200" u="none" cap="none" strike="noStrike"/>
          </a:p>
        </p:txBody>
      </p:sp>
      <p:sp>
        <p:nvSpPr>
          <p:cNvPr id="780" name="Google Shape;780;p32"/>
          <p:cNvSpPr/>
          <p:nvPr/>
        </p:nvSpPr>
        <p:spPr>
          <a:xfrm>
            <a:off x="420588" y="4046934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2"/>
          <p:cNvSpPr/>
          <p:nvPr/>
        </p:nvSpPr>
        <p:spPr>
          <a:xfrm>
            <a:off x="550069" y="402550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recv_task: ricezione messaggi</a:t>
            </a:r>
            <a:endParaRPr b="0" i="0" sz="1200" u="none" cap="none" strike="noStrike"/>
          </a:p>
        </p:txBody>
      </p:sp>
      <p:sp>
        <p:nvSpPr>
          <p:cNvPr id="782" name="Google Shape;782;p32"/>
          <p:cNvSpPr/>
          <p:nvPr/>
        </p:nvSpPr>
        <p:spPr>
          <a:xfrm>
            <a:off x="420588" y="4218384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2"/>
          <p:cNvSpPr/>
          <p:nvPr/>
        </p:nvSpPr>
        <p:spPr>
          <a:xfrm>
            <a:off x="550069" y="419695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 logger: ogni 2 min</a:t>
            </a:r>
            <a:endParaRPr b="0" i="0" sz="1200" u="none" cap="none" strike="noStrike"/>
          </a:p>
        </p:txBody>
      </p:sp>
      <p:sp>
        <p:nvSpPr>
          <p:cNvPr id="784" name="Google Shape;784;p32"/>
          <p:cNvSpPr/>
          <p:nvPr/>
        </p:nvSpPr>
        <p:spPr>
          <a:xfrm>
            <a:off x="3162281" y="2614613"/>
            <a:ext cx="2764631" cy="2243138"/>
          </a:xfrm>
          <a:custGeom>
            <a:rect b="b" l="l" r="r" t="t"/>
            <a:pathLst>
              <a:path extrusionOk="0" h="2990850" w="368617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914643"/>
                </a:lnTo>
                <a:cubicBezTo>
                  <a:pt x="3686175" y="2956731"/>
                  <a:pt x="3652056" y="2990850"/>
                  <a:pt x="3609968" y="2990850"/>
                </a:cubicBezTo>
                <a:lnTo>
                  <a:pt x="76207" y="2990850"/>
                </a:lnTo>
                <a:cubicBezTo>
                  <a:pt x="34119" y="2990850"/>
                  <a:pt x="0" y="2956731"/>
                  <a:pt x="0" y="2914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3162281" y="2614613"/>
            <a:ext cx="2764631" cy="28575"/>
          </a:xfrm>
          <a:custGeom>
            <a:rect b="b" l="l" r="r" t="t"/>
            <a:pathLst>
              <a:path extrusionOk="0" h="38100" w="368617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2"/>
          <p:cNvSpPr/>
          <p:nvPr/>
        </p:nvSpPr>
        <p:spPr>
          <a:xfrm>
            <a:off x="3294441" y="2778919"/>
            <a:ext cx="128588" cy="128588"/>
          </a:xfrm>
          <a:custGeom>
            <a:rect b="b" l="l" r="r" t="t"/>
            <a:pathLst>
              <a:path extrusionOk="0" h="171450" w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3494466" y="2743200"/>
            <a:ext cx="8072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CPU Logger</a:t>
            </a:r>
            <a:endParaRPr b="0" i="0" sz="1200" u="none" cap="none" strike="noStrike"/>
          </a:p>
        </p:txBody>
      </p:sp>
      <p:sp>
        <p:nvSpPr>
          <p:cNvPr id="788" name="Google Shape;788;p32"/>
          <p:cNvSpPr/>
          <p:nvPr/>
        </p:nvSpPr>
        <p:spPr>
          <a:xfrm>
            <a:off x="3276581" y="3443288"/>
            <a:ext cx="2593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 di background che monitora e registra costantemente l'utilizzo della CPU del server.</a:t>
            </a:r>
            <a:endParaRPr b="0" i="0" sz="1200" u="none" cap="none" strike="noStrike"/>
          </a:p>
        </p:txBody>
      </p:sp>
      <p:sp>
        <p:nvSpPr>
          <p:cNvPr id="789" name="Google Shape;789;p32"/>
          <p:cNvSpPr/>
          <p:nvPr/>
        </p:nvSpPr>
        <p:spPr>
          <a:xfrm>
            <a:off x="3290869" y="387548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2"/>
          <p:cNvSpPr/>
          <p:nvPr/>
        </p:nvSpPr>
        <p:spPr>
          <a:xfrm>
            <a:off x="3426600" y="385405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Intervallo: 120 secondi</a:t>
            </a:r>
            <a:endParaRPr b="0" i="0" sz="1200" u="none" cap="none" strike="noStrike"/>
          </a:p>
        </p:txBody>
      </p:sp>
      <p:sp>
        <p:nvSpPr>
          <p:cNvPr id="791" name="Google Shape;791;p32"/>
          <p:cNvSpPr/>
          <p:nvPr/>
        </p:nvSpPr>
        <p:spPr>
          <a:xfrm>
            <a:off x="3284618" y="4046934"/>
            <a:ext cx="112514" cy="100013"/>
          </a:xfrm>
          <a:custGeom>
            <a:rect b="b" l="l" r="r" t="t"/>
            <a:pathLst>
              <a:path extrusionOk="0" h="133350" w="150019">
                <a:moveTo>
                  <a:pt x="75009" y="-4167"/>
                </a:moveTo>
                <a:cubicBezTo>
                  <a:pt x="79619" y="-4167"/>
                  <a:pt x="83344" y="-443"/>
                  <a:pt x="83344" y="4167"/>
                </a:cubicBezTo>
                <a:lnTo>
                  <a:pt x="83344" y="8933"/>
                </a:lnTo>
                <a:cubicBezTo>
                  <a:pt x="108894" y="12580"/>
                  <a:pt x="129105" y="32791"/>
                  <a:pt x="132751" y="58341"/>
                </a:cubicBezTo>
                <a:lnTo>
                  <a:pt x="137517" y="58341"/>
                </a:lnTo>
                <a:cubicBezTo>
                  <a:pt x="142127" y="58341"/>
                  <a:pt x="145852" y="62065"/>
                  <a:pt x="145852" y="66675"/>
                </a:cubicBezTo>
                <a:cubicBezTo>
                  <a:pt x="145852" y="71285"/>
                  <a:pt x="142127" y="75009"/>
                  <a:pt x="137517" y="75009"/>
                </a:cubicBezTo>
                <a:lnTo>
                  <a:pt x="132751" y="75009"/>
                </a:lnTo>
                <a:cubicBezTo>
                  <a:pt x="129105" y="100559"/>
                  <a:pt x="108894" y="120770"/>
                  <a:pt x="83344" y="124417"/>
                </a:cubicBezTo>
                <a:lnTo>
                  <a:pt x="83344" y="129183"/>
                </a:lnTo>
                <a:cubicBezTo>
                  <a:pt x="83344" y="133793"/>
                  <a:pt x="79619" y="137517"/>
                  <a:pt x="75009" y="137517"/>
                </a:cubicBezTo>
                <a:cubicBezTo>
                  <a:pt x="70399" y="137517"/>
                  <a:pt x="66675" y="133793"/>
                  <a:pt x="66675" y="129183"/>
                </a:cubicBezTo>
                <a:lnTo>
                  <a:pt x="66675" y="124417"/>
                </a:lnTo>
                <a:cubicBezTo>
                  <a:pt x="41125" y="120770"/>
                  <a:pt x="20914" y="100559"/>
                  <a:pt x="17268" y="75009"/>
                </a:cubicBezTo>
                <a:lnTo>
                  <a:pt x="12502" y="75009"/>
                </a:lnTo>
                <a:cubicBezTo>
                  <a:pt x="7892" y="75009"/>
                  <a:pt x="4167" y="71285"/>
                  <a:pt x="4167" y="66675"/>
                </a:cubicBezTo>
                <a:cubicBezTo>
                  <a:pt x="4167" y="62065"/>
                  <a:pt x="7892" y="58341"/>
                  <a:pt x="12502" y="58341"/>
                </a:cubicBezTo>
                <a:lnTo>
                  <a:pt x="17268" y="58341"/>
                </a:lnTo>
                <a:cubicBezTo>
                  <a:pt x="20914" y="32791"/>
                  <a:pt x="41125" y="12580"/>
                  <a:pt x="66675" y="8933"/>
                </a:cubicBezTo>
                <a:lnTo>
                  <a:pt x="66675" y="4167"/>
                </a:lnTo>
                <a:cubicBezTo>
                  <a:pt x="66675" y="-443"/>
                  <a:pt x="70399" y="-4167"/>
                  <a:pt x="75009" y="-4167"/>
                </a:cubicBezTo>
                <a:close/>
                <a:moveTo>
                  <a:pt x="34171" y="75009"/>
                </a:moveTo>
                <a:cubicBezTo>
                  <a:pt x="37479" y="91340"/>
                  <a:pt x="50345" y="104206"/>
                  <a:pt x="66675" y="107513"/>
                </a:cubicBezTo>
                <a:lnTo>
                  <a:pt x="66675" y="104180"/>
                </a:lnTo>
                <a:cubicBezTo>
                  <a:pt x="66675" y="99570"/>
                  <a:pt x="70399" y="95845"/>
                  <a:pt x="75009" y="95845"/>
                </a:cubicBezTo>
                <a:cubicBezTo>
                  <a:pt x="79619" y="95845"/>
                  <a:pt x="83344" y="99570"/>
                  <a:pt x="83344" y="104180"/>
                </a:cubicBezTo>
                <a:lnTo>
                  <a:pt x="83344" y="107513"/>
                </a:lnTo>
                <a:cubicBezTo>
                  <a:pt x="99674" y="104206"/>
                  <a:pt x="112540" y="91340"/>
                  <a:pt x="115848" y="75009"/>
                </a:cubicBezTo>
                <a:lnTo>
                  <a:pt x="112514" y="75009"/>
                </a:lnTo>
                <a:cubicBezTo>
                  <a:pt x="107904" y="75009"/>
                  <a:pt x="104180" y="71285"/>
                  <a:pt x="104180" y="66675"/>
                </a:cubicBezTo>
                <a:cubicBezTo>
                  <a:pt x="104180" y="62065"/>
                  <a:pt x="107904" y="58341"/>
                  <a:pt x="112514" y="58341"/>
                </a:cubicBezTo>
                <a:lnTo>
                  <a:pt x="115848" y="58341"/>
                </a:lnTo>
                <a:cubicBezTo>
                  <a:pt x="112540" y="42010"/>
                  <a:pt x="99674" y="29144"/>
                  <a:pt x="83344" y="25837"/>
                </a:cubicBezTo>
                <a:lnTo>
                  <a:pt x="83344" y="29170"/>
                </a:lnTo>
                <a:cubicBezTo>
                  <a:pt x="83344" y="33780"/>
                  <a:pt x="79619" y="37505"/>
                  <a:pt x="75009" y="37505"/>
                </a:cubicBezTo>
                <a:cubicBezTo>
                  <a:pt x="70399" y="37505"/>
                  <a:pt x="66675" y="33780"/>
                  <a:pt x="66675" y="29170"/>
                </a:cubicBezTo>
                <a:lnTo>
                  <a:pt x="66675" y="25837"/>
                </a:lnTo>
                <a:cubicBezTo>
                  <a:pt x="50345" y="29144"/>
                  <a:pt x="37479" y="42010"/>
                  <a:pt x="34171" y="58341"/>
                </a:cubicBezTo>
                <a:lnTo>
                  <a:pt x="37505" y="58341"/>
                </a:lnTo>
                <a:cubicBezTo>
                  <a:pt x="42115" y="58341"/>
                  <a:pt x="45839" y="62065"/>
                  <a:pt x="45839" y="66675"/>
                </a:cubicBezTo>
                <a:cubicBezTo>
                  <a:pt x="45839" y="71285"/>
                  <a:pt x="42115" y="75009"/>
                  <a:pt x="37505" y="75009"/>
                </a:cubicBezTo>
                <a:lnTo>
                  <a:pt x="34171" y="75009"/>
                </a:lnTo>
                <a:close/>
                <a:moveTo>
                  <a:pt x="75009" y="54173"/>
                </a:moveTo>
                <a:cubicBezTo>
                  <a:pt x="81909" y="54173"/>
                  <a:pt x="87511" y="59775"/>
                  <a:pt x="87511" y="66675"/>
                </a:cubicBezTo>
                <a:cubicBezTo>
                  <a:pt x="87511" y="73575"/>
                  <a:pt x="81909" y="79177"/>
                  <a:pt x="75009" y="79177"/>
                </a:cubicBezTo>
                <a:cubicBezTo>
                  <a:pt x="68110" y="79177"/>
                  <a:pt x="62508" y="73575"/>
                  <a:pt x="62508" y="66675"/>
                </a:cubicBezTo>
                <a:cubicBezTo>
                  <a:pt x="62508" y="59775"/>
                  <a:pt x="68110" y="54173"/>
                  <a:pt x="75009" y="5417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2"/>
          <p:cNvSpPr/>
          <p:nvPr/>
        </p:nvSpPr>
        <p:spPr>
          <a:xfrm>
            <a:off x="3426600" y="402550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Cross-platform</a:t>
            </a:r>
            <a:endParaRPr b="0" i="0" sz="1200" u="none" cap="none" strike="noStrike"/>
          </a:p>
        </p:txBody>
      </p:sp>
      <p:sp>
        <p:nvSpPr>
          <p:cNvPr id="793" name="Google Shape;793;p32"/>
          <p:cNvSpPr/>
          <p:nvPr/>
        </p:nvSpPr>
        <p:spPr>
          <a:xfrm>
            <a:off x="3297120" y="4218384"/>
            <a:ext cx="87511" cy="100013"/>
          </a:xfrm>
          <a:custGeom>
            <a:rect b="b" l="l" r="r" t="t"/>
            <a:pathLst>
              <a:path extrusionOk="0" h="133350" w="116681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3426600" y="4196953"/>
            <a:ext cx="24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 blocca chat</a:t>
            </a:r>
            <a:endParaRPr b="0" i="0" sz="1200" u="none" cap="none" strike="noStrike"/>
          </a:p>
        </p:txBody>
      </p:sp>
      <p:sp>
        <p:nvSpPr>
          <p:cNvPr id="795" name="Google Shape;795;p32"/>
          <p:cNvSpPr/>
          <p:nvPr/>
        </p:nvSpPr>
        <p:spPr>
          <a:xfrm>
            <a:off x="6042440" y="414980"/>
            <a:ext cx="2814638" cy="2007394"/>
          </a:xfrm>
          <a:custGeom>
            <a:rect b="b" l="l" r="r" t="t"/>
            <a:pathLst>
              <a:path extrusionOk="0" h="2676525" w="3752850">
                <a:moveTo>
                  <a:pt x="76201" y="0"/>
                </a:moveTo>
                <a:lnTo>
                  <a:pt x="3676649" y="0"/>
                </a:lnTo>
                <a:cubicBezTo>
                  <a:pt x="3718734" y="0"/>
                  <a:pt x="3752850" y="34116"/>
                  <a:pt x="3752850" y="76201"/>
                </a:cubicBezTo>
                <a:lnTo>
                  <a:pt x="3752850" y="2600324"/>
                </a:lnTo>
                <a:cubicBezTo>
                  <a:pt x="3752850" y="2642409"/>
                  <a:pt x="3718734" y="2676525"/>
                  <a:pt x="3676649" y="2676525"/>
                </a:cubicBezTo>
                <a:lnTo>
                  <a:pt x="76201" y="2676525"/>
                </a:lnTo>
                <a:cubicBezTo>
                  <a:pt x="34116" y="2676525"/>
                  <a:pt x="0" y="2642409"/>
                  <a:pt x="0" y="26003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6160313" y="532852"/>
            <a:ext cx="26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Struttura Dati</a:t>
            </a:r>
            <a:endParaRPr b="0" i="0" sz="1200" u="none" cap="none" strike="noStrike"/>
          </a:p>
        </p:txBody>
      </p:sp>
      <p:sp>
        <p:nvSpPr>
          <p:cNvPr id="797" name="Google Shape;797;p32"/>
          <p:cNvSpPr/>
          <p:nvPr/>
        </p:nvSpPr>
        <p:spPr>
          <a:xfrm>
            <a:off x="6160313" y="818602"/>
            <a:ext cx="2578894" cy="457200"/>
          </a:xfrm>
          <a:custGeom>
            <a:rect b="b" l="l" r="r" t="t"/>
            <a:pathLst>
              <a:path extrusionOk="0" h="609600" w="3438525">
                <a:moveTo>
                  <a:pt x="38100" y="0"/>
                </a:moveTo>
                <a:lnTo>
                  <a:pt x="3400425" y="0"/>
                </a:lnTo>
                <a:cubicBezTo>
                  <a:pt x="3421453" y="0"/>
                  <a:pt x="3438525" y="17072"/>
                  <a:pt x="3438525" y="38100"/>
                </a:cubicBezTo>
                <a:lnTo>
                  <a:pt x="3438525" y="571500"/>
                </a:lnTo>
                <a:cubicBezTo>
                  <a:pt x="3438525" y="592528"/>
                  <a:pt x="3421453" y="609600"/>
                  <a:pt x="34004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2"/>
          <p:cNvSpPr/>
          <p:nvPr/>
        </p:nvSpPr>
        <p:spPr>
          <a:xfrm>
            <a:off x="6217463" y="875752"/>
            <a:ext cx="2521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i64</a:t>
            </a:r>
            <a:endParaRPr b="0" i="0" sz="1200" u="none" cap="none" strike="noStrike"/>
          </a:p>
        </p:txBody>
      </p:sp>
      <p:sp>
        <p:nvSpPr>
          <p:cNvPr id="799" name="Google Shape;799;p32"/>
          <p:cNvSpPr/>
          <p:nvPr/>
        </p:nvSpPr>
        <p:spPr>
          <a:xfrm>
            <a:off x="6217463" y="1075777"/>
            <a:ext cx="2514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ID dal database</a:t>
            </a:r>
            <a:endParaRPr b="0" i="0" sz="1200" u="none" cap="none" strike="noStrike"/>
          </a:p>
        </p:txBody>
      </p:sp>
      <p:sp>
        <p:nvSpPr>
          <p:cNvPr id="800" name="Google Shape;800;p32"/>
          <p:cNvSpPr/>
          <p:nvPr/>
        </p:nvSpPr>
        <p:spPr>
          <a:xfrm>
            <a:off x="6160313" y="1332952"/>
            <a:ext cx="2578894" cy="457200"/>
          </a:xfrm>
          <a:custGeom>
            <a:rect b="b" l="l" r="r" t="t"/>
            <a:pathLst>
              <a:path extrusionOk="0" h="609600" w="3438525">
                <a:moveTo>
                  <a:pt x="38100" y="0"/>
                </a:moveTo>
                <a:lnTo>
                  <a:pt x="3400425" y="0"/>
                </a:lnTo>
                <a:cubicBezTo>
                  <a:pt x="3421453" y="0"/>
                  <a:pt x="3438525" y="17072"/>
                  <a:pt x="3438525" y="38100"/>
                </a:cubicBezTo>
                <a:lnTo>
                  <a:pt x="3438525" y="571500"/>
                </a:lnTo>
                <a:cubicBezTo>
                  <a:pt x="3438525" y="592528"/>
                  <a:pt x="3421453" y="609600"/>
                  <a:pt x="34004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6217463" y="1390102"/>
            <a:ext cx="2521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UUID</a:t>
            </a:r>
            <a:endParaRPr b="0" i="0" sz="1200" u="none" cap="none" strike="noStrike"/>
          </a:p>
        </p:txBody>
      </p:sp>
      <p:sp>
        <p:nvSpPr>
          <p:cNvPr id="802" name="Google Shape;802;p32"/>
          <p:cNvSpPr/>
          <p:nvPr/>
        </p:nvSpPr>
        <p:spPr>
          <a:xfrm>
            <a:off x="6217463" y="1590127"/>
            <a:ext cx="2514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 device/sessione</a:t>
            </a:r>
            <a:endParaRPr b="0" i="0" sz="1200" u="none" cap="none" strike="noStrike"/>
          </a:p>
        </p:txBody>
      </p:sp>
      <p:sp>
        <p:nvSpPr>
          <p:cNvPr id="803" name="Google Shape;803;p32"/>
          <p:cNvSpPr/>
          <p:nvPr/>
        </p:nvSpPr>
        <p:spPr>
          <a:xfrm>
            <a:off x="6160313" y="1847302"/>
            <a:ext cx="2578894" cy="457200"/>
          </a:xfrm>
          <a:custGeom>
            <a:rect b="b" l="l" r="r" t="t"/>
            <a:pathLst>
              <a:path extrusionOk="0" h="609600" w="3438525">
                <a:moveTo>
                  <a:pt x="38100" y="0"/>
                </a:moveTo>
                <a:lnTo>
                  <a:pt x="3400425" y="0"/>
                </a:lnTo>
                <a:cubicBezTo>
                  <a:pt x="3421453" y="0"/>
                  <a:pt x="3438525" y="17072"/>
                  <a:pt x="3438525" y="38100"/>
                </a:cubicBezTo>
                <a:lnTo>
                  <a:pt x="3438525" y="571500"/>
                </a:lnTo>
                <a:cubicBezTo>
                  <a:pt x="3438525" y="592528"/>
                  <a:pt x="3421453" y="609600"/>
                  <a:pt x="34004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2"/>
          <p:cNvSpPr/>
          <p:nvPr/>
        </p:nvSpPr>
        <p:spPr>
          <a:xfrm>
            <a:off x="6217463" y="1904452"/>
            <a:ext cx="2521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mpsc::Sender</a:t>
            </a:r>
            <a:endParaRPr b="0" i="0" sz="1200" u="none" cap="none" strike="noStrike"/>
          </a:p>
        </p:txBody>
      </p:sp>
      <p:sp>
        <p:nvSpPr>
          <p:cNvPr id="805" name="Google Shape;805;p32"/>
          <p:cNvSpPr/>
          <p:nvPr/>
        </p:nvSpPr>
        <p:spPr>
          <a:xfrm>
            <a:off x="6217463" y="2104477"/>
            <a:ext cx="2514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Canale Tokio per invio</a:t>
            </a:r>
            <a:endParaRPr b="0" i="0" sz="1200" u="none" cap="none" strike="noStrike"/>
          </a:p>
        </p:txBody>
      </p:sp>
      <p:sp>
        <p:nvSpPr>
          <p:cNvPr id="806" name="Google Shape;806;p32"/>
          <p:cNvSpPr/>
          <p:nvPr/>
        </p:nvSpPr>
        <p:spPr>
          <a:xfrm>
            <a:off x="6038819" y="2541348"/>
            <a:ext cx="2821781" cy="942975"/>
          </a:xfrm>
          <a:custGeom>
            <a:rect b="b" l="l" r="r" t="t"/>
            <a:pathLst>
              <a:path extrusionOk="0" h="1257300" w="3762375">
                <a:moveTo>
                  <a:pt x="76205" y="0"/>
                </a:moveTo>
                <a:lnTo>
                  <a:pt x="3686170" y="0"/>
                </a:lnTo>
                <a:cubicBezTo>
                  <a:pt x="3728257" y="0"/>
                  <a:pt x="3762375" y="34118"/>
                  <a:pt x="3762375" y="76205"/>
                </a:cubicBezTo>
                <a:lnTo>
                  <a:pt x="3762375" y="1181095"/>
                </a:lnTo>
                <a:cubicBezTo>
                  <a:pt x="3762375" y="1223182"/>
                  <a:pt x="3728257" y="1257300"/>
                  <a:pt x="36861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6153119" y="2655648"/>
            <a:ext cx="26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Vantaggi</a:t>
            </a:r>
            <a:endParaRPr b="0" i="0" sz="1200" u="none" cap="none" strike="noStrike"/>
          </a:p>
        </p:txBody>
      </p:sp>
      <p:sp>
        <p:nvSpPr>
          <p:cNvPr id="808" name="Google Shape;808;p32"/>
          <p:cNvSpPr/>
          <p:nvPr/>
        </p:nvSpPr>
        <p:spPr>
          <a:xfrm>
            <a:off x="6173657" y="2909252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6303138" y="2884248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Multi-device per utente</a:t>
            </a:r>
            <a:endParaRPr b="0" i="0" sz="1200" u="none" cap="none" strike="noStrike"/>
          </a:p>
        </p:txBody>
      </p:sp>
      <p:sp>
        <p:nvSpPr>
          <p:cNvPr id="810" name="Google Shape;810;p32"/>
          <p:cNvSpPr/>
          <p:nvPr/>
        </p:nvSpPr>
        <p:spPr>
          <a:xfrm>
            <a:off x="6173657" y="3080702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6303138" y="3055698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Broadcast efficiente</a:t>
            </a:r>
            <a:endParaRPr b="0" i="0" sz="1200" u="none" cap="none" strike="noStrike"/>
          </a:p>
        </p:txBody>
      </p:sp>
      <p:sp>
        <p:nvSpPr>
          <p:cNvPr id="812" name="Google Shape;812;p32"/>
          <p:cNvSpPr/>
          <p:nvPr/>
        </p:nvSpPr>
        <p:spPr>
          <a:xfrm>
            <a:off x="6173657" y="3252152"/>
            <a:ext cx="87511" cy="100012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6303138" y="3227148"/>
            <a:ext cx="2493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Thread-safe con RwLock</a:t>
            </a:r>
            <a:endParaRPr b="0" i="0" sz="1200" u="none" cap="none" strike="noStrike"/>
          </a:p>
        </p:txBody>
      </p:sp>
      <p:sp>
        <p:nvSpPr>
          <p:cNvPr id="814" name="Google Shape;81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815" name="Google Shape;815;p32" title="log_screen.png"/>
          <p:cNvPicPr preferRelativeResize="0"/>
          <p:nvPr/>
        </p:nvPicPr>
        <p:blipFill rotWithShape="1">
          <a:blip r:embed="rId3">
            <a:alphaModFix/>
          </a:blip>
          <a:srcRect b="-1539" l="9049" r="3346" t="22594"/>
          <a:stretch/>
        </p:blipFill>
        <p:spPr>
          <a:xfrm>
            <a:off x="4754950" y="3831825"/>
            <a:ext cx="410565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5_db.png" id="821" name="Google Shape;821;p33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22" name="Google Shape;822;p3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823" name="Google Shape;823;p33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b="0" i="0" sz="1200" u="none" cap="none" strike="noStrike"/>
          </a:p>
        </p:txBody>
      </p:sp>
      <p:sp>
        <p:nvSpPr>
          <p:cNvPr id="824" name="Google Shape;824;p33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</a:t>
            </a:r>
            <a:endParaRPr b="0" i="0" sz="1200" u="none" cap="none" strike="noStrike"/>
          </a:p>
        </p:txBody>
      </p:sp>
      <p:sp>
        <p:nvSpPr>
          <p:cNvPr id="825" name="Google Shape;825;p33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Persistenza e gestione dati</a:t>
            </a:r>
            <a:endParaRPr b="0" i="0" sz="1200" u="none" cap="none" strike="noStrike"/>
          </a:p>
        </p:txBody>
      </p:sp>
      <p:sp>
        <p:nvSpPr>
          <p:cNvPr id="826" name="Google Shape;826;p33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827" name="Google Shape;8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4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 Schema</a:t>
            </a:r>
            <a:endParaRPr b="0" i="0" sz="1200" u="none" cap="none" strike="noStrike"/>
          </a:p>
        </p:txBody>
      </p:sp>
      <p:sp>
        <p:nvSpPr>
          <p:cNvPr id="835" name="Google Shape;835;p34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Schema Database e Tabelle</a:t>
            </a:r>
            <a:endParaRPr b="0" i="0" sz="1200" u="none" cap="none" strike="noStrike"/>
          </a:p>
        </p:txBody>
      </p:sp>
      <p:sp>
        <p:nvSpPr>
          <p:cNvPr id="836" name="Google Shape;836;p34"/>
          <p:cNvSpPr/>
          <p:nvPr/>
        </p:nvSpPr>
        <p:spPr>
          <a:xfrm>
            <a:off x="285750" y="842963"/>
            <a:ext cx="2800350" cy="1543050"/>
          </a:xfrm>
          <a:custGeom>
            <a:rect b="b" l="l" r="r" t="t"/>
            <a:pathLst>
              <a:path extrusionOk="0" h="20574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981194"/>
                </a:lnTo>
                <a:cubicBezTo>
                  <a:pt x="3733800" y="2023281"/>
                  <a:pt x="3699681" y="2057400"/>
                  <a:pt x="36575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285750" y="842963"/>
            <a:ext cx="2800350" cy="28575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400050" y="1000125"/>
            <a:ext cx="178594" cy="142875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635794" y="971550"/>
            <a:ext cx="4071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users</a:t>
            </a:r>
            <a:endParaRPr b="0" i="0" sz="1200" u="none" cap="none" strike="noStrike"/>
          </a:p>
        </p:txBody>
      </p:sp>
      <p:sp>
        <p:nvSpPr>
          <p:cNvPr id="840" name="Google Shape;840;p34"/>
          <p:cNvSpPr/>
          <p:nvPr/>
        </p:nvSpPr>
        <p:spPr>
          <a:xfrm>
            <a:off x="400050" y="1228725"/>
            <a:ext cx="26289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Memorizza identità e credenziali degli utenti.</a:t>
            </a:r>
            <a:endParaRPr b="0" i="0" sz="1200" u="none" cap="none" strike="noStrike"/>
          </a:p>
        </p:txBody>
      </p:sp>
      <p:sp>
        <p:nvSpPr>
          <p:cNvPr id="841" name="Google Shape;841;p34"/>
          <p:cNvSpPr/>
          <p:nvPr/>
        </p:nvSpPr>
        <p:spPr>
          <a:xfrm>
            <a:off x="414338" y="1810941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550069" y="1785938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PK autoincrement</a:t>
            </a:r>
            <a:endParaRPr b="0" i="0" sz="1200" u="none" cap="none" strike="noStrike"/>
          </a:p>
        </p:txBody>
      </p:sp>
      <p:sp>
        <p:nvSpPr>
          <p:cNvPr id="843" name="Google Shape;843;p34"/>
          <p:cNvSpPr/>
          <p:nvPr/>
        </p:nvSpPr>
        <p:spPr>
          <a:xfrm>
            <a:off x="420588" y="1982391"/>
            <a:ext cx="87511" cy="100013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550069" y="1957388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username: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univoco</a:t>
            </a:r>
            <a:endParaRPr b="0" i="0" sz="1200" u="none" cap="none" strike="noStrike"/>
          </a:p>
        </p:txBody>
      </p:sp>
      <p:sp>
        <p:nvSpPr>
          <p:cNvPr id="845" name="Google Shape;845;p34"/>
          <p:cNvSpPr/>
          <p:nvPr/>
        </p:nvSpPr>
        <p:spPr>
          <a:xfrm>
            <a:off x="426839" y="2153841"/>
            <a:ext cx="75010" cy="100013"/>
          </a:xfrm>
          <a:custGeom>
            <a:rect b="b" l="l" r="r" t="t"/>
            <a:pathLst>
              <a:path extrusionOk="0" h="133350" w="100013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"/>
          <p:cNvSpPr/>
          <p:nvPr/>
        </p:nvSpPr>
        <p:spPr>
          <a:xfrm>
            <a:off x="550069" y="2128838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password_hash: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Argon2</a:t>
            </a:r>
            <a:endParaRPr b="0" i="0" sz="1200" u="none" cap="none" strike="noStrike"/>
          </a:p>
        </p:txBody>
      </p:sp>
      <p:sp>
        <p:nvSpPr>
          <p:cNvPr id="847" name="Google Shape;847;p34"/>
          <p:cNvSpPr/>
          <p:nvPr/>
        </p:nvSpPr>
        <p:spPr>
          <a:xfrm>
            <a:off x="3171825" y="842963"/>
            <a:ext cx="2800350" cy="1543050"/>
          </a:xfrm>
          <a:custGeom>
            <a:rect b="b" l="l" r="r" t="t"/>
            <a:pathLst>
              <a:path extrusionOk="0" h="20574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981194"/>
                </a:lnTo>
                <a:cubicBezTo>
                  <a:pt x="3733800" y="2023281"/>
                  <a:pt x="3699681" y="2057400"/>
                  <a:pt x="36575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4"/>
          <p:cNvSpPr/>
          <p:nvPr/>
        </p:nvSpPr>
        <p:spPr>
          <a:xfrm>
            <a:off x="3171825" y="842963"/>
            <a:ext cx="2800350" cy="28575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3295055" y="1000125"/>
            <a:ext cx="160735" cy="142875"/>
          </a:xfrm>
          <a:custGeom>
            <a:rect b="b" l="l" r="r" t="t"/>
            <a:pathLst>
              <a:path extrusionOk="0" h="190500" w="214313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4"/>
          <p:cNvSpPr/>
          <p:nvPr/>
        </p:nvSpPr>
        <p:spPr>
          <a:xfrm>
            <a:off x="3521869" y="971550"/>
            <a:ext cx="5000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groups</a:t>
            </a:r>
            <a:endParaRPr b="0" i="0" sz="1200" u="none" cap="none" strike="noStrike"/>
          </a:p>
        </p:txBody>
      </p:sp>
      <p:sp>
        <p:nvSpPr>
          <p:cNvPr id="851" name="Google Shape;851;p34"/>
          <p:cNvSpPr/>
          <p:nvPr/>
        </p:nvSpPr>
        <p:spPr>
          <a:xfrm>
            <a:off x="3286125" y="1228725"/>
            <a:ext cx="26289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Definisce gruppi e chat private (DM).</a:t>
            </a:r>
            <a:endParaRPr b="0" i="0" sz="1200" u="none" cap="none" strike="noStrike"/>
          </a:p>
        </p:txBody>
      </p:sp>
      <p:sp>
        <p:nvSpPr>
          <p:cNvPr id="852" name="Google Shape;852;p34"/>
          <p:cNvSpPr/>
          <p:nvPr/>
        </p:nvSpPr>
        <p:spPr>
          <a:xfrm>
            <a:off x="3300413" y="1810941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3436144" y="178593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PK autoincrement</a:t>
            </a:r>
            <a:endParaRPr b="0" i="0" sz="1200" u="none" cap="none" strike="noStrike"/>
          </a:p>
        </p:txBody>
      </p:sp>
      <p:sp>
        <p:nvSpPr>
          <p:cNvPr id="854" name="Google Shape;854;p34"/>
          <p:cNvSpPr/>
          <p:nvPr/>
        </p:nvSpPr>
        <p:spPr>
          <a:xfrm>
            <a:off x="3300413" y="1982391"/>
            <a:ext cx="100013" cy="100013"/>
          </a:xfrm>
          <a:custGeom>
            <a:rect b="b" l="l" r="r" t="t"/>
            <a:pathLst>
              <a:path extrusionOk="0" h="133350" w="133350">
                <a:moveTo>
                  <a:pt x="8465" y="25003"/>
                </a:moveTo>
                <a:lnTo>
                  <a:pt x="8465" y="63940"/>
                </a:lnTo>
                <a:cubicBezTo>
                  <a:pt x="8465" y="68368"/>
                  <a:pt x="10210" y="72613"/>
                  <a:pt x="13335" y="75739"/>
                </a:cubicBezTo>
                <a:lnTo>
                  <a:pt x="63341" y="125745"/>
                </a:lnTo>
                <a:cubicBezTo>
                  <a:pt x="69852" y="132256"/>
                  <a:pt x="80401" y="132256"/>
                  <a:pt x="86912" y="125745"/>
                </a:cubicBezTo>
                <a:lnTo>
                  <a:pt x="125849" y="86808"/>
                </a:lnTo>
                <a:cubicBezTo>
                  <a:pt x="132360" y="80296"/>
                  <a:pt x="132360" y="69748"/>
                  <a:pt x="125849" y="63237"/>
                </a:cubicBezTo>
                <a:lnTo>
                  <a:pt x="75843" y="13231"/>
                </a:lnTo>
                <a:cubicBezTo>
                  <a:pt x="72717" y="10079"/>
                  <a:pt x="68498" y="8334"/>
                  <a:pt x="64071" y="8334"/>
                </a:cubicBezTo>
                <a:lnTo>
                  <a:pt x="25133" y="8334"/>
                </a:lnTo>
                <a:cubicBezTo>
                  <a:pt x="15939" y="8334"/>
                  <a:pt x="8465" y="15809"/>
                  <a:pt x="8465" y="25003"/>
                </a:cubicBezTo>
                <a:close/>
                <a:moveTo>
                  <a:pt x="37635" y="29170"/>
                </a:moveTo>
                <a:cubicBezTo>
                  <a:pt x="42235" y="29170"/>
                  <a:pt x="45969" y="32905"/>
                  <a:pt x="45969" y="37505"/>
                </a:cubicBezTo>
                <a:cubicBezTo>
                  <a:pt x="45969" y="42105"/>
                  <a:pt x="42235" y="45839"/>
                  <a:pt x="37635" y="45839"/>
                </a:cubicBezTo>
                <a:cubicBezTo>
                  <a:pt x="33035" y="45839"/>
                  <a:pt x="29301" y="42105"/>
                  <a:pt x="29301" y="37505"/>
                </a:cubicBezTo>
                <a:cubicBezTo>
                  <a:pt x="29301" y="32905"/>
                  <a:pt x="33035" y="29170"/>
                  <a:pt x="37635" y="2917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4"/>
          <p:cNvSpPr/>
          <p:nvPr/>
        </p:nvSpPr>
        <p:spPr>
          <a:xfrm>
            <a:off x="3436144" y="195738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opzionale</a:t>
            </a:r>
            <a:endParaRPr b="0" i="0" sz="1200" u="none" cap="none" strike="noStrike"/>
          </a:p>
        </p:txBody>
      </p:sp>
      <p:sp>
        <p:nvSpPr>
          <p:cNvPr id="856" name="Google Shape;856;p34"/>
          <p:cNvSpPr/>
          <p:nvPr/>
        </p:nvSpPr>
        <p:spPr>
          <a:xfrm>
            <a:off x="3300413" y="2153841"/>
            <a:ext cx="100013" cy="100013"/>
          </a:xfrm>
          <a:custGeom>
            <a:rect b="b" l="l" r="r" t="t"/>
            <a:pathLst>
              <a:path extrusionOk="0" h="133350" w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4"/>
          <p:cNvSpPr/>
          <p:nvPr/>
        </p:nvSpPr>
        <p:spPr>
          <a:xfrm>
            <a:off x="3436144" y="212883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is_dm: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boolean</a:t>
            </a:r>
            <a:endParaRPr b="0" i="0" sz="1200" u="none" cap="none" strike="noStrike"/>
          </a:p>
        </p:txBody>
      </p:sp>
      <p:sp>
        <p:nvSpPr>
          <p:cNvPr id="858" name="Google Shape;858;p34"/>
          <p:cNvSpPr/>
          <p:nvPr/>
        </p:nvSpPr>
        <p:spPr>
          <a:xfrm>
            <a:off x="6057900" y="842963"/>
            <a:ext cx="2800350" cy="1543050"/>
          </a:xfrm>
          <a:custGeom>
            <a:rect b="b" l="l" r="r" t="t"/>
            <a:pathLst>
              <a:path extrusionOk="0" h="20574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981194"/>
                </a:lnTo>
                <a:cubicBezTo>
                  <a:pt x="3733800" y="2023281"/>
                  <a:pt x="3699681" y="2057400"/>
                  <a:pt x="36575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4"/>
          <p:cNvSpPr/>
          <p:nvPr/>
        </p:nvSpPr>
        <p:spPr>
          <a:xfrm>
            <a:off x="6057900" y="842963"/>
            <a:ext cx="2800350" cy="28575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4"/>
          <p:cNvSpPr/>
          <p:nvPr/>
        </p:nvSpPr>
        <p:spPr>
          <a:xfrm>
            <a:off x="6181130" y="1000125"/>
            <a:ext cx="160735" cy="142875"/>
          </a:xfrm>
          <a:custGeom>
            <a:rect b="b" l="l" r="r" t="t"/>
            <a:pathLst>
              <a:path extrusionOk="0" h="190500" w="214313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4"/>
          <p:cNvSpPr/>
          <p:nvPr/>
        </p:nvSpPr>
        <p:spPr>
          <a:xfrm>
            <a:off x="6407944" y="971550"/>
            <a:ext cx="10715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group_members</a:t>
            </a:r>
            <a:endParaRPr b="0" i="0" sz="1200" u="none" cap="none" strike="noStrike"/>
          </a:p>
        </p:txBody>
      </p:sp>
      <p:sp>
        <p:nvSpPr>
          <p:cNvPr id="862" name="Google Shape;862;p34"/>
          <p:cNvSpPr/>
          <p:nvPr/>
        </p:nvSpPr>
        <p:spPr>
          <a:xfrm>
            <a:off x="6172200" y="1228725"/>
            <a:ext cx="26289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Relazione Many-to-Many tra utenti e gruppi.</a:t>
            </a:r>
            <a:endParaRPr b="0" i="0" sz="1200" u="none" cap="none" strike="noStrike"/>
          </a:p>
        </p:txBody>
      </p:sp>
      <p:sp>
        <p:nvSpPr>
          <p:cNvPr id="863" name="Google Shape;863;p34"/>
          <p:cNvSpPr/>
          <p:nvPr/>
        </p:nvSpPr>
        <p:spPr>
          <a:xfrm>
            <a:off x="6186488" y="1810941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4"/>
          <p:cNvSpPr/>
          <p:nvPr/>
        </p:nvSpPr>
        <p:spPr>
          <a:xfrm>
            <a:off x="6322219" y="178593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groups</a:t>
            </a:r>
            <a:endParaRPr b="0" i="0" sz="1200" u="none" cap="none" strike="noStrike"/>
          </a:p>
        </p:txBody>
      </p:sp>
      <p:sp>
        <p:nvSpPr>
          <p:cNvPr id="865" name="Google Shape;865;p34"/>
          <p:cNvSpPr/>
          <p:nvPr/>
        </p:nvSpPr>
        <p:spPr>
          <a:xfrm>
            <a:off x="6186488" y="1982391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6322219" y="195738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users</a:t>
            </a:r>
            <a:endParaRPr b="0" i="0" sz="1200" u="none" cap="none" strike="noStrike"/>
          </a:p>
        </p:txBody>
      </p:sp>
      <p:sp>
        <p:nvSpPr>
          <p:cNvPr id="867" name="Google Shape;867;p34"/>
          <p:cNvSpPr/>
          <p:nvPr/>
        </p:nvSpPr>
        <p:spPr>
          <a:xfrm>
            <a:off x="6186488" y="2153841"/>
            <a:ext cx="100013" cy="100013"/>
          </a:xfrm>
          <a:custGeom>
            <a:rect b="b" l="l" r="r" t="t"/>
            <a:pathLst>
              <a:path extrusionOk="0" h="133350" w="133350">
                <a:moveTo>
                  <a:pt x="12502" y="66675"/>
                </a:moveTo>
                <a:cubicBezTo>
                  <a:pt x="12502" y="36749"/>
                  <a:pt x="36749" y="12502"/>
                  <a:pt x="66675" y="12502"/>
                </a:cubicBezTo>
                <a:cubicBezTo>
                  <a:pt x="83109" y="12502"/>
                  <a:pt x="97825" y="19820"/>
                  <a:pt x="107774" y="31384"/>
                </a:cubicBezTo>
                <a:cubicBezTo>
                  <a:pt x="110014" y="34015"/>
                  <a:pt x="113973" y="34301"/>
                  <a:pt x="116577" y="32061"/>
                </a:cubicBezTo>
                <a:cubicBezTo>
                  <a:pt x="119182" y="29821"/>
                  <a:pt x="119494" y="25863"/>
                  <a:pt x="117254" y="23258"/>
                </a:cubicBezTo>
                <a:cubicBezTo>
                  <a:pt x="105039" y="9012"/>
                  <a:pt x="86912" y="0"/>
                  <a:pt x="66675" y="0"/>
                </a:cubicBezTo>
                <a:cubicBezTo>
                  <a:pt x="29847" y="0"/>
                  <a:pt x="0" y="29847"/>
                  <a:pt x="0" y="66675"/>
                </a:cubicBezTo>
                <a:lnTo>
                  <a:pt x="0" y="77093"/>
                </a:lnTo>
                <a:cubicBezTo>
                  <a:pt x="0" y="80557"/>
                  <a:pt x="2787" y="83344"/>
                  <a:pt x="6251" y="83344"/>
                </a:cubicBezTo>
                <a:cubicBezTo>
                  <a:pt x="9715" y="83344"/>
                  <a:pt x="12502" y="80557"/>
                  <a:pt x="12502" y="77093"/>
                </a:cubicBezTo>
                <a:lnTo>
                  <a:pt x="12502" y="66675"/>
                </a:lnTo>
                <a:close/>
                <a:moveTo>
                  <a:pt x="131918" y="52897"/>
                </a:moveTo>
                <a:cubicBezTo>
                  <a:pt x="131214" y="49511"/>
                  <a:pt x="127881" y="47350"/>
                  <a:pt x="124521" y="48079"/>
                </a:cubicBezTo>
                <a:cubicBezTo>
                  <a:pt x="121161" y="48808"/>
                  <a:pt x="118973" y="52116"/>
                  <a:pt x="119702" y="55476"/>
                </a:cubicBezTo>
                <a:cubicBezTo>
                  <a:pt x="120458" y="59096"/>
                  <a:pt x="120874" y="62846"/>
                  <a:pt x="120874" y="66701"/>
                </a:cubicBezTo>
                <a:lnTo>
                  <a:pt x="120874" y="77119"/>
                </a:lnTo>
                <a:cubicBezTo>
                  <a:pt x="120874" y="80583"/>
                  <a:pt x="123661" y="83370"/>
                  <a:pt x="127125" y="83370"/>
                </a:cubicBezTo>
                <a:cubicBezTo>
                  <a:pt x="130589" y="83370"/>
                  <a:pt x="133376" y="80583"/>
                  <a:pt x="133376" y="77119"/>
                </a:cubicBezTo>
                <a:lnTo>
                  <a:pt x="133376" y="66701"/>
                </a:lnTo>
                <a:cubicBezTo>
                  <a:pt x="133376" y="61987"/>
                  <a:pt x="132881" y="57377"/>
                  <a:pt x="131944" y="52923"/>
                </a:cubicBezTo>
                <a:close/>
                <a:moveTo>
                  <a:pt x="66675" y="20836"/>
                </a:moveTo>
                <a:cubicBezTo>
                  <a:pt x="61726" y="20836"/>
                  <a:pt x="56934" y="21617"/>
                  <a:pt x="52481" y="23076"/>
                </a:cubicBezTo>
                <a:cubicBezTo>
                  <a:pt x="48522" y="24378"/>
                  <a:pt x="47610" y="29248"/>
                  <a:pt x="50319" y="32426"/>
                </a:cubicBezTo>
                <a:cubicBezTo>
                  <a:pt x="52168" y="34588"/>
                  <a:pt x="55215" y="35239"/>
                  <a:pt x="57976" y="34483"/>
                </a:cubicBezTo>
                <a:cubicBezTo>
                  <a:pt x="60737" y="33728"/>
                  <a:pt x="63654" y="33337"/>
                  <a:pt x="66675" y="33337"/>
                </a:cubicBezTo>
                <a:cubicBezTo>
                  <a:pt x="85089" y="33337"/>
                  <a:pt x="100013" y="48261"/>
                  <a:pt x="100013" y="66675"/>
                </a:cubicBezTo>
                <a:lnTo>
                  <a:pt x="100013" y="73160"/>
                </a:lnTo>
                <a:cubicBezTo>
                  <a:pt x="100013" y="79724"/>
                  <a:pt x="99622" y="86261"/>
                  <a:pt x="98867" y="92772"/>
                </a:cubicBezTo>
                <a:cubicBezTo>
                  <a:pt x="98424" y="96575"/>
                  <a:pt x="101315" y="100013"/>
                  <a:pt x="105169" y="100013"/>
                </a:cubicBezTo>
                <a:cubicBezTo>
                  <a:pt x="108243" y="100013"/>
                  <a:pt x="110873" y="97773"/>
                  <a:pt x="111238" y="94725"/>
                </a:cubicBezTo>
                <a:cubicBezTo>
                  <a:pt x="112097" y="87589"/>
                  <a:pt x="112540" y="80401"/>
                  <a:pt x="112540" y="73186"/>
                </a:cubicBezTo>
                <a:lnTo>
                  <a:pt x="112540" y="66701"/>
                </a:lnTo>
                <a:cubicBezTo>
                  <a:pt x="112540" y="41385"/>
                  <a:pt x="92017" y="20862"/>
                  <a:pt x="66701" y="20862"/>
                </a:cubicBezTo>
                <a:close/>
                <a:moveTo>
                  <a:pt x="39250" y="38729"/>
                </a:moveTo>
                <a:cubicBezTo>
                  <a:pt x="36880" y="35968"/>
                  <a:pt x="32660" y="35760"/>
                  <a:pt x="30420" y="38625"/>
                </a:cubicBezTo>
                <a:cubicBezTo>
                  <a:pt x="24404" y="46386"/>
                  <a:pt x="20836" y="56101"/>
                  <a:pt x="20836" y="66675"/>
                </a:cubicBezTo>
                <a:lnTo>
                  <a:pt x="20836" y="73160"/>
                </a:lnTo>
                <a:cubicBezTo>
                  <a:pt x="20836" y="79463"/>
                  <a:pt x="20159" y="85766"/>
                  <a:pt x="18804" y="91886"/>
                </a:cubicBezTo>
                <a:cubicBezTo>
                  <a:pt x="17919" y="95949"/>
                  <a:pt x="20862" y="99986"/>
                  <a:pt x="25029" y="99986"/>
                </a:cubicBezTo>
                <a:cubicBezTo>
                  <a:pt x="27764" y="99986"/>
                  <a:pt x="30212" y="98163"/>
                  <a:pt x="30811" y="95481"/>
                </a:cubicBezTo>
                <a:cubicBezTo>
                  <a:pt x="32478" y="88162"/>
                  <a:pt x="33337" y="80687"/>
                  <a:pt x="33337" y="73134"/>
                </a:cubicBezTo>
                <a:lnTo>
                  <a:pt x="33337" y="66649"/>
                </a:lnTo>
                <a:cubicBezTo>
                  <a:pt x="33337" y="59565"/>
                  <a:pt x="35551" y="53001"/>
                  <a:pt x="39302" y="47610"/>
                </a:cubicBezTo>
                <a:cubicBezTo>
                  <a:pt x="41177" y="44901"/>
                  <a:pt x="41385" y="41203"/>
                  <a:pt x="39250" y="38703"/>
                </a:cubicBezTo>
                <a:close/>
                <a:moveTo>
                  <a:pt x="66675" y="41672"/>
                </a:moveTo>
                <a:cubicBezTo>
                  <a:pt x="52871" y="41672"/>
                  <a:pt x="41672" y="52871"/>
                  <a:pt x="41672" y="66675"/>
                </a:cubicBezTo>
                <a:lnTo>
                  <a:pt x="41672" y="73160"/>
                </a:lnTo>
                <a:cubicBezTo>
                  <a:pt x="41672" y="82510"/>
                  <a:pt x="40474" y="91782"/>
                  <a:pt x="38078" y="100794"/>
                </a:cubicBezTo>
                <a:cubicBezTo>
                  <a:pt x="37088" y="104518"/>
                  <a:pt x="39823" y="108347"/>
                  <a:pt x="43677" y="108347"/>
                </a:cubicBezTo>
                <a:cubicBezTo>
                  <a:pt x="46152" y="108347"/>
                  <a:pt x="48339" y="106732"/>
                  <a:pt x="48990" y="104336"/>
                </a:cubicBezTo>
                <a:cubicBezTo>
                  <a:pt x="51725" y="94178"/>
                  <a:pt x="53132" y="83708"/>
                  <a:pt x="53132" y="73160"/>
                </a:cubicBezTo>
                <a:lnTo>
                  <a:pt x="53132" y="66675"/>
                </a:lnTo>
                <a:cubicBezTo>
                  <a:pt x="53132" y="59200"/>
                  <a:pt x="59200" y="53132"/>
                  <a:pt x="66675" y="53132"/>
                </a:cubicBezTo>
                <a:cubicBezTo>
                  <a:pt x="74150" y="53132"/>
                  <a:pt x="80218" y="59200"/>
                  <a:pt x="80218" y="66675"/>
                </a:cubicBezTo>
                <a:lnTo>
                  <a:pt x="80218" y="73160"/>
                </a:lnTo>
                <a:cubicBezTo>
                  <a:pt x="80218" y="82614"/>
                  <a:pt x="79307" y="92017"/>
                  <a:pt x="77510" y="101263"/>
                </a:cubicBezTo>
                <a:cubicBezTo>
                  <a:pt x="76806" y="104883"/>
                  <a:pt x="79515" y="108347"/>
                  <a:pt x="83187" y="108347"/>
                </a:cubicBezTo>
                <a:cubicBezTo>
                  <a:pt x="85844" y="108347"/>
                  <a:pt x="88136" y="106524"/>
                  <a:pt x="88657" y="103919"/>
                </a:cubicBezTo>
                <a:cubicBezTo>
                  <a:pt x="90662" y="93814"/>
                  <a:pt x="91678" y="83526"/>
                  <a:pt x="91678" y="73160"/>
                </a:cubicBezTo>
                <a:lnTo>
                  <a:pt x="91678" y="66675"/>
                </a:lnTo>
                <a:cubicBezTo>
                  <a:pt x="91678" y="52871"/>
                  <a:pt x="80479" y="41672"/>
                  <a:pt x="66675" y="41672"/>
                </a:cubicBezTo>
                <a:close/>
                <a:moveTo>
                  <a:pt x="72926" y="66675"/>
                </a:moveTo>
                <a:cubicBezTo>
                  <a:pt x="72926" y="63211"/>
                  <a:pt x="70139" y="60424"/>
                  <a:pt x="66675" y="60424"/>
                </a:cubicBezTo>
                <a:cubicBezTo>
                  <a:pt x="63211" y="60424"/>
                  <a:pt x="60424" y="63211"/>
                  <a:pt x="60424" y="66675"/>
                </a:cubicBezTo>
                <a:lnTo>
                  <a:pt x="60424" y="73160"/>
                </a:lnTo>
                <a:cubicBezTo>
                  <a:pt x="60424" y="88761"/>
                  <a:pt x="57559" y="104232"/>
                  <a:pt x="51960" y="118791"/>
                </a:cubicBezTo>
                <a:lnTo>
                  <a:pt x="50423" y="122776"/>
                </a:lnTo>
                <a:cubicBezTo>
                  <a:pt x="49173" y="126005"/>
                  <a:pt x="50788" y="129626"/>
                  <a:pt x="54017" y="130850"/>
                </a:cubicBezTo>
                <a:cubicBezTo>
                  <a:pt x="57247" y="132074"/>
                  <a:pt x="60867" y="130485"/>
                  <a:pt x="62091" y="127255"/>
                </a:cubicBezTo>
                <a:lnTo>
                  <a:pt x="63628" y="123271"/>
                </a:lnTo>
                <a:cubicBezTo>
                  <a:pt x="69774" y="107279"/>
                  <a:pt x="72926" y="90298"/>
                  <a:pt x="72926" y="73160"/>
                </a:cubicBezTo>
                <a:lnTo>
                  <a:pt x="72926" y="66675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4"/>
          <p:cNvSpPr/>
          <p:nvPr/>
        </p:nvSpPr>
        <p:spPr>
          <a:xfrm>
            <a:off x="6322219" y="2128838"/>
            <a:ext cx="24717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PK: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(group_id, user_id)</a:t>
            </a:r>
            <a:endParaRPr b="0" i="0" sz="1200" u="none" cap="none" strike="noStrike"/>
          </a:p>
        </p:txBody>
      </p:sp>
      <p:sp>
        <p:nvSpPr>
          <p:cNvPr id="869" name="Google Shape;869;p34"/>
          <p:cNvSpPr/>
          <p:nvPr/>
        </p:nvSpPr>
        <p:spPr>
          <a:xfrm>
            <a:off x="285750" y="2486025"/>
            <a:ext cx="2800350" cy="2371725"/>
          </a:xfrm>
          <a:custGeom>
            <a:rect b="b" l="l" r="r" t="t"/>
            <a:pathLst>
              <a:path extrusionOk="0" h="3162300" w="373380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3086089"/>
                </a:lnTo>
                <a:cubicBezTo>
                  <a:pt x="3733800" y="3128179"/>
                  <a:pt x="3699679" y="3162300"/>
                  <a:pt x="3657589" y="3162300"/>
                </a:cubicBezTo>
                <a:lnTo>
                  <a:pt x="76211" y="3162300"/>
                </a:lnTo>
                <a:cubicBezTo>
                  <a:pt x="34121" y="3162300"/>
                  <a:pt x="0" y="3128179"/>
                  <a:pt x="0" y="308608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4"/>
          <p:cNvSpPr/>
          <p:nvPr/>
        </p:nvSpPr>
        <p:spPr>
          <a:xfrm>
            <a:off x="285750" y="2486025"/>
            <a:ext cx="2800350" cy="28575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4"/>
          <p:cNvSpPr/>
          <p:nvPr/>
        </p:nvSpPr>
        <p:spPr>
          <a:xfrm>
            <a:off x="417910" y="2643188"/>
            <a:ext cx="142875" cy="142875"/>
          </a:xfrm>
          <a:custGeom>
            <a:rect b="b" l="l" r="r" t="t"/>
            <a:pathLst>
              <a:path extrusionOk="0" h="190500" w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4"/>
          <p:cNvSpPr/>
          <p:nvPr/>
        </p:nvSpPr>
        <p:spPr>
          <a:xfrm>
            <a:off x="635794" y="2614613"/>
            <a:ext cx="68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messages</a:t>
            </a:r>
            <a:endParaRPr b="0" i="0" sz="1200" u="none" cap="none" strike="noStrike"/>
          </a:p>
        </p:txBody>
      </p:sp>
      <p:sp>
        <p:nvSpPr>
          <p:cNvPr id="873" name="Google Shape;873;p34"/>
          <p:cNvSpPr/>
          <p:nvPr/>
        </p:nvSpPr>
        <p:spPr>
          <a:xfrm>
            <a:off x="400050" y="2871788"/>
            <a:ext cx="26289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Archivia tutti i messaggi scambiati.</a:t>
            </a:r>
            <a:endParaRPr b="0" i="0" sz="1200" u="none" cap="none" strike="noStrike"/>
          </a:p>
        </p:txBody>
      </p:sp>
      <p:sp>
        <p:nvSpPr>
          <p:cNvPr id="874" name="Google Shape;874;p34"/>
          <p:cNvSpPr/>
          <p:nvPr/>
        </p:nvSpPr>
        <p:spPr>
          <a:xfrm>
            <a:off x="414338" y="3939779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550069" y="3914775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PK autoincrement</a:t>
            </a:r>
            <a:endParaRPr b="0" i="0" sz="1200" u="none" cap="none" strike="noStrike"/>
          </a:p>
        </p:txBody>
      </p:sp>
      <p:sp>
        <p:nvSpPr>
          <p:cNvPr id="876" name="Google Shape;876;p34"/>
          <p:cNvSpPr/>
          <p:nvPr/>
        </p:nvSpPr>
        <p:spPr>
          <a:xfrm>
            <a:off x="401836" y="4111229"/>
            <a:ext cx="125016" cy="100013"/>
          </a:xfrm>
          <a:custGeom>
            <a:rect b="b" l="l" r="r" t="t"/>
            <a:pathLst>
              <a:path extrusionOk="0" h="133350" w="166688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550069" y="4086225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groups</a:t>
            </a:r>
            <a:endParaRPr b="0" i="0" sz="1200" u="none" cap="none" strike="noStrike"/>
          </a:p>
        </p:txBody>
      </p:sp>
      <p:sp>
        <p:nvSpPr>
          <p:cNvPr id="878" name="Google Shape;878;p34"/>
          <p:cNvSpPr/>
          <p:nvPr/>
        </p:nvSpPr>
        <p:spPr>
          <a:xfrm>
            <a:off x="420588" y="4282679"/>
            <a:ext cx="87511" cy="100013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550069" y="4257675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sender_user_id: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users</a:t>
            </a:r>
            <a:endParaRPr b="0" i="0" sz="1200" u="none" cap="none" strike="noStrike"/>
          </a:p>
        </p:txBody>
      </p:sp>
      <p:sp>
        <p:nvSpPr>
          <p:cNvPr id="880" name="Google Shape;880;p34"/>
          <p:cNvSpPr/>
          <p:nvPr/>
        </p:nvSpPr>
        <p:spPr>
          <a:xfrm>
            <a:off x="420588" y="4454129"/>
            <a:ext cx="87511" cy="100013"/>
          </a:xfrm>
          <a:custGeom>
            <a:rect b="b" l="l" r="r" t="t"/>
            <a:pathLst>
              <a:path extrusionOk="0" h="133350" w="116681">
                <a:moveTo>
                  <a:pt x="75009" y="16669"/>
                </a:moveTo>
                <a:cubicBezTo>
                  <a:pt x="75009" y="21279"/>
                  <a:pt x="71285" y="25003"/>
                  <a:pt x="66675" y="25003"/>
                </a:cubicBezTo>
                <a:lnTo>
                  <a:pt x="8334" y="25003"/>
                </a:lnTo>
                <a:cubicBezTo>
                  <a:pt x="3724" y="25003"/>
                  <a:pt x="0" y="21279"/>
                  <a:pt x="0" y="16669"/>
                </a:cubicBezTo>
                <a:cubicBezTo>
                  <a:pt x="0" y="12059"/>
                  <a:pt x="3724" y="8334"/>
                  <a:pt x="8334" y="8334"/>
                </a:cubicBezTo>
                <a:lnTo>
                  <a:pt x="66675" y="8334"/>
                </a:lnTo>
                <a:cubicBezTo>
                  <a:pt x="71285" y="8334"/>
                  <a:pt x="75009" y="12059"/>
                  <a:pt x="75009" y="16669"/>
                </a:cubicBezTo>
                <a:close/>
                <a:moveTo>
                  <a:pt x="75009" y="83344"/>
                </a:moveTo>
                <a:cubicBezTo>
                  <a:pt x="75009" y="87954"/>
                  <a:pt x="71285" y="91678"/>
                  <a:pt x="66675" y="91678"/>
                </a:cubicBezTo>
                <a:lnTo>
                  <a:pt x="8334" y="91678"/>
                </a:lnTo>
                <a:cubicBezTo>
                  <a:pt x="3724" y="91678"/>
                  <a:pt x="0" y="87954"/>
                  <a:pt x="0" y="83344"/>
                </a:cubicBezTo>
                <a:cubicBezTo>
                  <a:pt x="0" y="78734"/>
                  <a:pt x="3724" y="75009"/>
                  <a:pt x="8334" y="75009"/>
                </a:cubicBezTo>
                <a:lnTo>
                  <a:pt x="66675" y="75009"/>
                </a:lnTo>
                <a:cubicBezTo>
                  <a:pt x="71285" y="75009"/>
                  <a:pt x="75009" y="78734"/>
                  <a:pt x="75009" y="83344"/>
                </a:cubicBezTo>
                <a:close/>
                <a:moveTo>
                  <a:pt x="0" y="50006"/>
                </a:moveTo>
                <a:cubicBezTo>
                  <a:pt x="0" y="45396"/>
                  <a:pt x="3724" y="41672"/>
                  <a:pt x="8334" y="41672"/>
                </a:cubicBezTo>
                <a:lnTo>
                  <a:pt x="108347" y="41672"/>
                </a:lnTo>
                <a:cubicBezTo>
                  <a:pt x="112957" y="41672"/>
                  <a:pt x="116681" y="45396"/>
                  <a:pt x="116681" y="50006"/>
                </a:cubicBezTo>
                <a:cubicBezTo>
                  <a:pt x="116681" y="54616"/>
                  <a:pt x="112957" y="58341"/>
                  <a:pt x="108347" y="58341"/>
                </a:cubicBezTo>
                <a:lnTo>
                  <a:pt x="8334" y="58341"/>
                </a:lnTo>
                <a:cubicBezTo>
                  <a:pt x="3724" y="58341"/>
                  <a:pt x="0" y="54616"/>
                  <a:pt x="0" y="50006"/>
                </a:cubicBezTo>
                <a:close/>
                <a:moveTo>
                  <a:pt x="116681" y="116681"/>
                </a:moveTo>
                <a:cubicBezTo>
                  <a:pt x="116681" y="121291"/>
                  <a:pt x="112957" y="125016"/>
                  <a:pt x="108347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cubicBezTo>
                  <a:pt x="0" y="112071"/>
                  <a:pt x="3724" y="108347"/>
                  <a:pt x="8334" y="108347"/>
                </a:cubicBezTo>
                <a:lnTo>
                  <a:pt x="108347" y="108347"/>
                </a:lnTo>
                <a:cubicBezTo>
                  <a:pt x="112957" y="108347"/>
                  <a:pt x="116681" y="112071"/>
                  <a:pt x="116681" y="11668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550069" y="4429125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testo</a:t>
            </a:r>
            <a:endParaRPr b="0" i="0" sz="1200" u="none" cap="none" strike="noStrike"/>
          </a:p>
        </p:txBody>
      </p:sp>
      <p:sp>
        <p:nvSpPr>
          <p:cNvPr id="882" name="Google Shape;882;p34"/>
          <p:cNvSpPr/>
          <p:nvPr/>
        </p:nvSpPr>
        <p:spPr>
          <a:xfrm>
            <a:off x="414338" y="4625579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/>
          <p:nvPr/>
        </p:nvSpPr>
        <p:spPr>
          <a:xfrm>
            <a:off x="550069" y="4600575"/>
            <a:ext cx="24717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created_at: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timestamp</a:t>
            </a:r>
            <a:endParaRPr b="0" i="0" sz="1200" u="none" cap="none" strike="noStrike"/>
          </a:p>
        </p:txBody>
      </p:sp>
      <p:sp>
        <p:nvSpPr>
          <p:cNvPr id="884" name="Google Shape;884;p34"/>
          <p:cNvSpPr/>
          <p:nvPr/>
        </p:nvSpPr>
        <p:spPr>
          <a:xfrm>
            <a:off x="3171825" y="2486025"/>
            <a:ext cx="2800350" cy="2371725"/>
          </a:xfrm>
          <a:custGeom>
            <a:rect b="b" l="l" r="r" t="t"/>
            <a:pathLst>
              <a:path extrusionOk="0" h="3162300" w="373380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3086089"/>
                </a:lnTo>
                <a:cubicBezTo>
                  <a:pt x="3733800" y="3128179"/>
                  <a:pt x="3699679" y="3162300"/>
                  <a:pt x="3657589" y="3162300"/>
                </a:cubicBezTo>
                <a:lnTo>
                  <a:pt x="76211" y="3162300"/>
                </a:lnTo>
                <a:cubicBezTo>
                  <a:pt x="34121" y="3162300"/>
                  <a:pt x="0" y="3128179"/>
                  <a:pt x="0" y="308608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4"/>
          <p:cNvSpPr/>
          <p:nvPr/>
        </p:nvSpPr>
        <p:spPr>
          <a:xfrm>
            <a:off x="3171825" y="2486025"/>
            <a:ext cx="2800350" cy="28575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3303985" y="2643188"/>
            <a:ext cx="142875" cy="142875"/>
          </a:xfrm>
          <a:custGeom>
            <a:rect b="b" l="l" r="r" t="t"/>
            <a:pathLst>
              <a:path extrusionOk="0" h="190500" w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3521869" y="2614613"/>
            <a:ext cx="7072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invitations</a:t>
            </a:r>
            <a:endParaRPr b="0" i="0" sz="1200" u="none" cap="none" strike="noStrike"/>
          </a:p>
        </p:txBody>
      </p:sp>
      <p:sp>
        <p:nvSpPr>
          <p:cNvPr id="888" name="Google Shape;888;p34"/>
          <p:cNvSpPr/>
          <p:nvPr/>
        </p:nvSpPr>
        <p:spPr>
          <a:xfrm>
            <a:off x="3286125" y="2871788"/>
            <a:ext cx="26289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Gestisce richieste di accesso ai gruppi o DM.</a:t>
            </a:r>
            <a:endParaRPr b="0" i="0" sz="1200" u="none" cap="none" strike="noStrike"/>
          </a:p>
        </p:txBody>
      </p:sp>
      <p:sp>
        <p:nvSpPr>
          <p:cNvPr id="889" name="Google Shape;889;p34"/>
          <p:cNvSpPr/>
          <p:nvPr/>
        </p:nvSpPr>
        <p:spPr>
          <a:xfrm>
            <a:off x="3303563" y="3596904"/>
            <a:ext cx="100013" cy="100013"/>
          </a:xfrm>
          <a:custGeom>
            <a:rect b="b" l="l" r="r" t="t"/>
            <a:pathLst>
              <a:path extrusionOk="0" h="133350" w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4"/>
          <p:cNvSpPr/>
          <p:nvPr/>
        </p:nvSpPr>
        <p:spPr>
          <a:xfrm>
            <a:off x="3439294" y="357190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PK autoincrement</a:t>
            </a:r>
            <a:endParaRPr b="0" i="0" sz="1200" u="none" cap="none" strike="noStrike"/>
          </a:p>
        </p:txBody>
      </p:sp>
      <p:sp>
        <p:nvSpPr>
          <p:cNvPr id="891" name="Google Shape;891;p34"/>
          <p:cNvSpPr/>
          <p:nvPr/>
        </p:nvSpPr>
        <p:spPr>
          <a:xfrm>
            <a:off x="3309813" y="3768354"/>
            <a:ext cx="87511" cy="100013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4"/>
          <p:cNvSpPr/>
          <p:nvPr/>
        </p:nvSpPr>
        <p:spPr>
          <a:xfrm>
            <a:off x="3439294" y="374335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from_user_id: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users</a:t>
            </a:r>
            <a:endParaRPr b="0" i="0" sz="1200" u="none" cap="none" strike="noStrike"/>
          </a:p>
        </p:txBody>
      </p:sp>
      <p:sp>
        <p:nvSpPr>
          <p:cNvPr id="893" name="Google Shape;893;p34"/>
          <p:cNvSpPr/>
          <p:nvPr/>
        </p:nvSpPr>
        <p:spPr>
          <a:xfrm>
            <a:off x="3309813" y="3939804"/>
            <a:ext cx="87511" cy="100013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4"/>
          <p:cNvSpPr/>
          <p:nvPr/>
        </p:nvSpPr>
        <p:spPr>
          <a:xfrm>
            <a:off x="3439294" y="391480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to_user_id: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users</a:t>
            </a:r>
            <a:endParaRPr b="0" i="0" sz="1200" u="none" cap="none" strike="noStrike"/>
          </a:p>
        </p:txBody>
      </p:sp>
      <p:sp>
        <p:nvSpPr>
          <p:cNvPr id="895" name="Google Shape;895;p34"/>
          <p:cNvSpPr/>
          <p:nvPr/>
        </p:nvSpPr>
        <p:spPr>
          <a:xfrm>
            <a:off x="3291061" y="4111254"/>
            <a:ext cx="125016" cy="100013"/>
          </a:xfrm>
          <a:custGeom>
            <a:rect b="b" l="l" r="r" t="t"/>
            <a:pathLst>
              <a:path extrusionOk="0" h="133350" w="166688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3439294" y="408625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group_id: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FK → groups</a:t>
            </a:r>
            <a:endParaRPr b="0" i="0" sz="1200" u="none" cap="none" strike="noStrike"/>
          </a:p>
        </p:txBody>
      </p:sp>
      <p:sp>
        <p:nvSpPr>
          <p:cNvPr id="897" name="Google Shape;897;p34"/>
          <p:cNvSpPr/>
          <p:nvPr/>
        </p:nvSpPr>
        <p:spPr>
          <a:xfrm>
            <a:off x="3303563" y="428270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439294" y="425770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pending/accepted/rejected</a:t>
            </a:r>
            <a:endParaRPr b="0" i="0" sz="1200" u="none" cap="none" strike="noStrike"/>
          </a:p>
        </p:txBody>
      </p:sp>
      <p:sp>
        <p:nvSpPr>
          <p:cNvPr id="899" name="Google Shape;899;p34"/>
          <p:cNvSpPr/>
          <p:nvPr/>
        </p:nvSpPr>
        <p:spPr>
          <a:xfrm>
            <a:off x="6061472" y="2475310"/>
            <a:ext cx="2793206" cy="2378869"/>
          </a:xfrm>
          <a:custGeom>
            <a:rect b="b" l="l" r="r" t="t"/>
            <a:pathLst>
              <a:path extrusionOk="0" h="3171825" w="3724275">
                <a:moveTo>
                  <a:pt x="76187" y="0"/>
                </a:moveTo>
                <a:lnTo>
                  <a:pt x="3648088" y="0"/>
                </a:lnTo>
                <a:cubicBezTo>
                  <a:pt x="3690165" y="0"/>
                  <a:pt x="3724275" y="34110"/>
                  <a:pt x="3724275" y="76187"/>
                </a:cubicBezTo>
                <a:lnTo>
                  <a:pt x="3724275" y="3095638"/>
                </a:lnTo>
                <a:cubicBezTo>
                  <a:pt x="3724275" y="3137715"/>
                  <a:pt x="3690165" y="3171825"/>
                  <a:pt x="3648088" y="3171825"/>
                </a:cubicBezTo>
                <a:lnTo>
                  <a:pt x="76187" y="3171825"/>
                </a:lnTo>
                <a:cubicBezTo>
                  <a:pt x="34110" y="3171825"/>
                  <a:pt x="0" y="3137715"/>
                  <a:pt x="0" y="3095638"/>
                </a:cubicBezTo>
                <a:lnTo>
                  <a:pt x="0" y="76187"/>
                </a:lnTo>
                <a:cubicBezTo>
                  <a:pt x="0" y="34138"/>
                  <a:pt x="34138" y="0"/>
                  <a:pt x="76187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4"/>
          <p:cNvSpPr/>
          <p:nvPr/>
        </p:nvSpPr>
        <p:spPr>
          <a:xfrm>
            <a:off x="6190044" y="2575294"/>
            <a:ext cx="262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Tecnologie</a:t>
            </a:r>
            <a:endParaRPr b="0" i="0" sz="1200" u="none" cap="none" strike="noStrike"/>
          </a:p>
        </p:txBody>
      </p:sp>
      <p:sp>
        <p:nvSpPr>
          <p:cNvPr id="901" name="Google Shape;901;p34"/>
          <p:cNvSpPr/>
          <p:nvPr/>
        </p:nvSpPr>
        <p:spPr>
          <a:xfrm>
            <a:off x="6204350" y="2909344"/>
            <a:ext cx="100013" cy="1143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4"/>
          <p:cNvSpPr/>
          <p:nvPr/>
        </p:nvSpPr>
        <p:spPr>
          <a:xfrm>
            <a:off x="6382944" y="2880769"/>
            <a:ext cx="1357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</a:t>
            </a:r>
            <a:endParaRPr b="0" i="0" sz="1200" u="none" cap="none" strike="noStrike"/>
          </a:p>
        </p:txBody>
      </p:sp>
      <p:sp>
        <p:nvSpPr>
          <p:cNvPr id="903" name="Google Shape;903;p34"/>
          <p:cNvSpPr/>
          <p:nvPr/>
        </p:nvSpPr>
        <p:spPr>
          <a:xfrm>
            <a:off x="6382944" y="3052219"/>
            <a:ext cx="1350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Sviluppo: semplice e portatile</a:t>
            </a:r>
            <a:endParaRPr b="0" i="0" sz="1200" u="none" cap="none" strike="noStrike"/>
          </a:p>
        </p:txBody>
      </p:sp>
      <p:sp>
        <p:nvSpPr>
          <p:cNvPr id="904" name="Google Shape;904;p34"/>
          <p:cNvSpPr/>
          <p:nvPr/>
        </p:nvSpPr>
        <p:spPr>
          <a:xfrm>
            <a:off x="6189988" y="3379931"/>
            <a:ext cx="128588" cy="114300"/>
          </a:xfrm>
          <a:custGeom>
            <a:rect b="b" l="l" r="r" t="t"/>
            <a:pathLst>
              <a:path extrusionOk="0" h="152400" w="17145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4"/>
          <p:cNvSpPr/>
          <p:nvPr/>
        </p:nvSpPr>
        <p:spPr>
          <a:xfrm>
            <a:off x="6382869" y="3351356"/>
            <a:ext cx="1314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SQLx</a:t>
            </a:r>
            <a:endParaRPr b="0" i="0" sz="1200" u="none" cap="none" strike="noStrike"/>
          </a:p>
        </p:txBody>
      </p:sp>
      <p:sp>
        <p:nvSpPr>
          <p:cNvPr id="906" name="Google Shape;906;p34"/>
          <p:cNvSpPr/>
          <p:nvPr/>
        </p:nvSpPr>
        <p:spPr>
          <a:xfrm>
            <a:off x="6382869" y="3522806"/>
            <a:ext cx="130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asincrone e type-safe</a:t>
            </a:r>
            <a:endParaRPr b="0" i="0" sz="1200" u="none" cap="none" strike="noStrike"/>
          </a:p>
        </p:txBody>
      </p:sp>
      <p:sp>
        <p:nvSpPr>
          <p:cNvPr id="907" name="Google Shape;907;p34"/>
          <p:cNvSpPr/>
          <p:nvPr/>
        </p:nvSpPr>
        <p:spPr>
          <a:xfrm>
            <a:off x="6204338" y="3850506"/>
            <a:ext cx="100013" cy="114300"/>
          </a:xfrm>
          <a:custGeom>
            <a:rect b="b" l="l" r="r" t="t"/>
            <a:pathLst>
              <a:path extrusionOk="0" h="152400" w="13335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4"/>
          <p:cNvSpPr/>
          <p:nvPr/>
        </p:nvSpPr>
        <p:spPr>
          <a:xfrm>
            <a:off x="6382931" y="3821931"/>
            <a:ext cx="1064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Migrazioni</a:t>
            </a:r>
            <a:endParaRPr b="0" i="0" sz="1200" u="none" cap="none" strike="noStrike"/>
          </a:p>
        </p:txBody>
      </p:sp>
      <p:sp>
        <p:nvSpPr>
          <p:cNvPr id="909" name="Google Shape;909;p34"/>
          <p:cNvSpPr/>
          <p:nvPr/>
        </p:nvSpPr>
        <p:spPr>
          <a:xfrm>
            <a:off x="6382931" y="3993381"/>
            <a:ext cx="10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Versionate e tracciabili</a:t>
            </a:r>
            <a:endParaRPr b="0" i="0" sz="1200" u="none" cap="none" strike="noStrike"/>
          </a:p>
        </p:txBody>
      </p:sp>
      <p:sp>
        <p:nvSpPr>
          <p:cNvPr id="910" name="Google Shape;91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3309800" y="445415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3445531" y="442915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created_at: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timestamp</a:t>
            </a:r>
            <a:endParaRPr b="0" i="0" sz="1200" u="none" cap="none" strike="noStrike"/>
          </a:p>
        </p:txBody>
      </p:sp>
      <p:sp>
        <p:nvSpPr>
          <p:cNvPr id="913" name="Google Shape;913;p34"/>
          <p:cNvSpPr/>
          <p:nvPr/>
        </p:nvSpPr>
        <p:spPr>
          <a:xfrm>
            <a:off x="3309813" y="4625604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4"/>
          <p:cNvSpPr/>
          <p:nvPr/>
        </p:nvSpPr>
        <p:spPr>
          <a:xfrm>
            <a:off x="3445544" y="4600600"/>
            <a:ext cx="24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00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updated</a:t>
            </a:r>
            <a:r>
              <a:rPr b="1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_at: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timestamp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284860" y="284860"/>
            <a:ext cx="8631252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Security</a:t>
            </a:r>
            <a:endParaRPr b="0" i="0" sz="1200" u="none" cap="none" strike="noStrike"/>
          </a:p>
        </p:txBody>
      </p:sp>
      <p:sp>
        <p:nvSpPr>
          <p:cNvPr id="921" name="Google Shape;921;p35"/>
          <p:cNvSpPr/>
          <p:nvPr/>
        </p:nvSpPr>
        <p:spPr>
          <a:xfrm>
            <a:off x="284860" y="484262"/>
            <a:ext cx="8702468" cy="28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Sicurezza e Integrità dei Dati</a:t>
            </a:r>
            <a:endParaRPr b="0" i="0" sz="1200" u="none" cap="none" strike="noStrike"/>
          </a:p>
        </p:txBody>
      </p:sp>
      <p:sp>
        <p:nvSpPr>
          <p:cNvPr id="922" name="Google Shape;922;p35"/>
          <p:cNvSpPr/>
          <p:nvPr/>
        </p:nvSpPr>
        <p:spPr>
          <a:xfrm>
            <a:off x="299103" y="826093"/>
            <a:ext cx="5625981" cy="1958411"/>
          </a:xfrm>
          <a:custGeom>
            <a:rect b="b" l="l" r="r" t="t"/>
            <a:pathLst>
              <a:path extrusionOk="0" h="2611215" w="7501308">
                <a:moveTo>
                  <a:pt x="37981" y="0"/>
                </a:moveTo>
                <a:lnTo>
                  <a:pt x="7425348" y="0"/>
                </a:lnTo>
                <a:cubicBezTo>
                  <a:pt x="7467272" y="0"/>
                  <a:pt x="7501308" y="34037"/>
                  <a:pt x="7501308" y="75960"/>
                </a:cubicBezTo>
                <a:lnTo>
                  <a:pt x="7501308" y="2535255"/>
                </a:lnTo>
                <a:cubicBezTo>
                  <a:pt x="7501308" y="2577206"/>
                  <a:pt x="7467300" y="2611215"/>
                  <a:pt x="7425348" y="2611215"/>
                </a:cubicBezTo>
                <a:lnTo>
                  <a:pt x="37981" y="2611215"/>
                </a:lnTo>
                <a:cubicBezTo>
                  <a:pt x="17005" y="2611215"/>
                  <a:pt x="0" y="2594210"/>
                  <a:pt x="0" y="257323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"/>
          <p:cNvSpPr/>
          <p:nvPr/>
        </p:nvSpPr>
        <p:spPr>
          <a:xfrm>
            <a:off x="299103" y="826093"/>
            <a:ext cx="28486" cy="1958411"/>
          </a:xfrm>
          <a:custGeom>
            <a:rect b="b" l="l" r="r" t="t"/>
            <a:pathLst>
              <a:path extrusionOk="0" h="2611215" w="37981">
                <a:moveTo>
                  <a:pt x="37981" y="0"/>
                </a:moveTo>
                <a:lnTo>
                  <a:pt x="37981" y="0"/>
                </a:lnTo>
                <a:lnTo>
                  <a:pt x="37981" y="2611215"/>
                </a:lnTo>
                <a:lnTo>
                  <a:pt x="37981" y="2611215"/>
                </a:lnTo>
                <a:cubicBezTo>
                  <a:pt x="17005" y="2611215"/>
                  <a:pt x="0" y="2594210"/>
                  <a:pt x="0" y="257323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5"/>
          <p:cNvSpPr/>
          <p:nvPr/>
        </p:nvSpPr>
        <p:spPr>
          <a:xfrm>
            <a:off x="427290" y="940037"/>
            <a:ext cx="5455066" cy="199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Meccanismi di Protezione</a:t>
            </a:r>
            <a:endParaRPr b="0" i="0" sz="1200" u="none" cap="none" strike="noStrike"/>
          </a:p>
        </p:txBody>
      </p:sp>
      <p:sp>
        <p:nvSpPr>
          <p:cNvPr id="925" name="Google Shape;925;p35"/>
          <p:cNvSpPr/>
          <p:nvPr/>
        </p:nvSpPr>
        <p:spPr>
          <a:xfrm>
            <a:off x="427290" y="1196411"/>
            <a:ext cx="5440823" cy="313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database implementa multiple strategie di sicurezza per garantire integrità, coerenza e protezione dai principali attacchi.</a:t>
            </a:r>
            <a:endParaRPr b="0" i="0" sz="1200" u="none" cap="none" strike="noStrike"/>
          </a:p>
        </p:txBody>
      </p:sp>
      <p:sp>
        <p:nvSpPr>
          <p:cNvPr id="926" name="Google Shape;926;p35"/>
          <p:cNvSpPr/>
          <p:nvPr/>
        </p:nvSpPr>
        <p:spPr>
          <a:xfrm>
            <a:off x="427290" y="1595215"/>
            <a:ext cx="2649196" cy="498505"/>
          </a:xfrm>
          <a:custGeom>
            <a:rect b="b" l="l" r="r" t="t"/>
            <a:pathLst>
              <a:path extrusionOk="0" h="664673" w="3532262">
                <a:moveTo>
                  <a:pt x="37979" y="0"/>
                </a:moveTo>
                <a:lnTo>
                  <a:pt x="3494282" y="0"/>
                </a:lnTo>
                <a:cubicBezTo>
                  <a:pt x="3515258" y="0"/>
                  <a:pt x="3532262" y="17004"/>
                  <a:pt x="3532262" y="37979"/>
                </a:cubicBezTo>
                <a:lnTo>
                  <a:pt x="3532262" y="626693"/>
                </a:lnTo>
                <a:cubicBezTo>
                  <a:pt x="3532262" y="647669"/>
                  <a:pt x="3515258" y="664673"/>
                  <a:pt x="3494282" y="664673"/>
                </a:cubicBezTo>
                <a:lnTo>
                  <a:pt x="37979" y="664673"/>
                </a:lnTo>
                <a:cubicBezTo>
                  <a:pt x="17018" y="664673"/>
                  <a:pt x="0" y="647655"/>
                  <a:pt x="0" y="626693"/>
                </a:cubicBezTo>
                <a:lnTo>
                  <a:pt x="0" y="37979"/>
                </a:lnTo>
                <a:cubicBezTo>
                  <a:pt x="0" y="17018"/>
                  <a:pt x="17018" y="0"/>
                  <a:pt x="379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/>
          <p:nvPr/>
        </p:nvSpPr>
        <p:spPr>
          <a:xfrm>
            <a:off x="519869" y="1709159"/>
            <a:ext cx="128187" cy="113944"/>
          </a:xfrm>
          <a:custGeom>
            <a:rect b="b" l="l" r="r" t="t"/>
            <a:pathLst>
              <a:path extrusionOk="0" h="151925" w="170916">
                <a:moveTo>
                  <a:pt x="124478" y="28486"/>
                </a:moveTo>
                <a:cubicBezTo>
                  <a:pt x="119552" y="28486"/>
                  <a:pt x="114775" y="29821"/>
                  <a:pt x="110591" y="32254"/>
                </a:cubicBezTo>
                <a:cubicBezTo>
                  <a:pt x="105903" y="27507"/>
                  <a:pt x="100443" y="23531"/>
                  <a:pt x="94419" y="20534"/>
                </a:cubicBezTo>
                <a:cubicBezTo>
                  <a:pt x="102787" y="13412"/>
                  <a:pt x="113439" y="9495"/>
                  <a:pt x="124478" y="9495"/>
                </a:cubicBezTo>
                <a:cubicBezTo>
                  <a:pt x="150115" y="9495"/>
                  <a:pt x="170916" y="30266"/>
                  <a:pt x="170916" y="55933"/>
                </a:cubicBezTo>
                <a:cubicBezTo>
                  <a:pt x="170916" y="68248"/>
                  <a:pt x="166020" y="80057"/>
                  <a:pt x="157326" y="88752"/>
                </a:cubicBezTo>
                <a:lnTo>
                  <a:pt x="136228" y="109849"/>
                </a:lnTo>
                <a:cubicBezTo>
                  <a:pt x="127534" y="118543"/>
                  <a:pt x="115724" y="123439"/>
                  <a:pt x="103410" y="123439"/>
                </a:cubicBezTo>
                <a:cubicBezTo>
                  <a:pt x="77773" y="123439"/>
                  <a:pt x="56972" y="102668"/>
                  <a:pt x="56972" y="77001"/>
                </a:cubicBezTo>
                <a:cubicBezTo>
                  <a:pt x="56972" y="76556"/>
                  <a:pt x="56972" y="76111"/>
                  <a:pt x="57002" y="75666"/>
                </a:cubicBezTo>
                <a:cubicBezTo>
                  <a:pt x="57150" y="70414"/>
                  <a:pt x="61512" y="66289"/>
                  <a:pt x="66764" y="66438"/>
                </a:cubicBezTo>
                <a:cubicBezTo>
                  <a:pt x="72016" y="66586"/>
                  <a:pt x="76141" y="70948"/>
                  <a:pt x="75992" y="76200"/>
                </a:cubicBezTo>
                <a:cubicBezTo>
                  <a:pt x="75992" y="76467"/>
                  <a:pt x="75992" y="76734"/>
                  <a:pt x="75992" y="76971"/>
                </a:cubicBezTo>
                <a:cubicBezTo>
                  <a:pt x="75992" y="92134"/>
                  <a:pt x="88277" y="104419"/>
                  <a:pt x="103440" y="104419"/>
                </a:cubicBezTo>
                <a:cubicBezTo>
                  <a:pt x="110710" y="104419"/>
                  <a:pt x="117683" y="101541"/>
                  <a:pt x="122846" y="96378"/>
                </a:cubicBezTo>
                <a:lnTo>
                  <a:pt x="143943" y="75280"/>
                </a:lnTo>
                <a:cubicBezTo>
                  <a:pt x="149077" y="70147"/>
                  <a:pt x="151985" y="63144"/>
                  <a:pt x="151985" y="55874"/>
                </a:cubicBezTo>
                <a:cubicBezTo>
                  <a:pt x="151985" y="40711"/>
                  <a:pt x="139700" y="28427"/>
                  <a:pt x="124537" y="28427"/>
                </a:cubicBezTo>
                <a:close/>
                <a:moveTo>
                  <a:pt x="81660" y="51423"/>
                </a:moveTo>
                <a:cubicBezTo>
                  <a:pt x="81096" y="51186"/>
                  <a:pt x="80532" y="50859"/>
                  <a:pt x="80028" y="50503"/>
                </a:cubicBezTo>
                <a:cubicBezTo>
                  <a:pt x="76289" y="48575"/>
                  <a:pt x="72016" y="47477"/>
                  <a:pt x="67536" y="47477"/>
                </a:cubicBezTo>
                <a:cubicBezTo>
                  <a:pt x="60266" y="47477"/>
                  <a:pt x="53293" y="50355"/>
                  <a:pt x="48129" y="55518"/>
                </a:cubicBezTo>
                <a:lnTo>
                  <a:pt x="27032" y="76615"/>
                </a:lnTo>
                <a:cubicBezTo>
                  <a:pt x="21899" y="81749"/>
                  <a:pt x="18991" y="88752"/>
                  <a:pt x="18991" y="96021"/>
                </a:cubicBezTo>
                <a:cubicBezTo>
                  <a:pt x="18991" y="111184"/>
                  <a:pt x="31275" y="123469"/>
                  <a:pt x="46438" y="123469"/>
                </a:cubicBezTo>
                <a:cubicBezTo>
                  <a:pt x="51334" y="123469"/>
                  <a:pt x="56111" y="122163"/>
                  <a:pt x="60295" y="119730"/>
                </a:cubicBezTo>
                <a:cubicBezTo>
                  <a:pt x="64984" y="124478"/>
                  <a:pt x="70443" y="128454"/>
                  <a:pt x="76497" y="131451"/>
                </a:cubicBezTo>
                <a:cubicBezTo>
                  <a:pt x="68129" y="138543"/>
                  <a:pt x="57506" y="142489"/>
                  <a:pt x="46438" y="142489"/>
                </a:cubicBezTo>
                <a:cubicBezTo>
                  <a:pt x="20801" y="142489"/>
                  <a:pt x="0" y="121718"/>
                  <a:pt x="0" y="96051"/>
                </a:cubicBezTo>
                <a:cubicBezTo>
                  <a:pt x="0" y="83737"/>
                  <a:pt x="4896" y="71927"/>
                  <a:pt x="13590" y="63233"/>
                </a:cubicBezTo>
                <a:lnTo>
                  <a:pt x="34688" y="42136"/>
                </a:lnTo>
                <a:cubicBezTo>
                  <a:pt x="43382" y="33441"/>
                  <a:pt x="55192" y="28545"/>
                  <a:pt x="67506" y="28545"/>
                </a:cubicBezTo>
                <a:cubicBezTo>
                  <a:pt x="93203" y="28545"/>
                  <a:pt x="113944" y="49494"/>
                  <a:pt x="113944" y="75102"/>
                </a:cubicBezTo>
                <a:cubicBezTo>
                  <a:pt x="113944" y="75488"/>
                  <a:pt x="113944" y="75874"/>
                  <a:pt x="113944" y="76259"/>
                </a:cubicBezTo>
                <a:cubicBezTo>
                  <a:pt x="113825" y="81511"/>
                  <a:pt x="109463" y="85636"/>
                  <a:pt x="104211" y="85517"/>
                </a:cubicBezTo>
                <a:cubicBezTo>
                  <a:pt x="98959" y="85399"/>
                  <a:pt x="94835" y="81037"/>
                  <a:pt x="94953" y="75785"/>
                </a:cubicBezTo>
                <a:cubicBezTo>
                  <a:pt x="94953" y="75547"/>
                  <a:pt x="94953" y="75339"/>
                  <a:pt x="94953" y="75102"/>
                </a:cubicBezTo>
                <a:cubicBezTo>
                  <a:pt x="94953" y="65102"/>
                  <a:pt x="89612" y="56319"/>
                  <a:pt x="81660" y="51482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5"/>
          <p:cNvSpPr/>
          <p:nvPr/>
        </p:nvSpPr>
        <p:spPr>
          <a:xfrm>
            <a:off x="712150" y="1680673"/>
            <a:ext cx="847458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Chiavi Esterne</a:t>
            </a:r>
            <a:endParaRPr b="0" i="0" sz="1200" u="none" cap="none" strike="noStrike"/>
          </a:p>
        </p:txBody>
      </p:sp>
      <p:sp>
        <p:nvSpPr>
          <p:cNvPr id="929" name="Google Shape;929;p35"/>
          <p:cNvSpPr/>
          <p:nvPr/>
        </p:nvSpPr>
        <p:spPr>
          <a:xfrm>
            <a:off x="512748" y="1880075"/>
            <a:ext cx="2528131" cy="12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Vincoli FK per coerenza referenziale tra tabelle.</a:t>
            </a:r>
            <a:endParaRPr b="0" i="0" sz="1200" u="none" cap="none" strike="noStrike"/>
          </a:p>
        </p:txBody>
      </p:sp>
      <p:sp>
        <p:nvSpPr>
          <p:cNvPr id="930" name="Google Shape;930;p35"/>
          <p:cNvSpPr/>
          <p:nvPr/>
        </p:nvSpPr>
        <p:spPr>
          <a:xfrm>
            <a:off x="3160887" y="1595215"/>
            <a:ext cx="2649197" cy="498505"/>
          </a:xfrm>
          <a:custGeom>
            <a:rect b="b" l="l" r="r" t="t"/>
            <a:pathLst>
              <a:path extrusionOk="0" h="664673" w="3532262">
                <a:moveTo>
                  <a:pt x="37979" y="0"/>
                </a:moveTo>
                <a:lnTo>
                  <a:pt x="3494282" y="0"/>
                </a:lnTo>
                <a:cubicBezTo>
                  <a:pt x="3515258" y="0"/>
                  <a:pt x="3532262" y="17004"/>
                  <a:pt x="3532262" y="37979"/>
                </a:cubicBezTo>
                <a:lnTo>
                  <a:pt x="3532262" y="626693"/>
                </a:lnTo>
                <a:cubicBezTo>
                  <a:pt x="3532262" y="647669"/>
                  <a:pt x="3515258" y="664673"/>
                  <a:pt x="3494282" y="664673"/>
                </a:cubicBezTo>
                <a:lnTo>
                  <a:pt x="37979" y="664673"/>
                </a:lnTo>
                <a:cubicBezTo>
                  <a:pt x="17018" y="664673"/>
                  <a:pt x="0" y="647655"/>
                  <a:pt x="0" y="626693"/>
                </a:cubicBezTo>
                <a:lnTo>
                  <a:pt x="0" y="37979"/>
                </a:lnTo>
                <a:cubicBezTo>
                  <a:pt x="0" y="17018"/>
                  <a:pt x="17018" y="0"/>
                  <a:pt x="379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5"/>
          <p:cNvSpPr/>
          <p:nvPr/>
        </p:nvSpPr>
        <p:spPr>
          <a:xfrm>
            <a:off x="3267710" y="1709159"/>
            <a:ext cx="99701" cy="113944"/>
          </a:xfrm>
          <a:custGeom>
            <a:rect b="b" l="l" r="r" t="t"/>
            <a:pathLst>
              <a:path extrusionOk="0" h="151925" w="132935">
                <a:moveTo>
                  <a:pt x="40563" y="1751"/>
                </a:moveTo>
                <a:cubicBezTo>
                  <a:pt x="41868" y="-2136"/>
                  <a:pt x="45489" y="-4748"/>
                  <a:pt x="49583" y="-4748"/>
                </a:cubicBezTo>
                <a:lnTo>
                  <a:pt x="83381" y="-4748"/>
                </a:lnTo>
                <a:cubicBezTo>
                  <a:pt x="87476" y="-4748"/>
                  <a:pt x="91096" y="-2136"/>
                  <a:pt x="92401" y="1751"/>
                </a:cubicBezTo>
                <a:lnTo>
                  <a:pt x="94953" y="9495"/>
                </a:lnTo>
                <a:lnTo>
                  <a:pt x="123439" y="9495"/>
                </a:lnTo>
                <a:cubicBezTo>
                  <a:pt x="128691" y="9495"/>
                  <a:pt x="132935" y="13739"/>
                  <a:pt x="132935" y="18991"/>
                </a:cubicBezTo>
                <a:cubicBezTo>
                  <a:pt x="132935" y="24243"/>
                  <a:pt x="128691" y="28486"/>
                  <a:pt x="123439" y="28486"/>
                </a:cubicBezTo>
                <a:lnTo>
                  <a:pt x="9495" y="28486"/>
                </a:lnTo>
                <a:cubicBezTo>
                  <a:pt x="4243" y="28486"/>
                  <a:pt x="0" y="24243"/>
                  <a:pt x="0" y="18991"/>
                </a:cubicBezTo>
                <a:cubicBezTo>
                  <a:pt x="0" y="13739"/>
                  <a:pt x="4243" y="9495"/>
                  <a:pt x="9495" y="9495"/>
                </a:cubicBezTo>
                <a:lnTo>
                  <a:pt x="37981" y="9495"/>
                </a:lnTo>
                <a:lnTo>
                  <a:pt x="40563" y="1751"/>
                </a:lnTo>
                <a:close/>
                <a:moveTo>
                  <a:pt x="9495" y="42729"/>
                </a:moveTo>
                <a:lnTo>
                  <a:pt x="123439" y="42729"/>
                </a:lnTo>
                <a:lnTo>
                  <a:pt x="123439" y="132935"/>
                </a:lnTo>
                <a:cubicBezTo>
                  <a:pt x="123439" y="143409"/>
                  <a:pt x="114923" y="151925"/>
                  <a:pt x="104449" y="151925"/>
                </a:cubicBezTo>
                <a:lnTo>
                  <a:pt x="28486" y="151925"/>
                </a:lnTo>
                <a:cubicBezTo>
                  <a:pt x="18011" y="151925"/>
                  <a:pt x="9495" y="143409"/>
                  <a:pt x="9495" y="132935"/>
                </a:cubicBezTo>
                <a:lnTo>
                  <a:pt x="9495" y="42729"/>
                </a:lnTo>
                <a:close/>
                <a:moveTo>
                  <a:pt x="35607" y="61720"/>
                </a:moveTo>
                <a:cubicBezTo>
                  <a:pt x="31661" y="61720"/>
                  <a:pt x="28486" y="64895"/>
                  <a:pt x="28486" y="68841"/>
                </a:cubicBezTo>
                <a:lnTo>
                  <a:pt x="28486" y="125813"/>
                </a:lnTo>
                <a:cubicBezTo>
                  <a:pt x="28486" y="129760"/>
                  <a:pt x="31661" y="132935"/>
                  <a:pt x="35607" y="132935"/>
                </a:cubicBezTo>
                <a:cubicBezTo>
                  <a:pt x="39554" y="132935"/>
                  <a:pt x="42729" y="129760"/>
                  <a:pt x="42729" y="125813"/>
                </a:cubicBezTo>
                <a:lnTo>
                  <a:pt x="42729" y="68841"/>
                </a:lnTo>
                <a:cubicBezTo>
                  <a:pt x="42729" y="64895"/>
                  <a:pt x="39554" y="61720"/>
                  <a:pt x="35607" y="61720"/>
                </a:cubicBezTo>
                <a:close/>
                <a:moveTo>
                  <a:pt x="66467" y="61720"/>
                </a:moveTo>
                <a:cubicBezTo>
                  <a:pt x="62521" y="61720"/>
                  <a:pt x="59346" y="64895"/>
                  <a:pt x="59346" y="68841"/>
                </a:cubicBezTo>
                <a:lnTo>
                  <a:pt x="59346" y="125813"/>
                </a:lnTo>
                <a:cubicBezTo>
                  <a:pt x="59346" y="129760"/>
                  <a:pt x="62521" y="132935"/>
                  <a:pt x="66467" y="132935"/>
                </a:cubicBezTo>
                <a:cubicBezTo>
                  <a:pt x="70414" y="132935"/>
                  <a:pt x="73589" y="129760"/>
                  <a:pt x="73589" y="125813"/>
                </a:cubicBezTo>
                <a:lnTo>
                  <a:pt x="73589" y="68841"/>
                </a:lnTo>
                <a:cubicBezTo>
                  <a:pt x="73589" y="64895"/>
                  <a:pt x="70414" y="61720"/>
                  <a:pt x="66467" y="61720"/>
                </a:cubicBezTo>
                <a:close/>
                <a:moveTo>
                  <a:pt x="97327" y="61720"/>
                </a:moveTo>
                <a:cubicBezTo>
                  <a:pt x="93381" y="61720"/>
                  <a:pt x="90206" y="64895"/>
                  <a:pt x="90206" y="68841"/>
                </a:cubicBezTo>
                <a:lnTo>
                  <a:pt x="90206" y="125813"/>
                </a:lnTo>
                <a:cubicBezTo>
                  <a:pt x="90206" y="129760"/>
                  <a:pt x="93381" y="132935"/>
                  <a:pt x="97327" y="132935"/>
                </a:cubicBezTo>
                <a:cubicBezTo>
                  <a:pt x="101274" y="132935"/>
                  <a:pt x="104449" y="129760"/>
                  <a:pt x="104449" y="125813"/>
                </a:cubicBezTo>
                <a:lnTo>
                  <a:pt x="104449" y="68841"/>
                </a:lnTo>
                <a:cubicBezTo>
                  <a:pt x="104449" y="64895"/>
                  <a:pt x="101274" y="61720"/>
                  <a:pt x="97327" y="6172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5"/>
          <p:cNvSpPr/>
          <p:nvPr/>
        </p:nvSpPr>
        <p:spPr>
          <a:xfrm>
            <a:off x="3445747" y="1680673"/>
            <a:ext cx="1303234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 DELETE CASCADE</a:t>
            </a:r>
            <a:endParaRPr b="0" i="0" sz="1200" u="none" cap="none" strike="noStrike"/>
          </a:p>
        </p:txBody>
      </p:sp>
      <p:sp>
        <p:nvSpPr>
          <p:cNvPr id="933" name="Google Shape;933;p35"/>
          <p:cNvSpPr/>
          <p:nvPr/>
        </p:nvSpPr>
        <p:spPr>
          <a:xfrm>
            <a:off x="3246345" y="1880075"/>
            <a:ext cx="2528131" cy="12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Cancellazione automatica dei record correlati.</a:t>
            </a:r>
            <a:endParaRPr b="0" i="0" sz="1200" u="none" cap="none" strike="noStrike"/>
          </a:p>
        </p:txBody>
      </p:sp>
      <p:sp>
        <p:nvSpPr>
          <p:cNvPr id="934" name="Google Shape;934;p35"/>
          <p:cNvSpPr/>
          <p:nvPr/>
        </p:nvSpPr>
        <p:spPr>
          <a:xfrm>
            <a:off x="427290" y="2175617"/>
            <a:ext cx="2649196" cy="498505"/>
          </a:xfrm>
          <a:custGeom>
            <a:rect b="b" l="l" r="r" t="t"/>
            <a:pathLst>
              <a:path extrusionOk="0" h="664673" w="3532262">
                <a:moveTo>
                  <a:pt x="37979" y="0"/>
                </a:moveTo>
                <a:lnTo>
                  <a:pt x="3494282" y="0"/>
                </a:lnTo>
                <a:cubicBezTo>
                  <a:pt x="3515258" y="0"/>
                  <a:pt x="3532262" y="17004"/>
                  <a:pt x="3532262" y="37979"/>
                </a:cubicBezTo>
                <a:lnTo>
                  <a:pt x="3532262" y="626693"/>
                </a:lnTo>
                <a:cubicBezTo>
                  <a:pt x="3532262" y="647669"/>
                  <a:pt x="3515258" y="664673"/>
                  <a:pt x="3494282" y="664673"/>
                </a:cubicBezTo>
                <a:lnTo>
                  <a:pt x="37979" y="664673"/>
                </a:lnTo>
                <a:cubicBezTo>
                  <a:pt x="17018" y="664673"/>
                  <a:pt x="0" y="647655"/>
                  <a:pt x="0" y="626693"/>
                </a:cubicBezTo>
                <a:lnTo>
                  <a:pt x="0" y="37979"/>
                </a:lnTo>
                <a:cubicBezTo>
                  <a:pt x="0" y="17018"/>
                  <a:pt x="17018" y="0"/>
                  <a:pt x="379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5"/>
          <p:cNvSpPr/>
          <p:nvPr/>
        </p:nvSpPr>
        <p:spPr>
          <a:xfrm>
            <a:off x="526991" y="2289561"/>
            <a:ext cx="113944" cy="113944"/>
          </a:xfrm>
          <a:custGeom>
            <a:rect b="b" l="l" r="r" t="t"/>
            <a:pathLst>
              <a:path extrusionOk="0" h="151925" w="151925">
                <a:moveTo>
                  <a:pt x="75963" y="0"/>
                </a:moveTo>
                <a:cubicBezTo>
                  <a:pt x="77328" y="0"/>
                  <a:pt x="78693" y="297"/>
                  <a:pt x="79939" y="861"/>
                </a:cubicBezTo>
                <a:lnTo>
                  <a:pt x="135843" y="24569"/>
                </a:lnTo>
                <a:cubicBezTo>
                  <a:pt x="142371" y="27329"/>
                  <a:pt x="147237" y="33768"/>
                  <a:pt x="147207" y="41542"/>
                </a:cubicBezTo>
                <a:cubicBezTo>
                  <a:pt x="147059" y="70978"/>
                  <a:pt x="134952" y="124834"/>
                  <a:pt x="83826" y="149314"/>
                </a:cubicBezTo>
                <a:cubicBezTo>
                  <a:pt x="78871" y="151688"/>
                  <a:pt x="73114" y="151688"/>
                  <a:pt x="68159" y="149314"/>
                </a:cubicBezTo>
                <a:cubicBezTo>
                  <a:pt x="17003" y="124834"/>
                  <a:pt x="4926" y="70978"/>
                  <a:pt x="4777" y="41542"/>
                </a:cubicBezTo>
                <a:cubicBezTo>
                  <a:pt x="4748" y="33768"/>
                  <a:pt x="9614" y="27329"/>
                  <a:pt x="16142" y="24569"/>
                </a:cubicBezTo>
                <a:lnTo>
                  <a:pt x="72016" y="861"/>
                </a:lnTo>
                <a:cubicBezTo>
                  <a:pt x="73262" y="297"/>
                  <a:pt x="74598" y="0"/>
                  <a:pt x="75963" y="0"/>
                </a:cubicBezTo>
                <a:close/>
                <a:moveTo>
                  <a:pt x="75963" y="19821"/>
                </a:moveTo>
                <a:lnTo>
                  <a:pt x="75963" y="132015"/>
                </a:lnTo>
                <a:cubicBezTo>
                  <a:pt x="116911" y="112193"/>
                  <a:pt x="127920" y="68277"/>
                  <a:pt x="128187" y="41987"/>
                </a:cubicBezTo>
                <a:lnTo>
                  <a:pt x="75963" y="19851"/>
                </a:lnTo>
                <a:lnTo>
                  <a:pt x="75963" y="19851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5"/>
          <p:cNvSpPr/>
          <p:nvPr/>
        </p:nvSpPr>
        <p:spPr>
          <a:xfrm>
            <a:off x="712150" y="2261074"/>
            <a:ext cx="1224897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Parametrizzate</a:t>
            </a:r>
            <a:endParaRPr b="0" i="0" sz="1200" u="none" cap="none" strike="noStrike"/>
          </a:p>
        </p:txBody>
      </p:sp>
      <p:sp>
        <p:nvSpPr>
          <p:cNvPr id="937" name="Google Shape;937;p35"/>
          <p:cNvSpPr/>
          <p:nvPr/>
        </p:nvSpPr>
        <p:spPr>
          <a:xfrm>
            <a:off x="512748" y="2460477"/>
            <a:ext cx="2528131" cy="12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Prevenzione SQL injection con prepared statements.</a:t>
            </a:r>
            <a:endParaRPr b="0" i="0" sz="1200" u="none" cap="none" strike="noStrike"/>
          </a:p>
        </p:txBody>
      </p:sp>
      <p:sp>
        <p:nvSpPr>
          <p:cNvPr id="938" name="Google Shape;938;p35"/>
          <p:cNvSpPr/>
          <p:nvPr/>
        </p:nvSpPr>
        <p:spPr>
          <a:xfrm>
            <a:off x="3160887" y="2175617"/>
            <a:ext cx="2649197" cy="498505"/>
          </a:xfrm>
          <a:custGeom>
            <a:rect b="b" l="l" r="r" t="t"/>
            <a:pathLst>
              <a:path extrusionOk="0" h="664673" w="3532262">
                <a:moveTo>
                  <a:pt x="37979" y="0"/>
                </a:moveTo>
                <a:lnTo>
                  <a:pt x="3494282" y="0"/>
                </a:lnTo>
                <a:cubicBezTo>
                  <a:pt x="3515258" y="0"/>
                  <a:pt x="3532262" y="17004"/>
                  <a:pt x="3532262" y="37979"/>
                </a:cubicBezTo>
                <a:lnTo>
                  <a:pt x="3532262" y="626693"/>
                </a:lnTo>
                <a:cubicBezTo>
                  <a:pt x="3532262" y="647669"/>
                  <a:pt x="3515258" y="664673"/>
                  <a:pt x="3494282" y="664673"/>
                </a:cubicBezTo>
                <a:lnTo>
                  <a:pt x="37979" y="664673"/>
                </a:lnTo>
                <a:cubicBezTo>
                  <a:pt x="17018" y="664673"/>
                  <a:pt x="0" y="647655"/>
                  <a:pt x="0" y="626693"/>
                </a:cubicBezTo>
                <a:lnTo>
                  <a:pt x="0" y="37979"/>
                </a:lnTo>
                <a:cubicBezTo>
                  <a:pt x="0" y="17018"/>
                  <a:pt x="17018" y="0"/>
                  <a:pt x="379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5"/>
          <p:cNvSpPr/>
          <p:nvPr/>
        </p:nvSpPr>
        <p:spPr>
          <a:xfrm>
            <a:off x="3267710" y="2289561"/>
            <a:ext cx="99701" cy="113944"/>
          </a:xfrm>
          <a:custGeom>
            <a:rect b="b" l="l" r="r" t="t"/>
            <a:pathLst>
              <a:path extrusionOk="0" h="151925" w="132935">
                <a:moveTo>
                  <a:pt x="23738" y="30860"/>
                </a:moveTo>
                <a:cubicBezTo>
                  <a:pt x="27669" y="30860"/>
                  <a:pt x="30860" y="27669"/>
                  <a:pt x="30860" y="23738"/>
                </a:cubicBezTo>
                <a:cubicBezTo>
                  <a:pt x="30860" y="19808"/>
                  <a:pt x="27669" y="16617"/>
                  <a:pt x="23738" y="16617"/>
                </a:cubicBezTo>
                <a:cubicBezTo>
                  <a:pt x="19808" y="16617"/>
                  <a:pt x="16617" y="19808"/>
                  <a:pt x="16617" y="23738"/>
                </a:cubicBezTo>
                <a:cubicBezTo>
                  <a:pt x="16617" y="27669"/>
                  <a:pt x="19808" y="30860"/>
                  <a:pt x="23738" y="30860"/>
                </a:cubicBezTo>
                <a:close/>
                <a:moveTo>
                  <a:pt x="47477" y="23738"/>
                </a:moveTo>
                <a:cubicBezTo>
                  <a:pt x="47477" y="33471"/>
                  <a:pt x="41631" y="41839"/>
                  <a:pt x="33234" y="45489"/>
                </a:cubicBezTo>
                <a:lnTo>
                  <a:pt x="33234" y="66467"/>
                </a:lnTo>
                <a:lnTo>
                  <a:pt x="85458" y="66467"/>
                </a:lnTo>
                <a:cubicBezTo>
                  <a:pt x="93321" y="66467"/>
                  <a:pt x="99701" y="60088"/>
                  <a:pt x="99701" y="52224"/>
                </a:cubicBezTo>
                <a:lnTo>
                  <a:pt x="99701" y="45489"/>
                </a:lnTo>
                <a:cubicBezTo>
                  <a:pt x="91304" y="41839"/>
                  <a:pt x="85458" y="33471"/>
                  <a:pt x="85458" y="23738"/>
                </a:cubicBezTo>
                <a:cubicBezTo>
                  <a:pt x="85458" y="10623"/>
                  <a:pt x="96081" y="0"/>
                  <a:pt x="109196" y="0"/>
                </a:cubicBezTo>
                <a:cubicBezTo>
                  <a:pt x="122312" y="0"/>
                  <a:pt x="132935" y="10623"/>
                  <a:pt x="132935" y="23738"/>
                </a:cubicBezTo>
                <a:cubicBezTo>
                  <a:pt x="132935" y="33471"/>
                  <a:pt x="127089" y="41839"/>
                  <a:pt x="118692" y="45489"/>
                </a:cubicBezTo>
                <a:lnTo>
                  <a:pt x="118692" y="52224"/>
                </a:lnTo>
                <a:cubicBezTo>
                  <a:pt x="118692" y="70592"/>
                  <a:pt x="103825" y="85458"/>
                  <a:pt x="85458" y="85458"/>
                </a:cubicBezTo>
                <a:lnTo>
                  <a:pt x="33234" y="85458"/>
                </a:lnTo>
                <a:lnTo>
                  <a:pt x="33234" y="106437"/>
                </a:lnTo>
                <a:cubicBezTo>
                  <a:pt x="41631" y="110086"/>
                  <a:pt x="47477" y="118454"/>
                  <a:pt x="47477" y="128187"/>
                </a:cubicBezTo>
                <a:cubicBezTo>
                  <a:pt x="47477" y="141302"/>
                  <a:pt x="36854" y="151925"/>
                  <a:pt x="23738" y="151925"/>
                </a:cubicBezTo>
                <a:cubicBezTo>
                  <a:pt x="10623" y="151925"/>
                  <a:pt x="0" y="141302"/>
                  <a:pt x="0" y="128187"/>
                </a:cubicBezTo>
                <a:cubicBezTo>
                  <a:pt x="0" y="118454"/>
                  <a:pt x="5846" y="110086"/>
                  <a:pt x="14243" y="106437"/>
                </a:cubicBezTo>
                <a:lnTo>
                  <a:pt x="14243" y="45518"/>
                </a:lnTo>
                <a:cubicBezTo>
                  <a:pt x="5846" y="41839"/>
                  <a:pt x="0" y="33471"/>
                  <a:pt x="0" y="23738"/>
                </a:cubicBezTo>
                <a:cubicBezTo>
                  <a:pt x="0" y="10623"/>
                  <a:pt x="10623" y="0"/>
                  <a:pt x="23738" y="0"/>
                </a:cubicBezTo>
                <a:cubicBezTo>
                  <a:pt x="36854" y="0"/>
                  <a:pt x="47477" y="10623"/>
                  <a:pt x="47477" y="23738"/>
                </a:cubicBezTo>
                <a:close/>
                <a:moveTo>
                  <a:pt x="116318" y="23738"/>
                </a:moveTo>
                <a:cubicBezTo>
                  <a:pt x="116318" y="19808"/>
                  <a:pt x="113127" y="16617"/>
                  <a:pt x="109196" y="16617"/>
                </a:cubicBezTo>
                <a:cubicBezTo>
                  <a:pt x="105266" y="16617"/>
                  <a:pt x="102075" y="19808"/>
                  <a:pt x="102075" y="23738"/>
                </a:cubicBezTo>
                <a:cubicBezTo>
                  <a:pt x="102075" y="27669"/>
                  <a:pt x="105266" y="30860"/>
                  <a:pt x="109196" y="30860"/>
                </a:cubicBezTo>
                <a:cubicBezTo>
                  <a:pt x="113127" y="30860"/>
                  <a:pt x="116318" y="27669"/>
                  <a:pt x="116318" y="23738"/>
                </a:cubicBezTo>
                <a:close/>
                <a:moveTo>
                  <a:pt x="23738" y="135308"/>
                </a:moveTo>
                <a:cubicBezTo>
                  <a:pt x="27669" y="135308"/>
                  <a:pt x="30860" y="132117"/>
                  <a:pt x="30860" y="128187"/>
                </a:cubicBezTo>
                <a:cubicBezTo>
                  <a:pt x="30860" y="124256"/>
                  <a:pt x="27669" y="121065"/>
                  <a:pt x="23738" y="121065"/>
                </a:cubicBezTo>
                <a:cubicBezTo>
                  <a:pt x="19808" y="121065"/>
                  <a:pt x="16617" y="124256"/>
                  <a:pt x="16617" y="128187"/>
                </a:cubicBezTo>
                <a:cubicBezTo>
                  <a:pt x="16617" y="132117"/>
                  <a:pt x="19808" y="135308"/>
                  <a:pt x="23738" y="13530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5"/>
          <p:cNvSpPr/>
          <p:nvPr/>
        </p:nvSpPr>
        <p:spPr>
          <a:xfrm>
            <a:off x="3445747" y="2261074"/>
            <a:ext cx="1232019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Migrazioni Versionate</a:t>
            </a:r>
            <a:endParaRPr b="0" i="0" sz="1200" u="none" cap="none" strike="noStrike"/>
          </a:p>
        </p:txBody>
      </p:sp>
      <p:sp>
        <p:nvSpPr>
          <p:cNvPr id="941" name="Google Shape;941;p35"/>
          <p:cNvSpPr/>
          <p:nvPr/>
        </p:nvSpPr>
        <p:spPr>
          <a:xfrm>
            <a:off x="3246345" y="2460477"/>
            <a:ext cx="2528131" cy="12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Tracciamento modifiche schema database.</a:t>
            </a:r>
            <a:endParaRPr b="0" i="0" sz="1200" u="none" cap="none" strike="noStrike"/>
          </a:p>
        </p:txBody>
      </p:sp>
      <p:sp>
        <p:nvSpPr>
          <p:cNvPr id="942" name="Google Shape;942;p35"/>
          <p:cNvSpPr/>
          <p:nvPr/>
        </p:nvSpPr>
        <p:spPr>
          <a:xfrm>
            <a:off x="284850" y="2869975"/>
            <a:ext cx="5640224" cy="1779543"/>
          </a:xfrm>
          <a:custGeom>
            <a:rect b="b" l="l" r="r" t="t"/>
            <a:pathLst>
              <a:path extrusionOk="0" h="3029009" w="7520299">
                <a:moveTo>
                  <a:pt x="75968" y="0"/>
                </a:moveTo>
                <a:lnTo>
                  <a:pt x="7444332" y="0"/>
                </a:lnTo>
                <a:cubicBezTo>
                  <a:pt x="7486287" y="0"/>
                  <a:pt x="7520299" y="34012"/>
                  <a:pt x="7520299" y="75968"/>
                </a:cubicBezTo>
                <a:lnTo>
                  <a:pt x="7520299" y="2953042"/>
                </a:lnTo>
                <a:cubicBezTo>
                  <a:pt x="7520299" y="2994998"/>
                  <a:pt x="7486287" y="3029009"/>
                  <a:pt x="7444332" y="3029009"/>
                </a:cubicBezTo>
                <a:lnTo>
                  <a:pt x="75968" y="3029009"/>
                </a:lnTo>
                <a:cubicBezTo>
                  <a:pt x="34012" y="3029009"/>
                  <a:pt x="0" y="2994998"/>
                  <a:pt x="0" y="2953042"/>
                </a:cubicBezTo>
                <a:lnTo>
                  <a:pt x="0" y="75968"/>
                </a:lnTo>
                <a:cubicBezTo>
                  <a:pt x="0" y="34012"/>
                  <a:pt x="34012" y="0"/>
                  <a:pt x="75968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5"/>
          <p:cNvSpPr/>
          <p:nvPr/>
        </p:nvSpPr>
        <p:spPr>
          <a:xfrm>
            <a:off x="398804" y="2983907"/>
            <a:ext cx="5476430" cy="199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Esempio: Query Parametrizzata</a:t>
            </a:r>
            <a:endParaRPr b="0" i="0" sz="1200" u="none" cap="none" strike="noStrike"/>
          </a:p>
        </p:txBody>
      </p:sp>
      <p:sp>
        <p:nvSpPr>
          <p:cNvPr id="944" name="Google Shape;944;p35"/>
          <p:cNvSpPr/>
          <p:nvPr/>
        </p:nvSpPr>
        <p:spPr>
          <a:xfrm>
            <a:off x="398800" y="3240275"/>
            <a:ext cx="5412337" cy="1111333"/>
          </a:xfrm>
          <a:custGeom>
            <a:rect b="b" l="l" r="r" t="t"/>
            <a:pathLst>
              <a:path extrusionOk="0" h="2126953" w="7216449">
                <a:moveTo>
                  <a:pt x="37987" y="0"/>
                </a:moveTo>
                <a:lnTo>
                  <a:pt x="7178461" y="0"/>
                </a:lnTo>
                <a:cubicBezTo>
                  <a:pt x="7199441" y="0"/>
                  <a:pt x="7216449" y="17008"/>
                  <a:pt x="7216449" y="37987"/>
                </a:cubicBezTo>
                <a:lnTo>
                  <a:pt x="7216449" y="2088966"/>
                </a:lnTo>
                <a:cubicBezTo>
                  <a:pt x="7216449" y="2109946"/>
                  <a:pt x="7199441" y="2126953"/>
                  <a:pt x="7178461" y="2126953"/>
                </a:cubicBezTo>
                <a:lnTo>
                  <a:pt x="37987" y="2126953"/>
                </a:lnTo>
                <a:cubicBezTo>
                  <a:pt x="17008" y="2126953"/>
                  <a:pt x="0" y="2109946"/>
                  <a:pt x="0" y="2088966"/>
                </a:cubicBezTo>
                <a:lnTo>
                  <a:pt x="0" y="37987"/>
                </a:lnTo>
                <a:cubicBezTo>
                  <a:pt x="0" y="17022"/>
                  <a:pt x="17022" y="0"/>
                  <a:pt x="379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5"/>
          <p:cNvSpPr/>
          <p:nvPr/>
        </p:nvSpPr>
        <p:spPr>
          <a:xfrm>
            <a:off x="484250" y="3336425"/>
            <a:ext cx="5142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// SQLx prepared statement sqlx::query( "INSERT INTO messages (group_id, sender_user_id, content) VALUES (?, ?, ?)") .bind(group_id) .bind(sender_id) .bind(content) .execute(&amp;mut *tx) .await?;</a:t>
            </a:r>
            <a:endParaRPr b="0" i="0" sz="1200" u="none" cap="none" strike="noStrike"/>
          </a:p>
        </p:txBody>
      </p:sp>
      <p:sp>
        <p:nvSpPr>
          <p:cNvPr id="946" name="Google Shape;946;p35"/>
          <p:cNvSpPr/>
          <p:nvPr/>
        </p:nvSpPr>
        <p:spPr>
          <a:xfrm>
            <a:off x="423779" y="4408568"/>
            <a:ext cx="54621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parametri vengono sanitizzati automaticamente.</a:t>
            </a:r>
            <a:endParaRPr b="0" i="0" sz="1200" u="none" cap="none" strike="noStrike"/>
          </a:p>
        </p:txBody>
      </p:sp>
      <p:sp>
        <p:nvSpPr>
          <p:cNvPr id="947" name="Google Shape;947;p35"/>
          <p:cNvSpPr/>
          <p:nvPr/>
        </p:nvSpPr>
        <p:spPr>
          <a:xfrm>
            <a:off x="6040475" y="829655"/>
            <a:ext cx="2812990" cy="1944168"/>
          </a:xfrm>
          <a:custGeom>
            <a:rect b="b" l="l" r="r" t="t"/>
            <a:pathLst>
              <a:path extrusionOk="0" h="2592224" w="3750654">
                <a:moveTo>
                  <a:pt x="75952" y="0"/>
                </a:moveTo>
                <a:lnTo>
                  <a:pt x="3674702" y="0"/>
                </a:lnTo>
                <a:cubicBezTo>
                  <a:pt x="3716649" y="0"/>
                  <a:pt x="3750654" y="34005"/>
                  <a:pt x="3750654" y="75952"/>
                </a:cubicBezTo>
                <a:lnTo>
                  <a:pt x="3750654" y="2516272"/>
                </a:lnTo>
                <a:cubicBezTo>
                  <a:pt x="3750654" y="2558219"/>
                  <a:pt x="3716649" y="2592224"/>
                  <a:pt x="3674702" y="2592224"/>
                </a:cubicBezTo>
                <a:lnTo>
                  <a:pt x="75952" y="2592224"/>
                </a:lnTo>
                <a:cubicBezTo>
                  <a:pt x="34005" y="2592224"/>
                  <a:pt x="0" y="2558219"/>
                  <a:pt x="0" y="2516272"/>
                </a:cubicBezTo>
                <a:lnTo>
                  <a:pt x="0" y="75952"/>
                </a:lnTo>
                <a:cubicBezTo>
                  <a:pt x="0" y="34005"/>
                  <a:pt x="34005" y="0"/>
                  <a:pt x="7595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5"/>
          <p:cNvSpPr/>
          <p:nvPr/>
        </p:nvSpPr>
        <p:spPr>
          <a:xfrm>
            <a:off x="6157979" y="947159"/>
            <a:ext cx="2642075" cy="199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Principi ACID</a:t>
            </a:r>
            <a:endParaRPr b="0" i="0" sz="1200" u="none" cap="none" strike="noStrike"/>
          </a:p>
        </p:txBody>
      </p:sp>
      <p:sp>
        <p:nvSpPr>
          <p:cNvPr id="949" name="Google Shape;949;p35"/>
          <p:cNvSpPr/>
          <p:nvPr/>
        </p:nvSpPr>
        <p:spPr>
          <a:xfrm>
            <a:off x="6157979" y="1232019"/>
            <a:ext cx="170916" cy="170916"/>
          </a:xfrm>
          <a:custGeom>
            <a:rect b="b" l="l" r="r" t="t"/>
            <a:pathLst>
              <a:path extrusionOk="0" h="227888" w="227888">
                <a:moveTo>
                  <a:pt x="37982" y="0"/>
                </a:moveTo>
                <a:lnTo>
                  <a:pt x="189906" y="0"/>
                </a:lnTo>
                <a:cubicBezTo>
                  <a:pt x="210869" y="0"/>
                  <a:pt x="227888" y="17019"/>
                  <a:pt x="227888" y="37982"/>
                </a:cubicBezTo>
                <a:lnTo>
                  <a:pt x="227888" y="189906"/>
                </a:lnTo>
                <a:cubicBezTo>
                  <a:pt x="227888" y="210883"/>
                  <a:pt x="210883" y="227888"/>
                  <a:pt x="18990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5"/>
          <p:cNvSpPr/>
          <p:nvPr/>
        </p:nvSpPr>
        <p:spPr>
          <a:xfrm>
            <a:off x="6136615" y="1232019"/>
            <a:ext cx="213645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200" u="none" cap="none" strike="noStrike"/>
          </a:p>
        </p:txBody>
      </p:sp>
      <p:sp>
        <p:nvSpPr>
          <p:cNvPr id="951" name="Google Shape;951;p35"/>
          <p:cNvSpPr/>
          <p:nvPr/>
        </p:nvSpPr>
        <p:spPr>
          <a:xfrm>
            <a:off x="6385867" y="1232019"/>
            <a:ext cx="669421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Atomicity</a:t>
            </a:r>
            <a:endParaRPr b="0" i="0" sz="1200" u="none" cap="none" strike="noStrike"/>
          </a:p>
        </p:txBody>
      </p:sp>
      <p:sp>
        <p:nvSpPr>
          <p:cNvPr id="952" name="Google Shape;952;p35"/>
          <p:cNvSpPr/>
          <p:nvPr/>
        </p:nvSpPr>
        <p:spPr>
          <a:xfrm>
            <a:off x="6385867" y="1402934"/>
            <a:ext cx="662299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Tutto o niente</a:t>
            </a:r>
            <a:endParaRPr b="0" i="0" sz="1200" u="none" cap="none" strike="noStrike"/>
          </a:p>
        </p:txBody>
      </p:sp>
      <p:sp>
        <p:nvSpPr>
          <p:cNvPr id="953" name="Google Shape;953;p35"/>
          <p:cNvSpPr/>
          <p:nvPr/>
        </p:nvSpPr>
        <p:spPr>
          <a:xfrm>
            <a:off x="6157979" y="1602337"/>
            <a:ext cx="170916" cy="170916"/>
          </a:xfrm>
          <a:custGeom>
            <a:rect b="b" l="l" r="r" t="t"/>
            <a:pathLst>
              <a:path extrusionOk="0" h="227888" w="227888">
                <a:moveTo>
                  <a:pt x="37982" y="0"/>
                </a:moveTo>
                <a:lnTo>
                  <a:pt x="189906" y="0"/>
                </a:lnTo>
                <a:cubicBezTo>
                  <a:pt x="210869" y="0"/>
                  <a:pt x="227888" y="17019"/>
                  <a:pt x="227888" y="37982"/>
                </a:cubicBezTo>
                <a:lnTo>
                  <a:pt x="227888" y="189906"/>
                </a:lnTo>
                <a:cubicBezTo>
                  <a:pt x="227888" y="210883"/>
                  <a:pt x="210883" y="227888"/>
                  <a:pt x="18990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6136615" y="1602337"/>
            <a:ext cx="213645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b="0" i="0" sz="1200" u="none" cap="none" strike="noStrike"/>
          </a:p>
        </p:txBody>
      </p:sp>
      <p:sp>
        <p:nvSpPr>
          <p:cNvPr id="955" name="Google Shape;955;p35"/>
          <p:cNvSpPr/>
          <p:nvPr/>
        </p:nvSpPr>
        <p:spPr>
          <a:xfrm>
            <a:off x="6385867" y="1602337"/>
            <a:ext cx="733514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Consistency</a:t>
            </a:r>
            <a:endParaRPr b="0" i="0" sz="1200" u="none" cap="none" strike="noStrike"/>
          </a:p>
        </p:txBody>
      </p:sp>
      <p:sp>
        <p:nvSpPr>
          <p:cNvPr id="956" name="Google Shape;956;p35"/>
          <p:cNvSpPr/>
          <p:nvPr/>
        </p:nvSpPr>
        <p:spPr>
          <a:xfrm>
            <a:off x="6385867" y="1773252"/>
            <a:ext cx="726392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Stato valido</a:t>
            </a:r>
            <a:endParaRPr b="0" i="0" sz="1200" u="none" cap="none" strike="noStrike"/>
          </a:p>
        </p:txBody>
      </p:sp>
      <p:sp>
        <p:nvSpPr>
          <p:cNvPr id="957" name="Google Shape;957;p35"/>
          <p:cNvSpPr/>
          <p:nvPr/>
        </p:nvSpPr>
        <p:spPr>
          <a:xfrm>
            <a:off x="6157979" y="1972655"/>
            <a:ext cx="170916" cy="170916"/>
          </a:xfrm>
          <a:custGeom>
            <a:rect b="b" l="l" r="r" t="t"/>
            <a:pathLst>
              <a:path extrusionOk="0" h="227888" w="227888">
                <a:moveTo>
                  <a:pt x="37982" y="0"/>
                </a:moveTo>
                <a:lnTo>
                  <a:pt x="189906" y="0"/>
                </a:lnTo>
                <a:cubicBezTo>
                  <a:pt x="210869" y="0"/>
                  <a:pt x="227888" y="17019"/>
                  <a:pt x="227888" y="37982"/>
                </a:cubicBezTo>
                <a:lnTo>
                  <a:pt x="227888" y="189906"/>
                </a:lnTo>
                <a:cubicBezTo>
                  <a:pt x="227888" y="210883"/>
                  <a:pt x="210883" y="227888"/>
                  <a:pt x="18990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136615" y="1972655"/>
            <a:ext cx="213645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200" u="none" cap="none" strike="noStrike"/>
          </a:p>
        </p:txBody>
      </p:sp>
      <p:sp>
        <p:nvSpPr>
          <p:cNvPr id="959" name="Google Shape;959;p35"/>
          <p:cNvSpPr/>
          <p:nvPr/>
        </p:nvSpPr>
        <p:spPr>
          <a:xfrm>
            <a:off x="6385867" y="1972655"/>
            <a:ext cx="1139439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Isolation</a:t>
            </a:r>
            <a:endParaRPr b="0" i="0" sz="1200" u="none" cap="none" strike="noStrike"/>
          </a:p>
        </p:txBody>
      </p:sp>
      <p:sp>
        <p:nvSpPr>
          <p:cNvPr id="960" name="Google Shape;960;p35"/>
          <p:cNvSpPr/>
          <p:nvPr/>
        </p:nvSpPr>
        <p:spPr>
          <a:xfrm>
            <a:off x="6385867" y="2143570"/>
            <a:ext cx="1132318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Transazioni indipendenti</a:t>
            </a:r>
            <a:endParaRPr b="0" i="0" sz="1200" u="none" cap="none" strike="noStrike"/>
          </a:p>
        </p:txBody>
      </p:sp>
      <p:sp>
        <p:nvSpPr>
          <p:cNvPr id="961" name="Google Shape;961;p35"/>
          <p:cNvSpPr/>
          <p:nvPr/>
        </p:nvSpPr>
        <p:spPr>
          <a:xfrm>
            <a:off x="6157979" y="2342972"/>
            <a:ext cx="170916" cy="170916"/>
          </a:xfrm>
          <a:custGeom>
            <a:rect b="b" l="l" r="r" t="t"/>
            <a:pathLst>
              <a:path extrusionOk="0" h="227888" w="227888">
                <a:moveTo>
                  <a:pt x="37982" y="0"/>
                </a:moveTo>
                <a:lnTo>
                  <a:pt x="189906" y="0"/>
                </a:lnTo>
                <a:cubicBezTo>
                  <a:pt x="210869" y="0"/>
                  <a:pt x="227888" y="17019"/>
                  <a:pt x="227888" y="37982"/>
                </a:cubicBezTo>
                <a:lnTo>
                  <a:pt x="227888" y="189906"/>
                </a:lnTo>
                <a:cubicBezTo>
                  <a:pt x="227888" y="210883"/>
                  <a:pt x="210883" y="227888"/>
                  <a:pt x="18990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5"/>
          <p:cNvSpPr/>
          <p:nvPr/>
        </p:nvSpPr>
        <p:spPr>
          <a:xfrm>
            <a:off x="6136615" y="2342972"/>
            <a:ext cx="213645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200" u="none" cap="none" strike="noStrike"/>
          </a:p>
        </p:txBody>
      </p:sp>
      <p:sp>
        <p:nvSpPr>
          <p:cNvPr id="963" name="Google Shape;963;p35"/>
          <p:cNvSpPr/>
          <p:nvPr/>
        </p:nvSpPr>
        <p:spPr>
          <a:xfrm>
            <a:off x="6385867" y="2342972"/>
            <a:ext cx="997010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Durability</a:t>
            </a:r>
            <a:endParaRPr b="0" i="0" sz="1200" u="none" cap="none" strike="noStrike"/>
          </a:p>
        </p:txBody>
      </p:sp>
      <p:sp>
        <p:nvSpPr>
          <p:cNvPr id="964" name="Google Shape;964;p35"/>
          <p:cNvSpPr/>
          <p:nvPr/>
        </p:nvSpPr>
        <p:spPr>
          <a:xfrm>
            <a:off x="6385867" y="2513888"/>
            <a:ext cx="989888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Persistenza garantita</a:t>
            </a:r>
            <a:endParaRPr b="0" i="0" sz="1200" u="none" cap="none" strike="noStrike"/>
          </a:p>
        </p:txBody>
      </p:sp>
      <p:sp>
        <p:nvSpPr>
          <p:cNvPr id="965" name="Google Shape;965;p35"/>
          <p:cNvSpPr/>
          <p:nvPr/>
        </p:nvSpPr>
        <p:spPr>
          <a:xfrm>
            <a:off x="6036913" y="2862841"/>
            <a:ext cx="2820113" cy="1110953"/>
          </a:xfrm>
          <a:custGeom>
            <a:rect b="b" l="l" r="r" t="t"/>
            <a:pathLst>
              <a:path extrusionOk="0" h="1481271" w="3760150">
                <a:moveTo>
                  <a:pt x="75960" y="0"/>
                </a:moveTo>
                <a:lnTo>
                  <a:pt x="3684190" y="0"/>
                </a:lnTo>
                <a:cubicBezTo>
                  <a:pt x="3726141" y="0"/>
                  <a:pt x="3760150" y="34008"/>
                  <a:pt x="3760150" y="75960"/>
                </a:cubicBezTo>
                <a:lnTo>
                  <a:pt x="3760150" y="1405311"/>
                </a:lnTo>
                <a:cubicBezTo>
                  <a:pt x="3760150" y="1447263"/>
                  <a:pt x="3726141" y="1481271"/>
                  <a:pt x="3684190" y="1481271"/>
                </a:cubicBezTo>
                <a:lnTo>
                  <a:pt x="75960" y="1481271"/>
                </a:lnTo>
                <a:cubicBezTo>
                  <a:pt x="34008" y="1481271"/>
                  <a:pt x="0" y="1447263"/>
                  <a:pt x="0" y="1405311"/>
                </a:cubicBezTo>
                <a:lnTo>
                  <a:pt x="0" y="75960"/>
                </a:lnTo>
                <a:cubicBezTo>
                  <a:pt x="0" y="34008"/>
                  <a:pt x="34008" y="0"/>
                  <a:pt x="7596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5"/>
          <p:cNvSpPr/>
          <p:nvPr/>
        </p:nvSpPr>
        <p:spPr>
          <a:xfrm>
            <a:off x="6150858" y="2976785"/>
            <a:ext cx="2649196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Vantaggi SQLx</a:t>
            </a:r>
            <a:endParaRPr b="0" i="0" sz="1200" u="none" cap="none" strike="noStrike"/>
          </a:p>
        </p:txBody>
      </p:sp>
      <p:sp>
        <p:nvSpPr>
          <p:cNvPr id="967" name="Google Shape;967;p35"/>
          <p:cNvSpPr/>
          <p:nvPr/>
        </p:nvSpPr>
        <p:spPr>
          <a:xfrm>
            <a:off x="6171332" y="3229598"/>
            <a:ext cx="87239" cy="99701"/>
          </a:xfrm>
          <a:custGeom>
            <a:rect b="b" l="l" r="r" t="t"/>
            <a:pathLst>
              <a:path extrusionOk="0" h="132935" w="116318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5"/>
          <p:cNvSpPr/>
          <p:nvPr/>
        </p:nvSpPr>
        <p:spPr>
          <a:xfrm>
            <a:off x="6300343" y="3204673"/>
            <a:ext cx="2492590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Compile-time checked</a:t>
            </a:r>
            <a:endParaRPr b="0" i="0" sz="1200" u="none" cap="none" strike="noStrike"/>
          </a:p>
        </p:txBody>
      </p:sp>
      <p:sp>
        <p:nvSpPr>
          <p:cNvPr id="969" name="Google Shape;969;p35"/>
          <p:cNvSpPr/>
          <p:nvPr/>
        </p:nvSpPr>
        <p:spPr>
          <a:xfrm>
            <a:off x="6171332" y="3400514"/>
            <a:ext cx="87239" cy="99701"/>
          </a:xfrm>
          <a:custGeom>
            <a:rect b="b" l="l" r="r" t="t"/>
            <a:pathLst>
              <a:path extrusionOk="0" h="132935" w="116318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5"/>
          <p:cNvSpPr/>
          <p:nvPr/>
        </p:nvSpPr>
        <p:spPr>
          <a:xfrm>
            <a:off x="6300343" y="3375589"/>
            <a:ext cx="2492590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Async/await native</a:t>
            </a:r>
            <a:endParaRPr b="0" i="0" sz="1200" u="none" cap="none" strike="noStrike"/>
          </a:p>
        </p:txBody>
      </p:sp>
      <p:sp>
        <p:nvSpPr>
          <p:cNvPr id="971" name="Google Shape;971;p35"/>
          <p:cNvSpPr/>
          <p:nvPr/>
        </p:nvSpPr>
        <p:spPr>
          <a:xfrm>
            <a:off x="6171332" y="3571430"/>
            <a:ext cx="87239" cy="99701"/>
          </a:xfrm>
          <a:custGeom>
            <a:rect b="b" l="l" r="r" t="t"/>
            <a:pathLst>
              <a:path extrusionOk="0" h="132935" w="116318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5"/>
          <p:cNvSpPr/>
          <p:nvPr/>
        </p:nvSpPr>
        <p:spPr>
          <a:xfrm>
            <a:off x="6300343" y="3546505"/>
            <a:ext cx="2492590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Type-safe queries</a:t>
            </a:r>
            <a:endParaRPr b="0" i="0" sz="1200" u="none" cap="none" strike="noStrike"/>
          </a:p>
        </p:txBody>
      </p:sp>
      <p:sp>
        <p:nvSpPr>
          <p:cNvPr id="973" name="Google Shape;973;p35"/>
          <p:cNvSpPr/>
          <p:nvPr/>
        </p:nvSpPr>
        <p:spPr>
          <a:xfrm>
            <a:off x="6171332" y="3742346"/>
            <a:ext cx="87239" cy="99701"/>
          </a:xfrm>
          <a:custGeom>
            <a:rect b="b" l="l" r="r" t="t"/>
            <a:pathLst>
              <a:path extrusionOk="0" h="132935" w="116318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5"/>
          <p:cNvSpPr/>
          <p:nvPr/>
        </p:nvSpPr>
        <p:spPr>
          <a:xfrm>
            <a:off x="6300343" y="3717421"/>
            <a:ext cx="2492590" cy="14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Pooling integrato</a:t>
            </a:r>
            <a:endParaRPr b="0" i="0" sz="1200" u="none" cap="none" strike="noStrike"/>
          </a:p>
        </p:txBody>
      </p:sp>
      <p:sp>
        <p:nvSpPr>
          <p:cNvPr id="975" name="Google Shape;975;p35"/>
          <p:cNvSpPr/>
          <p:nvPr/>
        </p:nvSpPr>
        <p:spPr>
          <a:xfrm>
            <a:off x="6036913" y="4059252"/>
            <a:ext cx="2820113" cy="591084"/>
          </a:xfrm>
          <a:custGeom>
            <a:rect b="b" l="l" r="r" t="t"/>
            <a:pathLst>
              <a:path extrusionOk="0" h="788112" w="3760150">
                <a:moveTo>
                  <a:pt x="75966" y="0"/>
                </a:moveTo>
                <a:lnTo>
                  <a:pt x="3684183" y="0"/>
                </a:lnTo>
                <a:cubicBezTo>
                  <a:pt x="3726138" y="0"/>
                  <a:pt x="3760150" y="34011"/>
                  <a:pt x="3760150" y="75966"/>
                </a:cubicBezTo>
                <a:lnTo>
                  <a:pt x="3760150" y="712146"/>
                </a:lnTo>
                <a:cubicBezTo>
                  <a:pt x="3760150" y="754101"/>
                  <a:pt x="3726138" y="788112"/>
                  <a:pt x="3684183" y="788112"/>
                </a:cubicBezTo>
                <a:lnTo>
                  <a:pt x="75966" y="788112"/>
                </a:lnTo>
                <a:cubicBezTo>
                  <a:pt x="34011" y="788112"/>
                  <a:pt x="0" y="754101"/>
                  <a:pt x="0" y="712146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5"/>
          <p:cNvSpPr/>
          <p:nvPr/>
        </p:nvSpPr>
        <p:spPr>
          <a:xfrm>
            <a:off x="6150858" y="4173197"/>
            <a:ext cx="2649196" cy="170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Compatibilità</a:t>
            </a:r>
            <a:endParaRPr b="0" i="0" sz="1200" u="none" cap="none" strike="noStrike"/>
          </a:p>
        </p:txBody>
      </p:sp>
      <p:sp>
        <p:nvSpPr>
          <p:cNvPr id="977" name="Google Shape;977;p35"/>
          <p:cNvSpPr/>
          <p:nvPr/>
        </p:nvSpPr>
        <p:spPr>
          <a:xfrm>
            <a:off x="6150858" y="4401084"/>
            <a:ext cx="2642075" cy="135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Schema SQL compatibile SQLite ↔ PostgreSQL.</a:t>
            </a:r>
            <a:endParaRPr b="0" i="0" sz="1200" u="none" cap="none" strike="noStrike"/>
          </a:p>
        </p:txBody>
      </p:sp>
      <p:sp>
        <p:nvSpPr>
          <p:cNvPr id="978" name="Google Shape;97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6_ux.png" id="984" name="Google Shape;984;p36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85" name="Google Shape;985;p3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986" name="Google Shape;986;p36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b="0" i="0" sz="1200" u="none" cap="none" strike="noStrike"/>
          </a:p>
        </p:txBody>
      </p:sp>
      <p:sp>
        <p:nvSpPr>
          <p:cNvPr id="987" name="Google Shape;987;p36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Esperienza Utente</a:t>
            </a:r>
            <a:endParaRPr b="0" i="0" sz="1200" u="none" cap="none" strike="noStrike"/>
          </a:p>
        </p:txBody>
      </p:sp>
      <p:sp>
        <p:nvSpPr>
          <p:cNvPr id="988" name="Google Shape;988;p36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Funzionalità dell'applicazione</a:t>
            </a:r>
            <a:endParaRPr b="0" i="0" sz="1200" u="none" cap="none" strike="noStrike"/>
          </a:p>
        </p:txBody>
      </p:sp>
      <p:sp>
        <p:nvSpPr>
          <p:cNvPr id="989" name="Google Shape;989;p36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990" name="Google Shape;9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7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Features</a:t>
            </a:r>
            <a:endParaRPr b="0" i="0" sz="1200" u="none" cap="none" strike="noStrike"/>
          </a:p>
        </p:txBody>
      </p:sp>
      <p:sp>
        <p:nvSpPr>
          <p:cNvPr id="998" name="Google Shape;998;p37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Funzionalità Principali</a:t>
            </a:r>
            <a:endParaRPr b="0" i="0" sz="1200" u="none" cap="none" strike="noStrike"/>
          </a:p>
        </p:txBody>
      </p:sp>
      <p:sp>
        <p:nvSpPr>
          <p:cNvPr id="999" name="Google Shape;999;p37"/>
          <p:cNvSpPr/>
          <p:nvPr/>
        </p:nvSpPr>
        <p:spPr>
          <a:xfrm>
            <a:off x="285750" y="842963"/>
            <a:ext cx="2778919" cy="1328738"/>
          </a:xfrm>
          <a:custGeom>
            <a:rect b="b" l="l" r="r" t="t"/>
            <a:pathLst>
              <a:path extrusionOk="0" h="177165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95451"/>
                </a:lnTo>
                <a:cubicBezTo>
                  <a:pt x="3705225" y="1737535"/>
                  <a:pt x="3671110" y="1771650"/>
                  <a:pt x="3629026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7"/>
          <p:cNvSpPr/>
          <p:nvPr/>
        </p:nvSpPr>
        <p:spPr>
          <a:xfrm>
            <a:off x="285750" y="842963"/>
            <a:ext cx="2778919" cy="28575"/>
          </a:xfrm>
          <a:custGeom>
            <a:rect b="b" l="l" r="r" t="t"/>
            <a:pathLst>
              <a:path extrusionOk="0" h="3810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7"/>
          <p:cNvSpPr/>
          <p:nvPr/>
        </p:nvSpPr>
        <p:spPr>
          <a:xfrm>
            <a:off x="417910" y="1000125"/>
            <a:ext cx="142875" cy="142875"/>
          </a:xfrm>
          <a:custGeom>
            <a:rect b="b" l="l" r="r" t="t"/>
            <a:pathLst>
              <a:path extrusionOk="0" h="190500" w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7"/>
          <p:cNvSpPr/>
          <p:nvPr/>
        </p:nvSpPr>
        <p:spPr>
          <a:xfrm>
            <a:off x="635794" y="971550"/>
            <a:ext cx="7858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Global Chat</a:t>
            </a:r>
            <a:endParaRPr b="0" i="0" sz="1200" u="none" cap="none" strike="noStrike"/>
          </a:p>
        </p:txBody>
      </p:sp>
      <p:sp>
        <p:nvSpPr>
          <p:cNvPr id="1003" name="Google Shape;1003;p37"/>
          <p:cNvSpPr/>
          <p:nvPr/>
        </p:nvSpPr>
        <p:spPr>
          <a:xfrm>
            <a:off x="400050" y="1228725"/>
            <a:ext cx="2607469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Stanza pubblica dove tutti i nuovi utenti vengono inseriti automaticamente al momento della registrazione.</a:t>
            </a:r>
            <a:endParaRPr b="0" i="0" sz="1200" u="none" cap="none" strike="noStrike"/>
          </a:p>
        </p:txBody>
      </p:sp>
      <p:sp>
        <p:nvSpPr>
          <p:cNvPr id="1004" name="Google Shape;1004;p37"/>
          <p:cNvSpPr/>
          <p:nvPr/>
        </p:nvSpPr>
        <p:spPr>
          <a:xfrm>
            <a:off x="414338" y="1935956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7"/>
          <p:cNvSpPr/>
          <p:nvPr/>
        </p:nvSpPr>
        <p:spPr>
          <a:xfrm>
            <a:off x="582216" y="1914525"/>
            <a:ext cx="914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Accesso immediato</a:t>
            </a:r>
            <a:endParaRPr b="0" i="0" sz="1200" u="none" cap="none" strike="noStrike"/>
          </a:p>
        </p:txBody>
      </p:sp>
      <p:sp>
        <p:nvSpPr>
          <p:cNvPr id="1006" name="Google Shape;1006;p37"/>
          <p:cNvSpPr/>
          <p:nvPr/>
        </p:nvSpPr>
        <p:spPr>
          <a:xfrm>
            <a:off x="3147994" y="842963"/>
            <a:ext cx="2778919" cy="1328738"/>
          </a:xfrm>
          <a:custGeom>
            <a:rect b="b" l="l" r="r" t="t"/>
            <a:pathLst>
              <a:path extrusionOk="0" h="177165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95451"/>
                </a:lnTo>
                <a:cubicBezTo>
                  <a:pt x="3705225" y="1737535"/>
                  <a:pt x="3671110" y="1771650"/>
                  <a:pt x="3629026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7"/>
          <p:cNvSpPr/>
          <p:nvPr/>
        </p:nvSpPr>
        <p:spPr>
          <a:xfrm>
            <a:off x="3147994" y="842963"/>
            <a:ext cx="2778919" cy="28575"/>
          </a:xfrm>
          <a:custGeom>
            <a:rect b="b" l="l" r="r" t="t"/>
            <a:pathLst>
              <a:path extrusionOk="0" h="3810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7"/>
          <p:cNvSpPr/>
          <p:nvPr/>
        </p:nvSpPr>
        <p:spPr>
          <a:xfrm>
            <a:off x="3289083" y="1000125"/>
            <a:ext cx="125016" cy="142875"/>
          </a:xfrm>
          <a:custGeom>
            <a:rect b="b" l="l" r="r" t="t"/>
            <a:pathLst>
              <a:path extrusionOk="0" h="190500" w="166688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7"/>
          <p:cNvSpPr/>
          <p:nvPr/>
        </p:nvSpPr>
        <p:spPr>
          <a:xfrm>
            <a:off x="3498038" y="971550"/>
            <a:ext cx="10787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Direct Messages</a:t>
            </a:r>
            <a:endParaRPr b="0" i="0" sz="1200" u="none" cap="none" strike="noStrike"/>
          </a:p>
        </p:txBody>
      </p:sp>
      <p:sp>
        <p:nvSpPr>
          <p:cNvPr id="1010" name="Google Shape;1010;p37"/>
          <p:cNvSpPr/>
          <p:nvPr/>
        </p:nvSpPr>
        <p:spPr>
          <a:xfrm>
            <a:off x="3262294" y="1228725"/>
            <a:ext cx="26074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Canale di comunicazione esclusivo e bidirezionale (uno-a-uno) tra due utenti.</a:t>
            </a:r>
            <a:endParaRPr b="0" i="0" sz="1200" u="none" cap="none" strike="noStrike"/>
          </a:p>
        </p:txBody>
      </p:sp>
      <p:sp>
        <p:nvSpPr>
          <p:cNvPr id="1011" name="Google Shape;1011;p37"/>
          <p:cNvSpPr/>
          <p:nvPr/>
        </p:nvSpPr>
        <p:spPr>
          <a:xfrm>
            <a:off x="3282832" y="1768079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7"/>
          <p:cNvSpPr/>
          <p:nvPr/>
        </p:nvSpPr>
        <p:spPr>
          <a:xfrm>
            <a:off x="3412313" y="174307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Richiede invito</a:t>
            </a:r>
            <a:endParaRPr b="0" i="0" sz="1200" u="none" cap="none" strike="noStrike"/>
          </a:p>
        </p:txBody>
      </p:sp>
      <p:sp>
        <p:nvSpPr>
          <p:cNvPr id="1013" name="Google Shape;1013;p37"/>
          <p:cNvSpPr/>
          <p:nvPr/>
        </p:nvSpPr>
        <p:spPr>
          <a:xfrm>
            <a:off x="3282832" y="1939529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7"/>
          <p:cNvSpPr/>
          <p:nvPr/>
        </p:nvSpPr>
        <p:spPr>
          <a:xfrm>
            <a:off x="3412313" y="191452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Nome interlocutore</a:t>
            </a:r>
            <a:endParaRPr b="0" i="0" sz="1200" u="none" cap="none" strike="noStrike"/>
          </a:p>
        </p:txBody>
      </p:sp>
      <p:sp>
        <p:nvSpPr>
          <p:cNvPr id="1015" name="Google Shape;1015;p37"/>
          <p:cNvSpPr/>
          <p:nvPr/>
        </p:nvSpPr>
        <p:spPr>
          <a:xfrm>
            <a:off x="285750" y="2271713"/>
            <a:ext cx="2778919" cy="1328738"/>
          </a:xfrm>
          <a:custGeom>
            <a:rect b="b" l="l" r="r" t="t"/>
            <a:pathLst>
              <a:path extrusionOk="0" h="177165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95451"/>
                </a:lnTo>
                <a:cubicBezTo>
                  <a:pt x="3705225" y="1737535"/>
                  <a:pt x="3671110" y="1771650"/>
                  <a:pt x="3629026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7"/>
          <p:cNvSpPr/>
          <p:nvPr/>
        </p:nvSpPr>
        <p:spPr>
          <a:xfrm>
            <a:off x="285750" y="2271713"/>
            <a:ext cx="2778919" cy="28575"/>
          </a:xfrm>
          <a:custGeom>
            <a:rect b="b" l="l" r="r" t="t"/>
            <a:pathLst>
              <a:path extrusionOk="0" h="3810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7"/>
          <p:cNvSpPr/>
          <p:nvPr/>
        </p:nvSpPr>
        <p:spPr>
          <a:xfrm>
            <a:off x="400050" y="2428875"/>
            <a:ext cx="178594" cy="142875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7"/>
          <p:cNvSpPr/>
          <p:nvPr/>
        </p:nvSpPr>
        <p:spPr>
          <a:xfrm>
            <a:off x="635794" y="2400300"/>
            <a:ext cx="485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Gruppi</a:t>
            </a:r>
            <a:endParaRPr b="0" i="0" sz="1200" u="none" cap="none" strike="noStrike"/>
          </a:p>
        </p:txBody>
      </p:sp>
      <p:sp>
        <p:nvSpPr>
          <p:cNvPr id="1019" name="Google Shape;1019;p37"/>
          <p:cNvSpPr/>
          <p:nvPr/>
        </p:nvSpPr>
        <p:spPr>
          <a:xfrm>
            <a:off x="400050" y="2657475"/>
            <a:ext cx="26074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Spazi di discussione multicanale con nome personalizzato e gestione membri.</a:t>
            </a:r>
            <a:endParaRPr b="0" i="0" sz="1200" u="none" cap="none" strike="noStrike"/>
          </a:p>
        </p:txBody>
      </p:sp>
      <p:sp>
        <p:nvSpPr>
          <p:cNvPr id="1020" name="Google Shape;1020;p37"/>
          <p:cNvSpPr/>
          <p:nvPr/>
        </p:nvSpPr>
        <p:spPr>
          <a:xfrm>
            <a:off x="420588" y="3196828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7"/>
          <p:cNvSpPr/>
          <p:nvPr/>
        </p:nvSpPr>
        <p:spPr>
          <a:xfrm>
            <a:off x="550069" y="317182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Nome personalizzato</a:t>
            </a:r>
            <a:endParaRPr b="0" i="0" sz="1200" u="none" cap="none" strike="noStrike"/>
          </a:p>
        </p:txBody>
      </p:sp>
      <p:sp>
        <p:nvSpPr>
          <p:cNvPr id="1022" name="Google Shape;1022;p37"/>
          <p:cNvSpPr/>
          <p:nvPr/>
        </p:nvSpPr>
        <p:spPr>
          <a:xfrm>
            <a:off x="420588" y="3368278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7"/>
          <p:cNvSpPr/>
          <p:nvPr/>
        </p:nvSpPr>
        <p:spPr>
          <a:xfrm>
            <a:off x="550069" y="334327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Invito membri</a:t>
            </a:r>
            <a:endParaRPr b="0" i="0" sz="1200" u="none" cap="none" strike="noStrike"/>
          </a:p>
        </p:txBody>
      </p:sp>
      <p:sp>
        <p:nvSpPr>
          <p:cNvPr id="1024" name="Google Shape;1024;p37"/>
          <p:cNvSpPr/>
          <p:nvPr/>
        </p:nvSpPr>
        <p:spPr>
          <a:xfrm>
            <a:off x="3147994" y="2271713"/>
            <a:ext cx="2778919" cy="1328738"/>
          </a:xfrm>
          <a:custGeom>
            <a:rect b="b" l="l" r="r" t="t"/>
            <a:pathLst>
              <a:path extrusionOk="0" h="177165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95451"/>
                </a:lnTo>
                <a:cubicBezTo>
                  <a:pt x="3705225" y="1737535"/>
                  <a:pt x="3671110" y="1771650"/>
                  <a:pt x="3629026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A4E54">
                  <a:alpha val="30196"/>
                </a:srgbClr>
              </a:gs>
              <a:gs pos="100000">
                <a:srgbClr val="4A4E54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7"/>
          <p:cNvSpPr/>
          <p:nvPr/>
        </p:nvSpPr>
        <p:spPr>
          <a:xfrm>
            <a:off x="3147994" y="2271713"/>
            <a:ext cx="2778919" cy="28575"/>
          </a:xfrm>
          <a:custGeom>
            <a:rect b="b" l="l" r="r" t="t"/>
            <a:pathLst>
              <a:path extrusionOk="0" h="38100" w="3705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7"/>
          <p:cNvSpPr/>
          <p:nvPr/>
        </p:nvSpPr>
        <p:spPr>
          <a:xfrm>
            <a:off x="3280153" y="2428875"/>
            <a:ext cx="142875" cy="142875"/>
          </a:xfrm>
          <a:custGeom>
            <a:rect b="b" l="l" r="r" t="t"/>
            <a:pathLst>
              <a:path extrusionOk="0" h="190500" w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7"/>
          <p:cNvSpPr/>
          <p:nvPr/>
        </p:nvSpPr>
        <p:spPr>
          <a:xfrm>
            <a:off x="3498038" y="2400300"/>
            <a:ext cx="8929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Sistema Inviti</a:t>
            </a:r>
            <a:endParaRPr b="0" i="0" sz="1200" u="none" cap="none" strike="noStrike"/>
          </a:p>
        </p:txBody>
      </p:sp>
      <p:sp>
        <p:nvSpPr>
          <p:cNvPr id="1028" name="Google Shape;1028;p37"/>
          <p:cNvSpPr/>
          <p:nvPr/>
        </p:nvSpPr>
        <p:spPr>
          <a:xfrm>
            <a:off x="3262294" y="2657475"/>
            <a:ext cx="26074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Gestione completa del ciclo di vita degli inviti con stati pending, accepted, rejected.</a:t>
            </a:r>
            <a:endParaRPr b="0" i="0" sz="1200" u="none" cap="none" strike="noStrike"/>
          </a:p>
        </p:txBody>
      </p:sp>
      <p:sp>
        <p:nvSpPr>
          <p:cNvPr id="1029" name="Google Shape;1029;p37"/>
          <p:cNvSpPr/>
          <p:nvPr/>
        </p:nvSpPr>
        <p:spPr>
          <a:xfrm>
            <a:off x="3282832" y="3196828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7"/>
          <p:cNvSpPr/>
          <p:nvPr/>
        </p:nvSpPr>
        <p:spPr>
          <a:xfrm>
            <a:off x="3412313" y="317182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Protezione anti-spam</a:t>
            </a:r>
            <a:endParaRPr b="0" i="0" sz="1200" u="none" cap="none" strike="noStrike"/>
          </a:p>
        </p:txBody>
      </p:sp>
      <p:sp>
        <p:nvSpPr>
          <p:cNvPr id="1031" name="Google Shape;1031;p37"/>
          <p:cNvSpPr/>
          <p:nvPr/>
        </p:nvSpPr>
        <p:spPr>
          <a:xfrm>
            <a:off x="3282832" y="3368278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3412313" y="3343275"/>
            <a:ext cx="24503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Cooldown 2 min</a:t>
            </a:r>
            <a:endParaRPr b="0" i="0" sz="1200" u="none" cap="none" strike="noStrike"/>
          </a:p>
        </p:txBody>
      </p:sp>
      <p:sp>
        <p:nvSpPr>
          <p:cNvPr id="1033" name="Google Shape;1033;p37"/>
          <p:cNvSpPr/>
          <p:nvPr/>
        </p:nvSpPr>
        <p:spPr>
          <a:xfrm>
            <a:off x="285750" y="3686175"/>
            <a:ext cx="5636419" cy="1171575"/>
          </a:xfrm>
          <a:custGeom>
            <a:rect b="b" l="l" r="r" t="t"/>
            <a:pathLst>
              <a:path extrusionOk="0" h="1562100" w="7515225">
                <a:moveTo>
                  <a:pt x="76199" y="0"/>
                </a:moveTo>
                <a:lnTo>
                  <a:pt x="7439026" y="0"/>
                </a:lnTo>
                <a:cubicBezTo>
                  <a:pt x="7481109" y="0"/>
                  <a:pt x="7515225" y="34116"/>
                  <a:pt x="7515225" y="76199"/>
                </a:cubicBezTo>
                <a:lnTo>
                  <a:pt x="7515225" y="1485901"/>
                </a:lnTo>
                <a:cubicBezTo>
                  <a:pt x="7515225" y="1527984"/>
                  <a:pt x="7481109" y="1562100"/>
                  <a:pt x="743902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7"/>
          <p:cNvSpPr/>
          <p:nvPr/>
        </p:nvSpPr>
        <p:spPr>
          <a:xfrm>
            <a:off x="400050" y="3800475"/>
            <a:ext cx="54721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Autenticazione</a:t>
            </a:r>
            <a:endParaRPr b="0" i="0" sz="1200" u="none" cap="none" strike="noStrike"/>
          </a:p>
        </p:txBody>
      </p:sp>
      <p:sp>
        <p:nvSpPr>
          <p:cNvPr id="1035" name="Google Shape;1035;p37"/>
          <p:cNvSpPr/>
          <p:nvPr/>
        </p:nvSpPr>
        <p:spPr>
          <a:xfrm>
            <a:off x="400050" y="4057650"/>
            <a:ext cx="1728788" cy="685800"/>
          </a:xfrm>
          <a:custGeom>
            <a:rect b="b" l="l" r="r" t="t"/>
            <a:pathLst>
              <a:path extrusionOk="0" h="914400" w="2305050">
                <a:moveTo>
                  <a:pt x="38103" y="0"/>
                </a:moveTo>
                <a:lnTo>
                  <a:pt x="2266947" y="0"/>
                </a:lnTo>
                <a:cubicBezTo>
                  <a:pt x="2287991" y="0"/>
                  <a:pt x="2305050" y="17059"/>
                  <a:pt x="2305050" y="38103"/>
                </a:cubicBezTo>
                <a:lnTo>
                  <a:pt x="2305050" y="876297"/>
                </a:lnTo>
                <a:cubicBezTo>
                  <a:pt x="2305050" y="897341"/>
                  <a:pt x="2287991" y="914400"/>
                  <a:pt x="226694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1156451" y="4143375"/>
            <a:ext cx="214313" cy="171450"/>
          </a:xfrm>
          <a:custGeom>
            <a:rect b="b" l="l" r="r" t="t"/>
            <a:pathLst>
              <a:path extrusionOk="0" h="228600" w="28575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42888" y="42863"/>
                </a:moveTo>
                <a:cubicBezTo>
                  <a:pt x="248826" y="42863"/>
                  <a:pt x="253603" y="47640"/>
                  <a:pt x="253603" y="53578"/>
                </a:cubicBezTo>
                <a:lnTo>
                  <a:pt x="253603" y="75009"/>
                </a:lnTo>
                <a:lnTo>
                  <a:pt x="275034" y="75009"/>
                </a:lnTo>
                <a:cubicBezTo>
                  <a:pt x="280973" y="75009"/>
                  <a:pt x="285750" y="79787"/>
                  <a:pt x="285750" y="85725"/>
                </a:cubicBezTo>
                <a:cubicBezTo>
                  <a:pt x="285750" y="91663"/>
                  <a:pt x="280973" y="96441"/>
                  <a:pt x="275034" y="96441"/>
                </a:cubicBezTo>
                <a:lnTo>
                  <a:pt x="253603" y="96441"/>
                </a:lnTo>
                <a:lnTo>
                  <a:pt x="253603" y="117872"/>
                </a:lnTo>
                <a:cubicBezTo>
                  <a:pt x="253603" y="123810"/>
                  <a:pt x="248826" y="128588"/>
                  <a:pt x="242888" y="128588"/>
                </a:cubicBezTo>
                <a:cubicBezTo>
                  <a:pt x="236949" y="128588"/>
                  <a:pt x="232172" y="123810"/>
                  <a:pt x="232172" y="117872"/>
                </a:cubicBezTo>
                <a:lnTo>
                  <a:pt x="232172" y="96441"/>
                </a:lnTo>
                <a:lnTo>
                  <a:pt x="210741" y="96441"/>
                </a:lnTo>
                <a:cubicBezTo>
                  <a:pt x="204802" y="96441"/>
                  <a:pt x="200025" y="91663"/>
                  <a:pt x="200025" y="85725"/>
                </a:cubicBezTo>
                <a:cubicBezTo>
                  <a:pt x="200025" y="79787"/>
                  <a:pt x="204802" y="75009"/>
                  <a:pt x="210741" y="75009"/>
                </a:cubicBezTo>
                <a:lnTo>
                  <a:pt x="232172" y="75009"/>
                </a:lnTo>
                <a:lnTo>
                  <a:pt x="232172" y="53578"/>
                </a:lnTo>
                <a:cubicBezTo>
                  <a:pt x="232172" y="47640"/>
                  <a:pt x="236949" y="42863"/>
                  <a:pt x="242888" y="4286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457200" y="4343400"/>
            <a:ext cx="16144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Registrazione</a:t>
            </a:r>
            <a:endParaRPr b="0" i="0" sz="1200" u="none" cap="none" strike="noStrike"/>
          </a:p>
        </p:txBody>
      </p:sp>
      <p:sp>
        <p:nvSpPr>
          <p:cNvPr id="1038" name="Google Shape;1038;p37"/>
          <p:cNvSpPr/>
          <p:nvPr/>
        </p:nvSpPr>
        <p:spPr>
          <a:xfrm>
            <a:off x="460772" y="4514850"/>
            <a:ext cx="16073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Username e password</a:t>
            </a:r>
            <a:endParaRPr b="0" i="0" sz="1200" u="none" cap="none" strike="noStrike"/>
          </a:p>
        </p:txBody>
      </p:sp>
      <p:sp>
        <p:nvSpPr>
          <p:cNvPr id="1039" name="Google Shape;1039;p37"/>
          <p:cNvSpPr/>
          <p:nvPr/>
        </p:nvSpPr>
        <p:spPr>
          <a:xfrm>
            <a:off x="2241519" y="4057650"/>
            <a:ext cx="1728788" cy="685800"/>
          </a:xfrm>
          <a:custGeom>
            <a:rect b="b" l="l" r="r" t="t"/>
            <a:pathLst>
              <a:path extrusionOk="0" h="914400" w="2305050">
                <a:moveTo>
                  <a:pt x="38103" y="0"/>
                </a:moveTo>
                <a:lnTo>
                  <a:pt x="2266947" y="0"/>
                </a:lnTo>
                <a:cubicBezTo>
                  <a:pt x="2287991" y="0"/>
                  <a:pt x="2305050" y="17059"/>
                  <a:pt x="2305050" y="38103"/>
                </a:cubicBezTo>
                <a:lnTo>
                  <a:pt x="2305050" y="876297"/>
                </a:lnTo>
                <a:cubicBezTo>
                  <a:pt x="2305050" y="897341"/>
                  <a:pt x="2287991" y="914400"/>
                  <a:pt x="226694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7"/>
          <p:cNvSpPr/>
          <p:nvPr/>
        </p:nvSpPr>
        <p:spPr>
          <a:xfrm>
            <a:off x="3019406" y="4143375"/>
            <a:ext cx="171450" cy="171450"/>
          </a:xfrm>
          <a:custGeom>
            <a:rect b="b" l="l" r="r" t="t"/>
            <a:pathLst>
              <a:path extrusionOk="0" h="228600" w="228600">
                <a:moveTo>
                  <a:pt x="154037" y="121890"/>
                </a:moveTo>
                <a:cubicBezTo>
                  <a:pt x="158234" y="117693"/>
                  <a:pt x="158234" y="110907"/>
                  <a:pt x="154037" y="106754"/>
                </a:cubicBezTo>
                <a:lnTo>
                  <a:pt x="89743" y="42416"/>
                </a:lnTo>
                <a:cubicBezTo>
                  <a:pt x="86663" y="39335"/>
                  <a:pt x="82064" y="38442"/>
                  <a:pt x="78045" y="40094"/>
                </a:cubicBezTo>
                <a:cubicBezTo>
                  <a:pt x="74027" y="41746"/>
                  <a:pt x="71438" y="45675"/>
                  <a:pt x="71438" y="50006"/>
                </a:cubicBezTo>
                <a:lnTo>
                  <a:pt x="71438" y="85725"/>
                </a:ln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21444"/>
                </a:lnTo>
                <a:cubicBezTo>
                  <a:pt x="0" y="133276"/>
                  <a:pt x="9599" y="142875"/>
                  <a:pt x="21431" y="142875"/>
                </a:cubicBezTo>
                <a:lnTo>
                  <a:pt x="71438" y="142875"/>
                </a:lnTo>
                <a:lnTo>
                  <a:pt x="71438" y="178594"/>
                </a:lnTo>
                <a:cubicBezTo>
                  <a:pt x="71438" y="182925"/>
                  <a:pt x="74027" y="186854"/>
                  <a:pt x="78045" y="188506"/>
                </a:cubicBezTo>
                <a:cubicBezTo>
                  <a:pt x="82064" y="190158"/>
                  <a:pt x="86663" y="189265"/>
                  <a:pt x="89743" y="186184"/>
                </a:cubicBezTo>
                <a:lnTo>
                  <a:pt x="154037" y="121890"/>
                </a:lnTo>
                <a:close/>
                <a:moveTo>
                  <a:pt x="157163" y="185738"/>
                </a:moveTo>
                <a:cubicBezTo>
                  <a:pt x="149260" y="185738"/>
                  <a:pt x="142875" y="192122"/>
                  <a:pt x="142875" y="200025"/>
                </a:cubicBezTo>
                <a:cubicBezTo>
                  <a:pt x="142875" y="207928"/>
                  <a:pt x="149260" y="214313"/>
                  <a:pt x="157163" y="214313"/>
                </a:cubicBezTo>
                <a:lnTo>
                  <a:pt x="185738" y="214313"/>
                </a:lnTo>
                <a:cubicBezTo>
                  <a:pt x="209401" y="214313"/>
                  <a:pt x="228600" y="195114"/>
                  <a:pt x="228600" y="171450"/>
                </a:cubicBezTo>
                <a:lnTo>
                  <a:pt x="228600" y="57150"/>
                </a:lnTo>
                <a:cubicBezTo>
                  <a:pt x="228600" y="33486"/>
                  <a:pt x="209401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cubicBezTo>
                  <a:pt x="142875" y="36478"/>
                  <a:pt x="149260" y="42863"/>
                  <a:pt x="157163" y="42863"/>
                </a:cubicBez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71450"/>
                </a:lnTo>
                <a:cubicBezTo>
                  <a:pt x="200025" y="179353"/>
                  <a:pt x="193640" y="185738"/>
                  <a:pt x="185738" y="185738"/>
                </a:cubicBezTo>
                <a:lnTo>
                  <a:pt x="157163" y="185738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7"/>
          <p:cNvSpPr/>
          <p:nvPr/>
        </p:nvSpPr>
        <p:spPr>
          <a:xfrm>
            <a:off x="2298669" y="4343400"/>
            <a:ext cx="16144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</a:t>
            </a:r>
            <a:endParaRPr b="0" i="0" sz="1200" u="none" cap="none" strike="noStrike"/>
          </a:p>
        </p:txBody>
      </p:sp>
      <p:sp>
        <p:nvSpPr>
          <p:cNvPr id="1042" name="Google Shape;1042;p37"/>
          <p:cNvSpPr/>
          <p:nvPr/>
        </p:nvSpPr>
        <p:spPr>
          <a:xfrm>
            <a:off x="2302241" y="4514850"/>
            <a:ext cx="16073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JWT token 24h</a:t>
            </a:r>
            <a:endParaRPr b="0" i="0" sz="1200" u="none" cap="none" strike="noStrike"/>
          </a:p>
        </p:txBody>
      </p:sp>
      <p:sp>
        <p:nvSpPr>
          <p:cNvPr id="1043" name="Google Shape;1043;p37"/>
          <p:cNvSpPr/>
          <p:nvPr/>
        </p:nvSpPr>
        <p:spPr>
          <a:xfrm>
            <a:off x="4083044" y="4057650"/>
            <a:ext cx="1728788" cy="685800"/>
          </a:xfrm>
          <a:custGeom>
            <a:rect b="b" l="l" r="r" t="t"/>
            <a:pathLst>
              <a:path extrusionOk="0" h="914400" w="2305050">
                <a:moveTo>
                  <a:pt x="38103" y="0"/>
                </a:moveTo>
                <a:lnTo>
                  <a:pt x="2266947" y="0"/>
                </a:lnTo>
                <a:cubicBezTo>
                  <a:pt x="2287991" y="0"/>
                  <a:pt x="2305050" y="17059"/>
                  <a:pt x="2305050" y="38103"/>
                </a:cubicBezTo>
                <a:lnTo>
                  <a:pt x="2305050" y="876297"/>
                </a:lnTo>
                <a:cubicBezTo>
                  <a:pt x="2305050" y="897341"/>
                  <a:pt x="2287991" y="914400"/>
                  <a:pt x="226694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7"/>
          <p:cNvSpPr/>
          <p:nvPr/>
        </p:nvSpPr>
        <p:spPr>
          <a:xfrm>
            <a:off x="4860932" y="4143375"/>
            <a:ext cx="171450" cy="17145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7"/>
          <p:cNvSpPr/>
          <p:nvPr/>
        </p:nvSpPr>
        <p:spPr>
          <a:xfrm>
            <a:off x="4140194" y="4343400"/>
            <a:ext cx="16144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Sicurezza</a:t>
            </a:r>
            <a:endParaRPr b="0" i="0" sz="1200" u="none" cap="none" strike="noStrike"/>
          </a:p>
        </p:txBody>
      </p:sp>
      <p:sp>
        <p:nvSpPr>
          <p:cNvPr id="1046" name="Google Shape;1046;p37"/>
          <p:cNvSpPr/>
          <p:nvPr/>
        </p:nvSpPr>
        <p:spPr>
          <a:xfrm>
            <a:off x="4143766" y="4514850"/>
            <a:ext cx="16073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Argon2 hashing</a:t>
            </a:r>
            <a:endParaRPr b="0" i="0" sz="1200" u="none" cap="none" strike="noStrike"/>
          </a:p>
        </p:txBody>
      </p:sp>
      <p:sp>
        <p:nvSpPr>
          <p:cNvPr id="1047" name="Google Shape;1047;p37"/>
          <p:cNvSpPr/>
          <p:nvPr/>
        </p:nvSpPr>
        <p:spPr>
          <a:xfrm>
            <a:off x="6042440" y="832247"/>
            <a:ext cx="2814638" cy="1664494"/>
          </a:xfrm>
          <a:custGeom>
            <a:rect b="b" l="l" r="r" t="t"/>
            <a:pathLst>
              <a:path extrusionOk="0" h="2219325" w="3752850">
                <a:moveTo>
                  <a:pt x="76189" y="0"/>
                </a:moveTo>
                <a:lnTo>
                  <a:pt x="3676661" y="0"/>
                </a:lnTo>
                <a:cubicBezTo>
                  <a:pt x="3718711" y="0"/>
                  <a:pt x="3752850" y="34139"/>
                  <a:pt x="3752850" y="76189"/>
                </a:cubicBezTo>
                <a:lnTo>
                  <a:pt x="3752850" y="2143136"/>
                </a:lnTo>
                <a:cubicBezTo>
                  <a:pt x="3752850" y="2185214"/>
                  <a:pt x="3718739" y="2219325"/>
                  <a:pt x="3676661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7"/>
          <p:cNvSpPr/>
          <p:nvPr/>
        </p:nvSpPr>
        <p:spPr>
          <a:xfrm>
            <a:off x="6160313" y="950119"/>
            <a:ext cx="26431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Privacy First</a:t>
            </a:r>
            <a:endParaRPr b="0" i="0" sz="1200" u="none" cap="none" strike="noStrike"/>
          </a:p>
        </p:txBody>
      </p:sp>
      <p:sp>
        <p:nvSpPr>
          <p:cNvPr id="1049" name="Google Shape;1049;p37"/>
          <p:cNvSpPr/>
          <p:nvPr/>
        </p:nvSpPr>
        <p:spPr>
          <a:xfrm>
            <a:off x="6188888" y="1264444"/>
            <a:ext cx="85725" cy="114300"/>
          </a:xfrm>
          <a:custGeom>
            <a:rect b="b" l="l" r="r" t="t"/>
            <a:pathLst>
              <a:path extrusionOk="0" h="152400" w="1143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7"/>
          <p:cNvSpPr/>
          <p:nvPr/>
        </p:nvSpPr>
        <p:spPr>
          <a:xfrm>
            <a:off x="6360338" y="1235869"/>
            <a:ext cx="2436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Nessun accesso automatico: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tutte le conversazioni richiedono invito esplicito.</a:t>
            </a:r>
            <a:endParaRPr b="0" i="0" sz="1200" u="none" cap="none" strike="noStrike"/>
          </a:p>
        </p:txBody>
      </p:sp>
      <p:sp>
        <p:nvSpPr>
          <p:cNvPr id="1051" name="Google Shape;1051;p37"/>
          <p:cNvSpPr/>
          <p:nvPr/>
        </p:nvSpPr>
        <p:spPr>
          <a:xfrm>
            <a:off x="6167456" y="1664494"/>
            <a:ext cx="128588" cy="114300"/>
          </a:xfrm>
          <a:custGeom>
            <a:rect b="b" l="l" r="r" t="t"/>
            <a:pathLst>
              <a:path extrusionOk="0" h="152400" w="1714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7"/>
          <p:cNvSpPr/>
          <p:nvPr/>
        </p:nvSpPr>
        <p:spPr>
          <a:xfrm>
            <a:off x="6360338" y="1635919"/>
            <a:ext cx="2436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 privati: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solo due partecipanti, nessuna espansione.</a:t>
            </a:r>
            <a:endParaRPr b="0" i="0" sz="1200" u="none" cap="none" strike="noStrike"/>
          </a:p>
        </p:txBody>
      </p:sp>
      <p:sp>
        <p:nvSpPr>
          <p:cNvPr id="1053" name="Google Shape;1053;p37"/>
          <p:cNvSpPr/>
          <p:nvPr/>
        </p:nvSpPr>
        <p:spPr>
          <a:xfrm>
            <a:off x="6167456" y="2064544"/>
            <a:ext cx="128588" cy="114300"/>
          </a:xfrm>
          <a:custGeom>
            <a:rect b="b" l="l" r="r" t="t"/>
            <a:pathLst>
              <a:path extrusionOk="0" h="152400" w="17145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40643" y="121087"/>
                </a:lnTo>
                <a:cubicBezTo>
                  <a:pt x="141446" y="120372"/>
                  <a:pt x="142250" y="119658"/>
                  <a:pt x="143024" y="118943"/>
                </a:cubicBezTo>
                <a:cubicBezTo>
                  <a:pt x="156954" y="105995"/>
                  <a:pt x="166271" y="90547"/>
                  <a:pt x="170706" y="79921"/>
                </a:cubicBezTo>
                <a:cubicBezTo>
                  <a:pt x="171688" y="77569"/>
                  <a:pt x="171688" y="74950"/>
                  <a:pt x="170706" y="72598"/>
                </a:cubicBezTo>
                <a:cubicBezTo>
                  <a:pt x="166271" y="61972"/>
                  <a:pt x="156954" y="46494"/>
                  <a:pt x="143024" y="33576"/>
                </a:cubicBezTo>
                <a:cubicBezTo>
                  <a:pt x="129004" y="20568"/>
                  <a:pt x="109746" y="9585"/>
                  <a:pt x="85695" y="9585"/>
                </a:cubicBezTo>
                <a:cubicBezTo>
                  <a:pt x="68788" y="9585"/>
                  <a:pt x="54263" y="15002"/>
                  <a:pt x="42237" y="22741"/>
                </a:cubicBezTo>
                <a:lnTo>
                  <a:pt x="12204" y="-7412"/>
                </a:lnTo>
                <a:close/>
                <a:moveTo>
                  <a:pt x="60871" y="41285"/>
                </a:moveTo>
                <a:cubicBezTo>
                  <a:pt x="67866" y="36284"/>
                  <a:pt x="76468" y="33337"/>
                  <a:pt x="85725" y="33337"/>
                </a:cubicBezTo>
                <a:cubicBezTo>
                  <a:pt x="109389" y="33337"/>
                  <a:pt x="128588" y="52536"/>
                  <a:pt x="128588" y="76200"/>
                </a:cubicBezTo>
                <a:cubicBezTo>
                  <a:pt x="128588" y="85457"/>
                  <a:pt x="125641" y="94030"/>
                  <a:pt x="120640" y="101054"/>
                </a:cubicBezTo>
                <a:lnTo>
                  <a:pt x="110311" y="90726"/>
                </a:lnTo>
                <a:cubicBezTo>
                  <a:pt x="114092" y="84356"/>
                  <a:pt x="115372" y="76527"/>
                  <a:pt x="113318" y="68788"/>
                </a:cubicBezTo>
                <a:cubicBezTo>
                  <a:pt x="109240" y="53548"/>
                  <a:pt x="93553" y="44500"/>
                  <a:pt x="78313" y="48578"/>
                </a:cubicBezTo>
                <a:cubicBezTo>
                  <a:pt x="75754" y="49262"/>
                  <a:pt x="73343" y="50274"/>
                  <a:pt x="71170" y="51554"/>
                </a:cubicBezTo>
                <a:lnTo>
                  <a:pt x="60841" y="41225"/>
                </a:lnTo>
                <a:close/>
                <a:moveTo>
                  <a:pt x="96828" y="117604"/>
                </a:moveTo>
                <a:cubicBezTo>
                  <a:pt x="93285" y="118556"/>
                  <a:pt x="89565" y="119062"/>
                  <a:pt x="85725" y="119062"/>
                </a:cubicBezTo>
                <a:cubicBezTo>
                  <a:pt x="62061" y="119062"/>
                  <a:pt x="42863" y="99864"/>
                  <a:pt x="42863" y="76200"/>
                </a:cubicBezTo>
                <a:cubicBezTo>
                  <a:pt x="42863" y="72360"/>
                  <a:pt x="43369" y="68640"/>
                  <a:pt x="44321" y="65097"/>
                </a:cubicBezTo>
                <a:lnTo>
                  <a:pt x="20657" y="41434"/>
                </a:lnTo>
                <a:cubicBezTo>
                  <a:pt x="10954" y="52388"/>
                  <a:pt x="4286" y="63996"/>
                  <a:pt x="744" y="72539"/>
                </a:cubicBezTo>
                <a:cubicBezTo>
                  <a:pt x="-238" y="74890"/>
                  <a:pt x="-238" y="77510"/>
                  <a:pt x="744" y="79861"/>
                </a:cubicBezTo>
                <a:cubicBezTo>
                  <a:pt x="5179" y="90488"/>
                  <a:pt x="14496" y="105966"/>
                  <a:pt x="28426" y="118884"/>
                </a:cubicBezTo>
                <a:cubicBezTo>
                  <a:pt x="42446" y="131891"/>
                  <a:pt x="61704" y="142875"/>
                  <a:pt x="85755" y="142875"/>
                </a:cubicBezTo>
                <a:cubicBezTo>
                  <a:pt x="96857" y="142875"/>
                  <a:pt x="106948" y="140524"/>
                  <a:pt x="115967" y="136743"/>
                </a:cubicBezTo>
                <a:lnTo>
                  <a:pt x="96857" y="11763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7"/>
          <p:cNvSpPr/>
          <p:nvPr/>
        </p:nvSpPr>
        <p:spPr>
          <a:xfrm>
            <a:off x="6360338" y="2035969"/>
            <a:ext cx="2436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Visibilità controllata: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chat appaiono solo dopo accettazione.</a:t>
            </a:r>
            <a:endParaRPr b="0" i="0" sz="1200" u="none" cap="none" strike="noStrike"/>
          </a:p>
        </p:txBody>
      </p:sp>
      <p:sp>
        <p:nvSpPr>
          <p:cNvPr id="1055" name="Google Shape;1055;p37"/>
          <p:cNvSpPr/>
          <p:nvPr/>
        </p:nvSpPr>
        <p:spPr>
          <a:xfrm>
            <a:off x="6038869" y="2586038"/>
            <a:ext cx="2821781" cy="942975"/>
          </a:xfrm>
          <a:custGeom>
            <a:rect b="b" l="l" r="r" t="t"/>
            <a:pathLst>
              <a:path extrusionOk="0" h="1257300" w="3762375">
                <a:moveTo>
                  <a:pt x="76205" y="0"/>
                </a:moveTo>
                <a:lnTo>
                  <a:pt x="3686170" y="0"/>
                </a:lnTo>
                <a:cubicBezTo>
                  <a:pt x="3728257" y="0"/>
                  <a:pt x="3762375" y="34118"/>
                  <a:pt x="3762375" y="76205"/>
                </a:cubicBezTo>
                <a:lnTo>
                  <a:pt x="3762375" y="1181095"/>
                </a:lnTo>
                <a:cubicBezTo>
                  <a:pt x="3762375" y="1223182"/>
                  <a:pt x="3728257" y="1257300"/>
                  <a:pt x="36861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7"/>
          <p:cNvSpPr/>
          <p:nvPr/>
        </p:nvSpPr>
        <p:spPr>
          <a:xfrm>
            <a:off x="6153169" y="2700338"/>
            <a:ext cx="2650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Anti-Spam</a:t>
            </a:r>
            <a:endParaRPr b="0" i="0" sz="1200" u="none" cap="none" strike="noStrike"/>
          </a:p>
        </p:txBody>
      </p:sp>
      <p:sp>
        <p:nvSpPr>
          <p:cNvPr id="1057" name="Google Shape;1057;p37"/>
          <p:cNvSpPr/>
          <p:nvPr/>
        </p:nvSpPr>
        <p:spPr>
          <a:xfrm>
            <a:off x="6167456" y="2953941"/>
            <a:ext cx="100013" cy="100013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7"/>
          <p:cNvSpPr/>
          <p:nvPr/>
        </p:nvSpPr>
        <p:spPr>
          <a:xfrm>
            <a:off x="6303188" y="2928938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Cooldown 2 min post-rifiuto</a:t>
            </a:r>
            <a:endParaRPr b="0" i="0" sz="1200" u="none" cap="none" strike="noStrike"/>
          </a:p>
        </p:txBody>
      </p:sp>
      <p:sp>
        <p:nvSpPr>
          <p:cNvPr id="1059" name="Google Shape;1059;p37"/>
          <p:cNvSpPr/>
          <p:nvPr/>
        </p:nvSpPr>
        <p:spPr>
          <a:xfrm>
            <a:off x="6167456" y="3125391"/>
            <a:ext cx="100013" cy="100013"/>
          </a:xfrm>
          <a:custGeom>
            <a:rect b="b" l="l" r="r" t="t"/>
            <a:pathLst>
              <a:path extrusionOk="0" h="133350" w="133350">
                <a:moveTo>
                  <a:pt x="95637" y="107435"/>
                </a:moveTo>
                <a:lnTo>
                  <a:pt x="25915" y="37713"/>
                </a:lnTo>
                <a:cubicBezTo>
                  <a:pt x="20081" y="45891"/>
                  <a:pt x="16669" y="55892"/>
                  <a:pt x="16669" y="66675"/>
                </a:cubicBezTo>
                <a:cubicBezTo>
                  <a:pt x="16669" y="94283"/>
                  <a:pt x="39067" y="116681"/>
                  <a:pt x="66675" y="116681"/>
                </a:cubicBezTo>
                <a:cubicBezTo>
                  <a:pt x="77484" y="116681"/>
                  <a:pt x="87485" y="113269"/>
                  <a:pt x="95637" y="107435"/>
                </a:cubicBezTo>
                <a:close/>
                <a:moveTo>
                  <a:pt x="107435" y="95637"/>
                </a:moveTo>
                <a:cubicBezTo>
                  <a:pt x="113269" y="87459"/>
                  <a:pt x="116681" y="77458"/>
                  <a:pt x="116681" y="66675"/>
                </a:cubicBezTo>
                <a:cubicBezTo>
                  <a:pt x="116681" y="39067"/>
                  <a:pt x="94283" y="16669"/>
                  <a:pt x="66675" y="16669"/>
                </a:cubicBezTo>
                <a:cubicBezTo>
                  <a:pt x="55866" y="16669"/>
                  <a:pt x="45865" y="20081"/>
                  <a:pt x="37713" y="25915"/>
                </a:cubicBezTo>
                <a:lnTo>
                  <a:pt x="107435" y="95637"/>
                </a:ln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7"/>
          <p:cNvSpPr/>
          <p:nvPr/>
        </p:nvSpPr>
        <p:spPr>
          <a:xfrm>
            <a:off x="6303188" y="3100388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Blocco re-invio immediato</a:t>
            </a:r>
            <a:endParaRPr b="0" i="0" sz="1200" u="none" cap="none" strike="noStrike"/>
          </a:p>
        </p:txBody>
      </p:sp>
      <p:sp>
        <p:nvSpPr>
          <p:cNvPr id="1061" name="Google Shape;1061;p37"/>
          <p:cNvSpPr/>
          <p:nvPr/>
        </p:nvSpPr>
        <p:spPr>
          <a:xfrm>
            <a:off x="6161205" y="3296841"/>
            <a:ext cx="112514" cy="100013"/>
          </a:xfrm>
          <a:custGeom>
            <a:rect b="b" l="l" r="r" t="t"/>
            <a:pathLst>
              <a:path extrusionOk="0" h="133350" w="150019">
                <a:moveTo>
                  <a:pt x="147571" y="14221"/>
                </a:moveTo>
                <a:cubicBezTo>
                  <a:pt x="150826" y="10965"/>
                  <a:pt x="150826" y="5678"/>
                  <a:pt x="147571" y="2422"/>
                </a:cubicBezTo>
                <a:cubicBezTo>
                  <a:pt x="144315" y="-833"/>
                  <a:pt x="139028" y="-833"/>
                  <a:pt x="135772" y="2422"/>
                </a:cubicBezTo>
                <a:lnTo>
                  <a:pt x="85766" y="52428"/>
                </a:lnTo>
                <a:lnTo>
                  <a:pt x="76728" y="43391"/>
                </a:lnTo>
                <a:cubicBezTo>
                  <a:pt x="75634" y="42297"/>
                  <a:pt x="74124" y="41672"/>
                  <a:pt x="72561" y="41672"/>
                </a:cubicBezTo>
                <a:cubicBezTo>
                  <a:pt x="69306" y="41672"/>
                  <a:pt x="66675" y="44302"/>
                  <a:pt x="66675" y="47558"/>
                </a:cubicBezTo>
                <a:lnTo>
                  <a:pt x="66675" y="55137"/>
                </a:lnTo>
                <a:lnTo>
                  <a:pt x="94882" y="83344"/>
                </a:lnTo>
                <a:lnTo>
                  <a:pt x="102461" y="83344"/>
                </a:lnTo>
                <a:cubicBezTo>
                  <a:pt x="105716" y="83344"/>
                  <a:pt x="108347" y="80713"/>
                  <a:pt x="108347" y="77458"/>
                </a:cubicBezTo>
                <a:cubicBezTo>
                  <a:pt x="108347" y="75895"/>
                  <a:pt x="107722" y="74384"/>
                  <a:pt x="106628" y="73290"/>
                </a:cubicBezTo>
                <a:lnTo>
                  <a:pt x="97590" y="64253"/>
                </a:lnTo>
                <a:lnTo>
                  <a:pt x="147597" y="14247"/>
                </a:lnTo>
                <a:close/>
                <a:moveTo>
                  <a:pt x="88839" y="92043"/>
                </a:moveTo>
                <a:lnTo>
                  <a:pt x="57976" y="61180"/>
                </a:lnTo>
                <a:cubicBezTo>
                  <a:pt x="46855" y="60216"/>
                  <a:pt x="35786" y="64227"/>
                  <a:pt x="27816" y="72197"/>
                </a:cubicBezTo>
                <a:lnTo>
                  <a:pt x="25732" y="74280"/>
                </a:lnTo>
                <a:cubicBezTo>
                  <a:pt x="19924" y="80088"/>
                  <a:pt x="16669" y="87954"/>
                  <a:pt x="16669" y="96158"/>
                </a:cubicBezTo>
                <a:cubicBezTo>
                  <a:pt x="16669" y="97929"/>
                  <a:pt x="18518" y="99075"/>
                  <a:pt x="20107" y="98294"/>
                </a:cubicBezTo>
                <a:lnTo>
                  <a:pt x="33416" y="91652"/>
                </a:lnTo>
                <a:cubicBezTo>
                  <a:pt x="34718" y="91001"/>
                  <a:pt x="35890" y="92720"/>
                  <a:pt x="34822" y="93710"/>
                </a:cubicBezTo>
                <a:lnTo>
                  <a:pt x="1901" y="123297"/>
                </a:lnTo>
                <a:cubicBezTo>
                  <a:pt x="703" y="124391"/>
                  <a:pt x="0" y="125953"/>
                  <a:pt x="0" y="127594"/>
                </a:cubicBezTo>
                <a:cubicBezTo>
                  <a:pt x="0" y="130772"/>
                  <a:pt x="2578" y="133350"/>
                  <a:pt x="5756" y="133350"/>
                </a:cubicBezTo>
                <a:lnTo>
                  <a:pt x="50892" y="133350"/>
                </a:lnTo>
                <a:cubicBezTo>
                  <a:pt x="60997" y="133350"/>
                  <a:pt x="70660" y="129339"/>
                  <a:pt x="77822" y="122203"/>
                </a:cubicBezTo>
                <a:cubicBezTo>
                  <a:pt x="85792" y="114233"/>
                  <a:pt x="89777" y="103164"/>
                  <a:pt x="88839" y="9204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7"/>
          <p:cNvSpPr/>
          <p:nvPr/>
        </p:nvSpPr>
        <p:spPr>
          <a:xfrm>
            <a:off x="6303188" y="3271838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Pulizia automatica inviti</a:t>
            </a:r>
            <a:endParaRPr b="0" i="0" sz="1200" u="none" cap="none" strike="noStrike"/>
          </a:p>
        </p:txBody>
      </p:sp>
      <p:sp>
        <p:nvSpPr>
          <p:cNvPr id="1063" name="Google Shape;1063;p37"/>
          <p:cNvSpPr/>
          <p:nvPr/>
        </p:nvSpPr>
        <p:spPr>
          <a:xfrm>
            <a:off x="6038869" y="3614738"/>
            <a:ext cx="2821781" cy="800100"/>
          </a:xfrm>
          <a:custGeom>
            <a:rect b="b" l="l" r="r" t="t"/>
            <a:pathLst>
              <a:path extrusionOk="0" h="1066800" w="3762375">
                <a:moveTo>
                  <a:pt x="76202" y="0"/>
                </a:moveTo>
                <a:lnTo>
                  <a:pt x="3686173" y="0"/>
                </a:lnTo>
                <a:cubicBezTo>
                  <a:pt x="3728258" y="0"/>
                  <a:pt x="3762375" y="34117"/>
                  <a:pt x="3762375" y="76202"/>
                </a:cubicBezTo>
                <a:lnTo>
                  <a:pt x="3762375" y="990598"/>
                </a:lnTo>
                <a:cubicBezTo>
                  <a:pt x="3762375" y="1032683"/>
                  <a:pt x="3728258" y="1066800"/>
                  <a:pt x="36861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7"/>
          <p:cNvSpPr/>
          <p:nvPr/>
        </p:nvSpPr>
        <p:spPr>
          <a:xfrm>
            <a:off x="6153169" y="3729038"/>
            <a:ext cx="2650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Compatibilità</a:t>
            </a:r>
            <a:endParaRPr b="0" i="0" sz="1200" u="none" cap="none" strike="noStrike"/>
          </a:p>
        </p:txBody>
      </p:sp>
      <p:sp>
        <p:nvSpPr>
          <p:cNvPr id="1065" name="Google Shape;1065;p37"/>
          <p:cNvSpPr/>
          <p:nvPr/>
        </p:nvSpPr>
        <p:spPr>
          <a:xfrm>
            <a:off x="6252404" y="3957638"/>
            <a:ext cx="150019" cy="171450"/>
          </a:xfrm>
          <a:custGeom>
            <a:rect b="b" l="l" r="r" t="t"/>
            <a:pathLst>
              <a:path extrusionOk="0" h="228600" w="200025">
                <a:moveTo>
                  <a:pt x="0" y="41836"/>
                </a:moveTo>
                <a:lnTo>
                  <a:pt x="81975" y="30540"/>
                </a:lnTo>
                <a:lnTo>
                  <a:pt x="81975" y="109746"/>
                </a:lnTo>
                <a:lnTo>
                  <a:pt x="0" y="109746"/>
                </a:lnTo>
                <a:lnTo>
                  <a:pt x="0" y="41836"/>
                </a:lnTo>
                <a:close/>
                <a:moveTo>
                  <a:pt x="0" y="186764"/>
                </a:moveTo>
                <a:lnTo>
                  <a:pt x="81975" y="198060"/>
                </a:lnTo>
                <a:lnTo>
                  <a:pt x="81975" y="119836"/>
                </a:lnTo>
                <a:lnTo>
                  <a:pt x="0" y="119836"/>
                </a:lnTo>
                <a:lnTo>
                  <a:pt x="0" y="186764"/>
                </a:lnTo>
                <a:close/>
                <a:moveTo>
                  <a:pt x="90994" y="199266"/>
                </a:moveTo>
                <a:lnTo>
                  <a:pt x="200025" y="214313"/>
                </a:lnTo>
                <a:lnTo>
                  <a:pt x="200025" y="119836"/>
                </a:lnTo>
                <a:lnTo>
                  <a:pt x="90994" y="119836"/>
                </a:lnTo>
                <a:lnTo>
                  <a:pt x="90994" y="199266"/>
                </a:lnTo>
                <a:close/>
                <a:moveTo>
                  <a:pt x="90994" y="29334"/>
                </a:moveTo>
                <a:lnTo>
                  <a:pt x="90994" y="109746"/>
                </a:lnTo>
                <a:lnTo>
                  <a:pt x="200025" y="109746"/>
                </a:lnTo>
                <a:lnTo>
                  <a:pt x="200025" y="14287"/>
                </a:lnTo>
                <a:lnTo>
                  <a:pt x="90994" y="29334"/>
                </a:lnTo>
                <a:close/>
              </a:path>
            </a:pathLst>
          </a:custGeom>
          <a:solidFill>
            <a:srgbClr val="E8E9EA">
              <a:alpha val="60000"/>
            </a:srgbClr>
          </a:solidFill>
          <a:ln>
            <a:noFill/>
          </a:ln>
        </p:spPr>
      </p:sp>
      <p:sp>
        <p:nvSpPr>
          <p:cNvPr id="1066" name="Google Shape;1066;p37"/>
          <p:cNvSpPr/>
          <p:nvPr/>
        </p:nvSpPr>
        <p:spPr>
          <a:xfrm>
            <a:off x="6562661" y="3957638"/>
            <a:ext cx="128588" cy="171450"/>
          </a:xfrm>
          <a:custGeom>
            <a:rect b="b" l="l" r="r" t="t"/>
            <a:pathLst>
              <a:path extrusionOk="0" h="228600" w="171450">
                <a:moveTo>
                  <a:pt x="142473" y="119970"/>
                </a:moveTo>
                <a:cubicBezTo>
                  <a:pt x="142384" y="103584"/>
                  <a:pt x="149796" y="91217"/>
                  <a:pt x="164797" y="82108"/>
                </a:cubicBezTo>
                <a:cubicBezTo>
                  <a:pt x="156403" y="70098"/>
                  <a:pt x="143723" y="63490"/>
                  <a:pt x="126980" y="62195"/>
                </a:cubicBezTo>
                <a:cubicBezTo>
                  <a:pt x="111130" y="60945"/>
                  <a:pt x="93806" y="71437"/>
                  <a:pt x="87466" y="71437"/>
                </a:cubicBezTo>
                <a:cubicBezTo>
                  <a:pt x="80769" y="71437"/>
                  <a:pt x="65410" y="62642"/>
                  <a:pt x="53355" y="62642"/>
                </a:cubicBezTo>
                <a:cubicBezTo>
                  <a:pt x="28441" y="63044"/>
                  <a:pt x="1965" y="82510"/>
                  <a:pt x="1965" y="122113"/>
                </a:cubicBezTo>
                <a:cubicBezTo>
                  <a:pt x="1965" y="133811"/>
                  <a:pt x="4108" y="145911"/>
                  <a:pt x="8394" y="158368"/>
                </a:cubicBezTo>
                <a:cubicBezTo>
                  <a:pt x="14109" y="174754"/>
                  <a:pt x="34736" y="214938"/>
                  <a:pt x="56257" y="214268"/>
                </a:cubicBezTo>
                <a:cubicBezTo>
                  <a:pt x="67508" y="214000"/>
                  <a:pt x="75456" y="206276"/>
                  <a:pt x="90101" y="206276"/>
                </a:cubicBezTo>
                <a:cubicBezTo>
                  <a:pt x="104299" y="206276"/>
                  <a:pt x="111666" y="214268"/>
                  <a:pt x="124212" y="214268"/>
                </a:cubicBezTo>
                <a:cubicBezTo>
                  <a:pt x="145911" y="213955"/>
                  <a:pt x="164574" y="177433"/>
                  <a:pt x="170021" y="161002"/>
                </a:cubicBezTo>
                <a:cubicBezTo>
                  <a:pt x="140910" y="147295"/>
                  <a:pt x="142473" y="120819"/>
                  <a:pt x="142473" y="119970"/>
                </a:cubicBezTo>
                <a:close/>
                <a:moveTo>
                  <a:pt x="117202" y="46658"/>
                </a:moveTo>
                <a:cubicBezTo>
                  <a:pt x="129391" y="32192"/>
                  <a:pt x="128275" y="19020"/>
                  <a:pt x="127918" y="14288"/>
                </a:cubicBezTo>
                <a:cubicBezTo>
                  <a:pt x="117157" y="14913"/>
                  <a:pt x="104701" y="21610"/>
                  <a:pt x="97601" y="29870"/>
                </a:cubicBezTo>
                <a:cubicBezTo>
                  <a:pt x="89788" y="38710"/>
                  <a:pt x="85189" y="49649"/>
                  <a:pt x="86171" y="61972"/>
                </a:cubicBezTo>
                <a:cubicBezTo>
                  <a:pt x="97825" y="62865"/>
                  <a:pt x="108451" y="56882"/>
                  <a:pt x="117202" y="46658"/>
                </a:cubicBezTo>
                <a:close/>
              </a:path>
            </a:pathLst>
          </a:custGeom>
          <a:solidFill>
            <a:srgbClr val="E8E9EA">
              <a:alpha val="6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7"/>
          <p:cNvSpPr/>
          <p:nvPr/>
        </p:nvSpPr>
        <p:spPr>
          <a:xfrm>
            <a:off x="6128165" y="4157663"/>
            <a:ext cx="26431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Multipiattaforma</a:t>
            </a:r>
            <a:endParaRPr b="0" i="0" sz="1200" u="none" cap="none" strike="noStrike"/>
          </a:p>
        </p:txBody>
      </p:sp>
      <p:sp>
        <p:nvSpPr>
          <p:cNvPr id="1068" name="Google Shape;1068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38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Interface</a:t>
            </a:r>
            <a:endParaRPr b="0" i="0" sz="1200" u="none" cap="none" strike="noStrike"/>
          </a:p>
        </p:txBody>
      </p:sp>
      <p:sp>
        <p:nvSpPr>
          <p:cNvPr id="1075" name="Google Shape;1075;p38"/>
          <p:cNvSpPr/>
          <p:nvPr/>
        </p:nvSpPr>
        <p:spPr>
          <a:xfrm>
            <a:off x="285750" y="485775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Interfaccia e Tempo Reale</a:t>
            </a:r>
            <a:endParaRPr b="0" i="0" sz="1200" u="none" cap="none" strike="noStrike"/>
          </a:p>
        </p:txBody>
      </p:sp>
      <p:sp>
        <p:nvSpPr>
          <p:cNvPr id="1076" name="Google Shape;1076;p38"/>
          <p:cNvSpPr/>
          <p:nvPr/>
        </p:nvSpPr>
        <p:spPr>
          <a:xfrm>
            <a:off x="300038" y="828675"/>
            <a:ext cx="4214813" cy="3293269"/>
          </a:xfrm>
          <a:custGeom>
            <a:rect b="b" l="l" r="r" t="t"/>
            <a:pathLst>
              <a:path extrusionOk="0" h="4391025" w="5619750">
                <a:moveTo>
                  <a:pt x="38100" y="0"/>
                </a:moveTo>
                <a:lnTo>
                  <a:pt x="5543566" y="0"/>
                </a:lnTo>
                <a:cubicBezTo>
                  <a:pt x="5585613" y="0"/>
                  <a:pt x="5619750" y="34137"/>
                  <a:pt x="5619750" y="76184"/>
                </a:cubicBezTo>
                <a:lnTo>
                  <a:pt x="5619750" y="4314841"/>
                </a:lnTo>
                <a:cubicBezTo>
                  <a:pt x="5619750" y="4356916"/>
                  <a:pt x="5585641" y="4391025"/>
                  <a:pt x="5543566" y="4391025"/>
                </a:cubicBezTo>
                <a:lnTo>
                  <a:pt x="38100" y="4391025"/>
                </a:lnTo>
                <a:cubicBezTo>
                  <a:pt x="17072" y="4391025"/>
                  <a:pt x="0" y="4373953"/>
                  <a:pt x="0" y="435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8"/>
          <p:cNvSpPr/>
          <p:nvPr/>
        </p:nvSpPr>
        <p:spPr>
          <a:xfrm>
            <a:off x="300038" y="828675"/>
            <a:ext cx="28575" cy="3293269"/>
          </a:xfrm>
          <a:custGeom>
            <a:rect b="b" l="l" r="r" t="t"/>
            <a:pathLst>
              <a:path extrusionOk="0" h="4391025" w="38100">
                <a:moveTo>
                  <a:pt x="38100" y="0"/>
                </a:moveTo>
                <a:lnTo>
                  <a:pt x="38100" y="0"/>
                </a:lnTo>
                <a:lnTo>
                  <a:pt x="38100" y="4391025"/>
                </a:lnTo>
                <a:lnTo>
                  <a:pt x="38100" y="4391025"/>
                </a:lnTo>
                <a:cubicBezTo>
                  <a:pt x="17072" y="4391025"/>
                  <a:pt x="0" y="4373953"/>
                  <a:pt x="0" y="435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8"/>
          <p:cNvSpPr/>
          <p:nvPr/>
        </p:nvSpPr>
        <p:spPr>
          <a:xfrm>
            <a:off x="428625" y="942975"/>
            <a:ext cx="4043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Componenti UI</a:t>
            </a:r>
            <a:endParaRPr b="0" i="0" sz="1200" u="none" cap="none" strike="noStrike"/>
          </a:p>
        </p:txBody>
      </p:sp>
      <p:sp>
        <p:nvSpPr>
          <p:cNvPr id="1079" name="Google Shape;1079;p38"/>
          <p:cNvSpPr/>
          <p:nvPr/>
        </p:nvSpPr>
        <p:spPr>
          <a:xfrm>
            <a:off x="428625" y="1685925"/>
            <a:ext cx="3971925" cy="421481"/>
          </a:xfrm>
          <a:custGeom>
            <a:rect b="b" l="l" r="r" t="t"/>
            <a:pathLst>
              <a:path extrusionOk="0" h="561975" w="5295900">
                <a:moveTo>
                  <a:pt x="38102" y="0"/>
                </a:moveTo>
                <a:lnTo>
                  <a:pt x="5257798" y="0"/>
                </a:lnTo>
                <a:cubicBezTo>
                  <a:pt x="5278841" y="0"/>
                  <a:pt x="5295900" y="17059"/>
                  <a:pt x="5295900" y="38102"/>
                </a:cubicBezTo>
                <a:lnTo>
                  <a:pt x="5295900" y="523873"/>
                </a:lnTo>
                <a:cubicBezTo>
                  <a:pt x="5295900" y="544916"/>
                  <a:pt x="5278841" y="561975"/>
                  <a:pt x="5257798" y="561975"/>
                </a:cubicBezTo>
                <a:lnTo>
                  <a:pt x="38102" y="561975"/>
                </a:lnTo>
                <a:cubicBezTo>
                  <a:pt x="17059" y="561975"/>
                  <a:pt x="0" y="544916"/>
                  <a:pt x="0" y="5238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8"/>
          <p:cNvSpPr/>
          <p:nvPr/>
        </p:nvSpPr>
        <p:spPr>
          <a:xfrm>
            <a:off x="507206" y="1771650"/>
            <a:ext cx="100013" cy="114300"/>
          </a:xfrm>
          <a:custGeom>
            <a:rect b="b" l="l" r="r" t="t"/>
            <a:pathLst>
              <a:path extrusionOk="0" h="152400" w="13335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8"/>
          <p:cNvSpPr/>
          <p:nvPr/>
        </p:nvSpPr>
        <p:spPr>
          <a:xfrm>
            <a:off x="714375" y="1743075"/>
            <a:ext cx="26717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Navbar Superiore</a:t>
            </a:r>
            <a:endParaRPr b="0" i="0" sz="1200" u="none" cap="none" strike="noStrike"/>
          </a:p>
        </p:txBody>
      </p:sp>
      <p:sp>
        <p:nvSpPr>
          <p:cNvPr id="1082" name="Google Shape;1082;p38"/>
          <p:cNvSpPr/>
          <p:nvPr/>
        </p:nvSpPr>
        <p:spPr>
          <a:xfrm>
            <a:off x="714375" y="1914525"/>
            <a:ext cx="2664619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Navigazione tra "Le Mie Chat" e "Inviti" con badge notifiche</a:t>
            </a:r>
            <a:endParaRPr b="0" i="0" sz="1200" u="none" cap="none" strike="noStrike"/>
          </a:p>
        </p:txBody>
      </p:sp>
      <p:sp>
        <p:nvSpPr>
          <p:cNvPr id="1083" name="Google Shape;1083;p38"/>
          <p:cNvSpPr/>
          <p:nvPr/>
        </p:nvSpPr>
        <p:spPr>
          <a:xfrm>
            <a:off x="428625" y="2166342"/>
            <a:ext cx="3971925" cy="421481"/>
          </a:xfrm>
          <a:custGeom>
            <a:rect b="b" l="l" r="r" t="t"/>
            <a:pathLst>
              <a:path extrusionOk="0" h="561975" w="5295900">
                <a:moveTo>
                  <a:pt x="38102" y="0"/>
                </a:moveTo>
                <a:lnTo>
                  <a:pt x="5257798" y="0"/>
                </a:lnTo>
                <a:cubicBezTo>
                  <a:pt x="5278841" y="0"/>
                  <a:pt x="5295900" y="17059"/>
                  <a:pt x="5295900" y="38102"/>
                </a:cubicBezTo>
                <a:lnTo>
                  <a:pt x="5295900" y="523873"/>
                </a:lnTo>
                <a:cubicBezTo>
                  <a:pt x="5295900" y="544916"/>
                  <a:pt x="5278841" y="561975"/>
                  <a:pt x="5257798" y="561975"/>
                </a:cubicBezTo>
                <a:lnTo>
                  <a:pt x="38102" y="561975"/>
                </a:lnTo>
                <a:cubicBezTo>
                  <a:pt x="17059" y="561975"/>
                  <a:pt x="0" y="544916"/>
                  <a:pt x="0" y="5238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8"/>
          <p:cNvSpPr/>
          <p:nvPr/>
        </p:nvSpPr>
        <p:spPr>
          <a:xfrm>
            <a:off x="507206" y="2252067"/>
            <a:ext cx="100013" cy="114300"/>
          </a:xfrm>
          <a:custGeom>
            <a:rect b="b" l="l" r="r" t="t"/>
            <a:pathLst>
              <a:path extrusionOk="0" h="152400" w="13335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lose/>
                <a:moveTo>
                  <a:pt x="19050" y="47625"/>
                </a:moveTo>
                <a:lnTo>
                  <a:pt x="19050" y="123825"/>
                </a:lnTo>
                <a:lnTo>
                  <a:pt x="57150" y="123825"/>
                </a:lnTo>
                <a:lnTo>
                  <a:pt x="57150" y="47625"/>
                </a:lnTo>
                <a:lnTo>
                  <a:pt x="19050" y="47625"/>
                </a:lnTo>
                <a:close/>
                <a:moveTo>
                  <a:pt x="114300" y="47625"/>
                </a:moveTo>
                <a:lnTo>
                  <a:pt x="76200" y="47625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8"/>
          <p:cNvSpPr/>
          <p:nvPr/>
        </p:nvSpPr>
        <p:spPr>
          <a:xfrm>
            <a:off x="714375" y="2223492"/>
            <a:ext cx="24717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Sidebar Laterale</a:t>
            </a:r>
            <a:endParaRPr b="0" i="0" sz="1200" u="none" cap="none" strike="noStrike"/>
          </a:p>
        </p:txBody>
      </p:sp>
      <p:sp>
        <p:nvSpPr>
          <p:cNvPr id="1086" name="Google Shape;1086;p38"/>
          <p:cNvSpPr/>
          <p:nvPr/>
        </p:nvSpPr>
        <p:spPr>
          <a:xfrm>
            <a:off x="714375" y="2394942"/>
            <a:ext cx="24645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Elenco conversazioni con anteprima ultimo messaggio</a:t>
            </a:r>
            <a:endParaRPr b="0" i="0" sz="1200" u="none" cap="none" strike="noStrike"/>
          </a:p>
        </p:txBody>
      </p:sp>
      <p:sp>
        <p:nvSpPr>
          <p:cNvPr id="1087" name="Google Shape;1087;p38"/>
          <p:cNvSpPr/>
          <p:nvPr/>
        </p:nvSpPr>
        <p:spPr>
          <a:xfrm>
            <a:off x="428625" y="2646760"/>
            <a:ext cx="3971925" cy="421481"/>
          </a:xfrm>
          <a:custGeom>
            <a:rect b="b" l="l" r="r" t="t"/>
            <a:pathLst>
              <a:path extrusionOk="0" h="561975" w="5295900">
                <a:moveTo>
                  <a:pt x="38102" y="0"/>
                </a:moveTo>
                <a:lnTo>
                  <a:pt x="5257798" y="0"/>
                </a:lnTo>
                <a:cubicBezTo>
                  <a:pt x="5278841" y="0"/>
                  <a:pt x="5295900" y="17059"/>
                  <a:pt x="5295900" y="38102"/>
                </a:cubicBezTo>
                <a:lnTo>
                  <a:pt x="5295900" y="523873"/>
                </a:lnTo>
                <a:cubicBezTo>
                  <a:pt x="5295900" y="544916"/>
                  <a:pt x="5278841" y="561975"/>
                  <a:pt x="5257798" y="561975"/>
                </a:cubicBezTo>
                <a:lnTo>
                  <a:pt x="38102" y="561975"/>
                </a:lnTo>
                <a:cubicBezTo>
                  <a:pt x="17059" y="561975"/>
                  <a:pt x="0" y="544916"/>
                  <a:pt x="0" y="5238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8"/>
          <p:cNvSpPr/>
          <p:nvPr/>
        </p:nvSpPr>
        <p:spPr>
          <a:xfrm>
            <a:off x="500063" y="2732485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42875"/>
                </a:moveTo>
                <a:cubicBezTo>
                  <a:pt x="118289" y="142875"/>
                  <a:pt x="152400" y="110877"/>
                  <a:pt x="152400" y="71438"/>
                </a:cubicBezTo>
                <a:cubicBezTo>
                  <a:pt x="152400" y="31998"/>
                  <a:pt x="118289" y="0"/>
                  <a:pt x="76200" y="0"/>
                </a:cubicBezTo>
                <a:cubicBezTo>
                  <a:pt x="34111" y="0"/>
                  <a:pt x="0" y="31998"/>
                  <a:pt x="0" y="71438"/>
                </a:cubicBezTo>
                <a:cubicBezTo>
                  <a:pt x="0" y="87600"/>
                  <a:pt x="5715" y="102483"/>
                  <a:pt x="15359" y="114449"/>
                </a:cubicBezTo>
                <a:lnTo>
                  <a:pt x="833" y="141923"/>
                </a:lnTo>
                <a:cubicBezTo>
                  <a:pt x="-595" y="144601"/>
                  <a:pt x="-149" y="147876"/>
                  <a:pt x="1905" y="150108"/>
                </a:cubicBezTo>
                <a:cubicBezTo>
                  <a:pt x="3959" y="152340"/>
                  <a:pt x="7203" y="153025"/>
                  <a:pt x="9971" y="151834"/>
                </a:cubicBezTo>
                <a:lnTo>
                  <a:pt x="45214" y="136743"/>
                </a:lnTo>
                <a:cubicBezTo>
                  <a:pt x="54679" y="140672"/>
                  <a:pt x="65157" y="142875"/>
                  <a:pt x="76200" y="142875"/>
                </a:cubicBezTo>
                <a:close/>
                <a:moveTo>
                  <a:pt x="38100" y="61912"/>
                </a:moveTo>
                <a:cubicBezTo>
                  <a:pt x="43357" y="61912"/>
                  <a:pt x="47625" y="66181"/>
                  <a:pt x="47625" y="71438"/>
                </a:cubicBezTo>
                <a:cubicBezTo>
                  <a:pt x="47625" y="76694"/>
                  <a:pt x="43357" y="80962"/>
                  <a:pt x="38100" y="80962"/>
                </a:cubicBezTo>
                <a:cubicBezTo>
                  <a:pt x="32843" y="80962"/>
                  <a:pt x="28575" y="76694"/>
                  <a:pt x="28575" y="71438"/>
                </a:cubicBezTo>
                <a:cubicBezTo>
                  <a:pt x="28575" y="66181"/>
                  <a:pt x="32843" y="61912"/>
                  <a:pt x="38100" y="61912"/>
                </a:cubicBezTo>
                <a:close/>
                <a:moveTo>
                  <a:pt x="76200" y="61912"/>
                </a:moveTo>
                <a:cubicBezTo>
                  <a:pt x="81457" y="61912"/>
                  <a:pt x="85725" y="66181"/>
                  <a:pt x="85725" y="71438"/>
                </a:cubicBezTo>
                <a:cubicBezTo>
                  <a:pt x="85725" y="76694"/>
                  <a:pt x="81457" y="80962"/>
                  <a:pt x="76200" y="80962"/>
                </a:cubicBezTo>
                <a:cubicBezTo>
                  <a:pt x="70943" y="80962"/>
                  <a:pt x="66675" y="76694"/>
                  <a:pt x="66675" y="71438"/>
                </a:cubicBezTo>
                <a:cubicBezTo>
                  <a:pt x="66675" y="66181"/>
                  <a:pt x="70943" y="61912"/>
                  <a:pt x="76200" y="61912"/>
                </a:cubicBezTo>
                <a:close/>
                <a:moveTo>
                  <a:pt x="104775" y="71438"/>
                </a:moveTo>
                <a:cubicBezTo>
                  <a:pt x="104775" y="66181"/>
                  <a:pt x="109043" y="61912"/>
                  <a:pt x="114300" y="61912"/>
                </a:cubicBezTo>
                <a:cubicBezTo>
                  <a:pt x="119557" y="61912"/>
                  <a:pt x="123825" y="66181"/>
                  <a:pt x="123825" y="71438"/>
                </a:cubicBezTo>
                <a:cubicBezTo>
                  <a:pt x="123825" y="76694"/>
                  <a:pt x="119557" y="80962"/>
                  <a:pt x="114300" y="80962"/>
                </a:cubicBezTo>
                <a:cubicBezTo>
                  <a:pt x="109043" y="80962"/>
                  <a:pt x="104775" y="76694"/>
                  <a:pt x="104775" y="7143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8"/>
          <p:cNvSpPr/>
          <p:nvPr/>
        </p:nvSpPr>
        <p:spPr>
          <a:xfrm>
            <a:off x="714375" y="2703910"/>
            <a:ext cx="26217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Area Messaggi</a:t>
            </a:r>
            <a:endParaRPr b="0" i="0" sz="1200" u="none" cap="none" strike="noStrike"/>
          </a:p>
        </p:txBody>
      </p:sp>
      <p:sp>
        <p:nvSpPr>
          <p:cNvPr id="1090" name="Google Shape;1090;p38"/>
          <p:cNvSpPr/>
          <p:nvPr/>
        </p:nvSpPr>
        <p:spPr>
          <a:xfrm>
            <a:off x="714375" y="2875359"/>
            <a:ext cx="26146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Visualizzazione differenziata sent/received con auto-scroll</a:t>
            </a:r>
            <a:endParaRPr b="0" i="0" sz="1200" u="none" cap="none" strike="noStrike"/>
          </a:p>
        </p:txBody>
      </p:sp>
      <p:sp>
        <p:nvSpPr>
          <p:cNvPr id="1091" name="Google Shape;1091;p38"/>
          <p:cNvSpPr/>
          <p:nvPr/>
        </p:nvSpPr>
        <p:spPr>
          <a:xfrm>
            <a:off x="428625" y="3127177"/>
            <a:ext cx="3971925" cy="421481"/>
          </a:xfrm>
          <a:custGeom>
            <a:rect b="b" l="l" r="r" t="t"/>
            <a:pathLst>
              <a:path extrusionOk="0" h="561975" w="5295900">
                <a:moveTo>
                  <a:pt x="38102" y="0"/>
                </a:moveTo>
                <a:lnTo>
                  <a:pt x="5257798" y="0"/>
                </a:lnTo>
                <a:cubicBezTo>
                  <a:pt x="5278841" y="0"/>
                  <a:pt x="5295900" y="17059"/>
                  <a:pt x="5295900" y="38102"/>
                </a:cubicBezTo>
                <a:lnTo>
                  <a:pt x="5295900" y="523873"/>
                </a:lnTo>
                <a:cubicBezTo>
                  <a:pt x="5295900" y="544916"/>
                  <a:pt x="5278841" y="561975"/>
                  <a:pt x="5257798" y="561975"/>
                </a:cubicBezTo>
                <a:lnTo>
                  <a:pt x="38102" y="561975"/>
                </a:lnTo>
                <a:cubicBezTo>
                  <a:pt x="17059" y="561975"/>
                  <a:pt x="0" y="544916"/>
                  <a:pt x="0" y="5238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8"/>
          <p:cNvSpPr/>
          <p:nvPr/>
        </p:nvSpPr>
        <p:spPr>
          <a:xfrm>
            <a:off x="492919" y="3212902"/>
            <a:ext cx="128588" cy="114300"/>
          </a:xfrm>
          <a:custGeom>
            <a:rect b="b" l="l" r="r" t="t"/>
            <a:pathLst>
              <a:path extrusionOk="0" h="152400" w="17145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52400" y="133350"/>
                </a:lnTo>
                <a:cubicBezTo>
                  <a:pt x="162907" y="133350"/>
                  <a:pt x="171450" y="124807"/>
                  <a:pt x="171450" y="114300"/>
                </a:cubicBezTo>
                <a:lnTo>
                  <a:pt x="171450" y="38100"/>
                </a:lnTo>
                <a:cubicBezTo>
                  <a:pt x="171450" y="27593"/>
                  <a:pt x="162907" y="19050"/>
                  <a:pt x="152400" y="19050"/>
                </a:cubicBezTo>
                <a:lnTo>
                  <a:pt x="19050" y="19050"/>
                </a:lnTo>
                <a:close/>
                <a:moveTo>
                  <a:pt x="23813" y="38100"/>
                </a:moveTo>
                <a:lnTo>
                  <a:pt x="33338" y="38100"/>
                </a:lnTo>
                <a:cubicBezTo>
                  <a:pt x="35957" y="38100"/>
                  <a:pt x="38100" y="40243"/>
                  <a:pt x="38100" y="42863"/>
                </a:cubicBezTo>
                <a:lnTo>
                  <a:pt x="38100" y="52388"/>
                </a:lnTo>
                <a:cubicBezTo>
                  <a:pt x="38100" y="55007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5007"/>
                  <a:pt x="19050" y="52388"/>
                </a:cubicBezTo>
                <a:lnTo>
                  <a:pt x="19050" y="42863"/>
                </a:lnTo>
                <a:cubicBezTo>
                  <a:pt x="19050" y="40243"/>
                  <a:pt x="21193" y="38100"/>
                  <a:pt x="23813" y="38100"/>
                </a:cubicBezTo>
                <a:close/>
                <a:moveTo>
                  <a:pt x="19050" y="71438"/>
                </a:moveTo>
                <a:cubicBezTo>
                  <a:pt x="19050" y="68818"/>
                  <a:pt x="21193" y="66675"/>
                  <a:pt x="23813" y="66675"/>
                </a:cubicBezTo>
                <a:lnTo>
                  <a:pt x="33338" y="66675"/>
                </a:lnTo>
                <a:cubicBezTo>
                  <a:pt x="35957" y="66675"/>
                  <a:pt x="38100" y="68818"/>
                  <a:pt x="38100" y="71438"/>
                </a:cubicBezTo>
                <a:lnTo>
                  <a:pt x="38100" y="80962"/>
                </a:lnTo>
                <a:cubicBezTo>
                  <a:pt x="38100" y="83582"/>
                  <a:pt x="35957" y="85725"/>
                  <a:pt x="33338" y="85725"/>
                </a:cubicBezTo>
                <a:lnTo>
                  <a:pt x="23813" y="85725"/>
                </a:lnTo>
                <a:cubicBezTo>
                  <a:pt x="21193" y="85725"/>
                  <a:pt x="19050" y="83582"/>
                  <a:pt x="19050" y="80962"/>
                </a:cubicBezTo>
                <a:lnTo>
                  <a:pt x="19050" y="71438"/>
                </a:lnTo>
                <a:close/>
                <a:moveTo>
                  <a:pt x="52388" y="38100"/>
                </a:moveTo>
                <a:lnTo>
                  <a:pt x="61912" y="38100"/>
                </a:lnTo>
                <a:cubicBezTo>
                  <a:pt x="64532" y="38100"/>
                  <a:pt x="66675" y="40243"/>
                  <a:pt x="66675" y="42863"/>
                </a:cubicBezTo>
                <a:lnTo>
                  <a:pt x="66675" y="52388"/>
                </a:lnTo>
                <a:cubicBezTo>
                  <a:pt x="66675" y="55007"/>
                  <a:pt x="64532" y="57150"/>
                  <a:pt x="61912" y="57150"/>
                </a:cubicBezTo>
                <a:lnTo>
                  <a:pt x="52388" y="57150"/>
                </a:lnTo>
                <a:cubicBezTo>
                  <a:pt x="49768" y="57150"/>
                  <a:pt x="47625" y="55007"/>
                  <a:pt x="47625" y="52388"/>
                </a:cubicBezTo>
                <a:lnTo>
                  <a:pt x="47625" y="42863"/>
                </a:lnTo>
                <a:cubicBezTo>
                  <a:pt x="47625" y="40243"/>
                  <a:pt x="49768" y="38100"/>
                  <a:pt x="52388" y="38100"/>
                </a:cubicBezTo>
                <a:close/>
                <a:moveTo>
                  <a:pt x="47625" y="71438"/>
                </a:moveTo>
                <a:cubicBezTo>
                  <a:pt x="47625" y="68818"/>
                  <a:pt x="49768" y="66675"/>
                  <a:pt x="52388" y="66675"/>
                </a:cubicBezTo>
                <a:lnTo>
                  <a:pt x="61912" y="66675"/>
                </a:lnTo>
                <a:cubicBezTo>
                  <a:pt x="64532" y="66675"/>
                  <a:pt x="66675" y="68818"/>
                  <a:pt x="66675" y="71438"/>
                </a:cubicBezTo>
                <a:lnTo>
                  <a:pt x="66675" y="80962"/>
                </a:lnTo>
                <a:cubicBezTo>
                  <a:pt x="66675" y="83582"/>
                  <a:pt x="64532" y="85725"/>
                  <a:pt x="61912" y="85725"/>
                </a:cubicBezTo>
                <a:lnTo>
                  <a:pt x="52388" y="85725"/>
                </a:lnTo>
                <a:cubicBezTo>
                  <a:pt x="49768" y="85725"/>
                  <a:pt x="47625" y="83582"/>
                  <a:pt x="47625" y="80962"/>
                </a:cubicBezTo>
                <a:lnTo>
                  <a:pt x="47625" y="71438"/>
                </a:lnTo>
                <a:close/>
                <a:moveTo>
                  <a:pt x="52388" y="95250"/>
                </a:moveTo>
                <a:lnTo>
                  <a:pt x="119062" y="95250"/>
                </a:lnTo>
                <a:cubicBezTo>
                  <a:pt x="121682" y="95250"/>
                  <a:pt x="123825" y="97393"/>
                  <a:pt x="123825" y="100013"/>
                </a:cubicBezTo>
                <a:lnTo>
                  <a:pt x="123825" y="109537"/>
                </a:lnTo>
                <a:cubicBezTo>
                  <a:pt x="123825" y="112157"/>
                  <a:pt x="121682" y="114300"/>
                  <a:pt x="119062" y="114300"/>
                </a:cubicBezTo>
                <a:lnTo>
                  <a:pt x="52388" y="114300"/>
                </a:lnTo>
                <a:cubicBezTo>
                  <a:pt x="49768" y="114300"/>
                  <a:pt x="47625" y="112157"/>
                  <a:pt x="47625" y="109537"/>
                </a:cubicBezTo>
                <a:lnTo>
                  <a:pt x="47625" y="100013"/>
                </a:lnTo>
                <a:cubicBezTo>
                  <a:pt x="47625" y="97393"/>
                  <a:pt x="49768" y="95250"/>
                  <a:pt x="52388" y="95250"/>
                </a:cubicBezTo>
                <a:close/>
                <a:moveTo>
                  <a:pt x="76200" y="42863"/>
                </a:moveTo>
                <a:cubicBezTo>
                  <a:pt x="76200" y="40243"/>
                  <a:pt x="78343" y="38100"/>
                  <a:pt x="80962" y="38100"/>
                </a:cubicBezTo>
                <a:lnTo>
                  <a:pt x="90488" y="38100"/>
                </a:lnTo>
                <a:cubicBezTo>
                  <a:pt x="93107" y="38100"/>
                  <a:pt x="95250" y="40243"/>
                  <a:pt x="95250" y="42863"/>
                </a:cubicBezTo>
                <a:lnTo>
                  <a:pt x="95250" y="52388"/>
                </a:lnTo>
                <a:cubicBezTo>
                  <a:pt x="95250" y="55007"/>
                  <a:pt x="93107" y="57150"/>
                  <a:pt x="90488" y="57150"/>
                </a:cubicBezTo>
                <a:lnTo>
                  <a:pt x="80962" y="57150"/>
                </a:lnTo>
                <a:cubicBezTo>
                  <a:pt x="78343" y="57150"/>
                  <a:pt x="76200" y="55007"/>
                  <a:pt x="76200" y="52388"/>
                </a:cubicBezTo>
                <a:lnTo>
                  <a:pt x="76200" y="42863"/>
                </a:lnTo>
                <a:close/>
                <a:moveTo>
                  <a:pt x="80962" y="66675"/>
                </a:moveTo>
                <a:lnTo>
                  <a:pt x="90488" y="66675"/>
                </a:lnTo>
                <a:cubicBezTo>
                  <a:pt x="93107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3107" y="85725"/>
                  <a:pt x="90488" y="85725"/>
                </a:cubicBezTo>
                <a:lnTo>
                  <a:pt x="80962" y="85725"/>
                </a:lnTo>
                <a:cubicBezTo>
                  <a:pt x="78343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8343" y="66675"/>
                  <a:pt x="80962" y="66675"/>
                </a:cubicBezTo>
                <a:close/>
                <a:moveTo>
                  <a:pt x="104775" y="42863"/>
                </a:moveTo>
                <a:cubicBezTo>
                  <a:pt x="104775" y="40243"/>
                  <a:pt x="106918" y="38100"/>
                  <a:pt x="109537" y="38100"/>
                </a:cubicBezTo>
                <a:lnTo>
                  <a:pt x="119062" y="38100"/>
                </a:lnTo>
                <a:cubicBezTo>
                  <a:pt x="121682" y="38100"/>
                  <a:pt x="123825" y="40243"/>
                  <a:pt x="123825" y="42863"/>
                </a:cubicBezTo>
                <a:lnTo>
                  <a:pt x="123825" y="52388"/>
                </a:lnTo>
                <a:cubicBezTo>
                  <a:pt x="123825" y="55007"/>
                  <a:pt x="121682" y="57150"/>
                  <a:pt x="119062" y="57150"/>
                </a:cubicBezTo>
                <a:lnTo>
                  <a:pt x="109537" y="57150"/>
                </a:lnTo>
                <a:cubicBezTo>
                  <a:pt x="106918" y="57150"/>
                  <a:pt x="104775" y="55007"/>
                  <a:pt x="104775" y="52388"/>
                </a:cubicBezTo>
                <a:lnTo>
                  <a:pt x="104775" y="42863"/>
                </a:lnTo>
                <a:close/>
                <a:moveTo>
                  <a:pt x="109537" y="66675"/>
                </a:moveTo>
                <a:lnTo>
                  <a:pt x="119062" y="66675"/>
                </a:lnTo>
                <a:cubicBezTo>
                  <a:pt x="121682" y="66675"/>
                  <a:pt x="123825" y="68818"/>
                  <a:pt x="123825" y="71438"/>
                </a:cubicBezTo>
                <a:lnTo>
                  <a:pt x="123825" y="80962"/>
                </a:lnTo>
                <a:cubicBezTo>
                  <a:pt x="123825" y="83582"/>
                  <a:pt x="121682" y="85725"/>
                  <a:pt x="119062" y="85725"/>
                </a:cubicBezTo>
                <a:lnTo>
                  <a:pt x="109537" y="85725"/>
                </a:lnTo>
                <a:cubicBezTo>
                  <a:pt x="106918" y="85725"/>
                  <a:pt x="104775" y="83582"/>
                  <a:pt x="104775" y="80962"/>
                </a:cubicBezTo>
                <a:lnTo>
                  <a:pt x="104775" y="71438"/>
                </a:lnTo>
                <a:cubicBezTo>
                  <a:pt x="104775" y="68818"/>
                  <a:pt x="106918" y="66675"/>
                  <a:pt x="109537" y="66675"/>
                </a:cubicBezTo>
                <a:close/>
                <a:moveTo>
                  <a:pt x="133350" y="42863"/>
                </a:moveTo>
                <a:cubicBezTo>
                  <a:pt x="133350" y="40243"/>
                  <a:pt x="135493" y="38100"/>
                  <a:pt x="138113" y="38100"/>
                </a:cubicBezTo>
                <a:lnTo>
                  <a:pt x="147638" y="38100"/>
                </a:lnTo>
                <a:cubicBezTo>
                  <a:pt x="150257" y="38100"/>
                  <a:pt x="152400" y="40243"/>
                  <a:pt x="152400" y="42863"/>
                </a:cubicBezTo>
                <a:lnTo>
                  <a:pt x="152400" y="52388"/>
                </a:lnTo>
                <a:cubicBezTo>
                  <a:pt x="152400" y="55007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5007"/>
                  <a:pt x="133350" y="52388"/>
                </a:cubicBezTo>
                <a:lnTo>
                  <a:pt x="133350" y="42863"/>
                </a:lnTo>
                <a:close/>
                <a:moveTo>
                  <a:pt x="138113" y="66675"/>
                </a:moveTo>
                <a:lnTo>
                  <a:pt x="147638" y="66675"/>
                </a:lnTo>
                <a:cubicBezTo>
                  <a:pt x="150257" y="66675"/>
                  <a:pt x="152400" y="68818"/>
                  <a:pt x="152400" y="71438"/>
                </a:cubicBezTo>
                <a:lnTo>
                  <a:pt x="152400" y="80962"/>
                </a:lnTo>
                <a:cubicBezTo>
                  <a:pt x="152400" y="83582"/>
                  <a:pt x="150257" y="85725"/>
                  <a:pt x="147638" y="85725"/>
                </a:cubicBezTo>
                <a:lnTo>
                  <a:pt x="138113" y="85725"/>
                </a:lnTo>
                <a:cubicBezTo>
                  <a:pt x="135493" y="85725"/>
                  <a:pt x="133350" y="83582"/>
                  <a:pt x="133350" y="80962"/>
                </a:cubicBezTo>
                <a:lnTo>
                  <a:pt x="133350" y="71438"/>
                </a:lnTo>
                <a:cubicBezTo>
                  <a:pt x="133350" y="68818"/>
                  <a:pt x="135493" y="66675"/>
                  <a:pt x="138113" y="6667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8"/>
          <p:cNvSpPr/>
          <p:nvPr/>
        </p:nvSpPr>
        <p:spPr>
          <a:xfrm>
            <a:off x="714375" y="3184327"/>
            <a:ext cx="2257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Area</a:t>
            </a:r>
            <a:endParaRPr b="0" i="0" sz="1200" u="none" cap="none" strike="noStrike"/>
          </a:p>
        </p:txBody>
      </p:sp>
      <p:sp>
        <p:nvSpPr>
          <p:cNvPr id="1094" name="Google Shape;1094;p38"/>
          <p:cNvSpPr/>
          <p:nvPr/>
        </p:nvSpPr>
        <p:spPr>
          <a:xfrm>
            <a:off x="714375" y="3355777"/>
            <a:ext cx="22502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Campo testo con validazione e invio tramite Enter</a:t>
            </a:r>
            <a:endParaRPr b="0" i="0" sz="1200" u="none" cap="none" strike="noStrike"/>
          </a:p>
        </p:txBody>
      </p:sp>
      <p:sp>
        <p:nvSpPr>
          <p:cNvPr id="1095" name="Google Shape;1095;p38"/>
          <p:cNvSpPr/>
          <p:nvPr/>
        </p:nvSpPr>
        <p:spPr>
          <a:xfrm>
            <a:off x="4643438" y="828675"/>
            <a:ext cx="4214813" cy="3293269"/>
          </a:xfrm>
          <a:custGeom>
            <a:rect b="b" l="l" r="r" t="t"/>
            <a:pathLst>
              <a:path extrusionOk="0" h="4391025" w="5619750">
                <a:moveTo>
                  <a:pt x="38100" y="0"/>
                </a:moveTo>
                <a:lnTo>
                  <a:pt x="5543566" y="0"/>
                </a:lnTo>
                <a:cubicBezTo>
                  <a:pt x="5585613" y="0"/>
                  <a:pt x="5619750" y="34137"/>
                  <a:pt x="5619750" y="76184"/>
                </a:cubicBezTo>
                <a:lnTo>
                  <a:pt x="5619750" y="4314841"/>
                </a:lnTo>
                <a:cubicBezTo>
                  <a:pt x="5619750" y="4356916"/>
                  <a:pt x="5585641" y="4391025"/>
                  <a:pt x="5543566" y="4391025"/>
                </a:cubicBezTo>
                <a:lnTo>
                  <a:pt x="38100" y="4391025"/>
                </a:lnTo>
                <a:cubicBezTo>
                  <a:pt x="17072" y="4391025"/>
                  <a:pt x="0" y="4373953"/>
                  <a:pt x="0" y="435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38"/>
          <p:cNvSpPr/>
          <p:nvPr/>
        </p:nvSpPr>
        <p:spPr>
          <a:xfrm>
            <a:off x="4643438" y="828675"/>
            <a:ext cx="28575" cy="3293269"/>
          </a:xfrm>
          <a:custGeom>
            <a:rect b="b" l="l" r="r" t="t"/>
            <a:pathLst>
              <a:path extrusionOk="0" h="4391025" w="38100">
                <a:moveTo>
                  <a:pt x="38100" y="0"/>
                </a:moveTo>
                <a:lnTo>
                  <a:pt x="38100" y="0"/>
                </a:lnTo>
                <a:lnTo>
                  <a:pt x="38100" y="4391025"/>
                </a:lnTo>
                <a:lnTo>
                  <a:pt x="38100" y="4391025"/>
                </a:lnTo>
                <a:cubicBezTo>
                  <a:pt x="17072" y="4391025"/>
                  <a:pt x="0" y="4373953"/>
                  <a:pt x="0" y="435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8"/>
          <p:cNvSpPr/>
          <p:nvPr/>
        </p:nvSpPr>
        <p:spPr>
          <a:xfrm>
            <a:off x="4772025" y="942975"/>
            <a:ext cx="4043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Sistema di Notifiche</a:t>
            </a:r>
            <a:endParaRPr b="0" i="0" sz="1200" u="none" cap="none" strike="noStrike"/>
          </a:p>
        </p:txBody>
      </p:sp>
      <p:sp>
        <p:nvSpPr>
          <p:cNvPr id="1098" name="Google Shape;1098;p38"/>
          <p:cNvSpPr/>
          <p:nvPr/>
        </p:nvSpPr>
        <p:spPr>
          <a:xfrm>
            <a:off x="4772025" y="1628775"/>
            <a:ext cx="3971925" cy="450056"/>
          </a:xfrm>
          <a:custGeom>
            <a:rect b="b" l="l" r="r" t="t"/>
            <a:pathLst>
              <a:path extrusionOk="0" h="600075" w="5295900">
                <a:moveTo>
                  <a:pt x="38099" y="0"/>
                </a:moveTo>
                <a:lnTo>
                  <a:pt x="5257801" y="0"/>
                </a:lnTo>
                <a:cubicBezTo>
                  <a:pt x="5278843" y="0"/>
                  <a:pt x="5295900" y="17057"/>
                  <a:pt x="5295900" y="38099"/>
                </a:cubicBezTo>
                <a:lnTo>
                  <a:pt x="5295900" y="561976"/>
                </a:lnTo>
                <a:cubicBezTo>
                  <a:pt x="5295900" y="583018"/>
                  <a:pt x="5278843" y="600075"/>
                  <a:pt x="5257801" y="600075"/>
                </a:cubicBezTo>
                <a:lnTo>
                  <a:pt x="38099" y="600075"/>
                </a:lnTo>
                <a:cubicBezTo>
                  <a:pt x="17057" y="600075"/>
                  <a:pt x="0" y="583018"/>
                  <a:pt x="0" y="56197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8"/>
          <p:cNvSpPr/>
          <p:nvPr/>
        </p:nvSpPr>
        <p:spPr>
          <a:xfrm>
            <a:off x="4843463" y="1714500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8"/>
          <p:cNvSpPr/>
          <p:nvPr/>
        </p:nvSpPr>
        <p:spPr>
          <a:xfrm>
            <a:off x="5029200" y="168592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Toast Success</a:t>
            </a:r>
            <a:endParaRPr b="0" i="0" sz="1200" u="none" cap="none" strike="noStrike"/>
          </a:p>
        </p:txBody>
      </p:sp>
      <p:sp>
        <p:nvSpPr>
          <p:cNvPr id="1101" name="Google Shape;1101;p38"/>
          <p:cNvSpPr/>
          <p:nvPr/>
        </p:nvSpPr>
        <p:spPr>
          <a:xfrm>
            <a:off x="4829175" y="1885950"/>
            <a:ext cx="39076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"Login effettuato!", "Messaggio inviato", "Gruppo creato"</a:t>
            </a:r>
            <a:endParaRPr b="0" i="0" sz="1200" u="none" cap="none" strike="noStrike"/>
          </a:p>
        </p:txBody>
      </p:sp>
      <p:sp>
        <p:nvSpPr>
          <p:cNvPr id="1102" name="Google Shape;1102;p38"/>
          <p:cNvSpPr/>
          <p:nvPr/>
        </p:nvSpPr>
        <p:spPr>
          <a:xfrm>
            <a:off x="4772025" y="2137767"/>
            <a:ext cx="3971925" cy="450056"/>
          </a:xfrm>
          <a:custGeom>
            <a:rect b="b" l="l" r="r" t="t"/>
            <a:pathLst>
              <a:path extrusionOk="0" h="600075" w="5295900">
                <a:moveTo>
                  <a:pt x="38099" y="0"/>
                </a:moveTo>
                <a:lnTo>
                  <a:pt x="5257801" y="0"/>
                </a:lnTo>
                <a:cubicBezTo>
                  <a:pt x="5278843" y="0"/>
                  <a:pt x="5295900" y="17057"/>
                  <a:pt x="5295900" y="38099"/>
                </a:cubicBezTo>
                <a:lnTo>
                  <a:pt x="5295900" y="561976"/>
                </a:lnTo>
                <a:cubicBezTo>
                  <a:pt x="5295900" y="583018"/>
                  <a:pt x="5278843" y="600075"/>
                  <a:pt x="5257801" y="600075"/>
                </a:cubicBezTo>
                <a:lnTo>
                  <a:pt x="38099" y="600075"/>
                </a:lnTo>
                <a:cubicBezTo>
                  <a:pt x="17057" y="600075"/>
                  <a:pt x="0" y="583018"/>
                  <a:pt x="0" y="56197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8"/>
          <p:cNvSpPr/>
          <p:nvPr/>
        </p:nvSpPr>
        <p:spPr>
          <a:xfrm>
            <a:off x="4843463" y="2223492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8"/>
          <p:cNvSpPr/>
          <p:nvPr/>
        </p:nvSpPr>
        <p:spPr>
          <a:xfrm>
            <a:off x="5029200" y="2194917"/>
            <a:ext cx="6715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Toast Error</a:t>
            </a:r>
            <a:endParaRPr b="0" i="0" sz="1200" u="none" cap="none" strike="noStrike"/>
          </a:p>
        </p:txBody>
      </p:sp>
      <p:sp>
        <p:nvSpPr>
          <p:cNvPr id="1105" name="Google Shape;1105;p38"/>
          <p:cNvSpPr/>
          <p:nvPr/>
        </p:nvSpPr>
        <p:spPr>
          <a:xfrm>
            <a:off x="4829175" y="2394942"/>
            <a:ext cx="39076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"Credenziali non valide", "Utente non trovato"</a:t>
            </a:r>
            <a:endParaRPr b="0" i="0" sz="1200" u="none" cap="none" strike="noStrike"/>
          </a:p>
        </p:txBody>
      </p:sp>
      <p:sp>
        <p:nvSpPr>
          <p:cNvPr id="1106" name="Google Shape;1106;p38"/>
          <p:cNvSpPr/>
          <p:nvPr/>
        </p:nvSpPr>
        <p:spPr>
          <a:xfrm>
            <a:off x="4772025" y="2646760"/>
            <a:ext cx="3971925" cy="450056"/>
          </a:xfrm>
          <a:custGeom>
            <a:rect b="b" l="l" r="r" t="t"/>
            <a:pathLst>
              <a:path extrusionOk="0" h="600075" w="5295900">
                <a:moveTo>
                  <a:pt x="38099" y="0"/>
                </a:moveTo>
                <a:lnTo>
                  <a:pt x="5257801" y="0"/>
                </a:lnTo>
                <a:cubicBezTo>
                  <a:pt x="5278843" y="0"/>
                  <a:pt x="5295900" y="17057"/>
                  <a:pt x="5295900" y="38099"/>
                </a:cubicBezTo>
                <a:lnTo>
                  <a:pt x="5295900" y="561976"/>
                </a:lnTo>
                <a:cubicBezTo>
                  <a:pt x="5295900" y="583018"/>
                  <a:pt x="5278843" y="600075"/>
                  <a:pt x="5257801" y="600075"/>
                </a:cubicBezTo>
                <a:lnTo>
                  <a:pt x="38099" y="600075"/>
                </a:lnTo>
                <a:cubicBezTo>
                  <a:pt x="17057" y="600075"/>
                  <a:pt x="0" y="583018"/>
                  <a:pt x="0" y="56197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8"/>
          <p:cNvSpPr/>
          <p:nvPr/>
        </p:nvSpPr>
        <p:spPr>
          <a:xfrm>
            <a:off x="4843463" y="2732485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8"/>
          <p:cNvSpPr/>
          <p:nvPr/>
        </p:nvSpPr>
        <p:spPr>
          <a:xfrm>
            <a:off x="5029200" y="2703910"/>
            <a:ext cx="600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Toast Info</a:t>
            </a:r>
            <a:endParaRPr b="0" i="0" sz="1200" u="none" cap="none" strike="noStrike"/>
          </a:p>
        </p:txBody>
      </p:sp>
      <p:sp>
        <p:nvSpPr>
          <p:cNvPr id="1109" name="Google Shape;1109;p38"/>
          <p:cNvSpPr/>
          <p:nvPr/>
        </p:nvSpPr>
        <p:spPr>
          <a:xfrm>
            <a:off x="4829175" y="2903935"/>
            <a:ext cx="39076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"Invito inviato", "Nuovo messaggio"</a:t>
            </a:r>
            <a:endParaRPr b="0" i="0" sz="1200" u="none" cap="none" strike="noStrike"/>
          </a:p>
        </p:txBody>
      </p:sp>
      <p:sp>
        <p:nvSpPr>
          <p:cNvPr id="1110" name="Google Shape;1110;p38"/>
          <p:cNvSpPr/>
          <p:nvPr/>
        </p:nvSpPr>
        <p:spPr>
          <a:xfrm>
            <a:off x="4772025" y="3155752"/>
            <a:ext cx="3971925" cy="450056"/>
          </a:xfrm>
          <a:custGeom>
            <a:rect b="b" l="l" r="r" t="t"/>
            <a:pathLst>
              <a:path extrusionOk="0" h="600075" w="5295900">
                <a:moveTo>
                  <a:pt x="38099" y="0"/>
                </a:moveTo>
                <a:lnTo>
                  <a:pt x="5257801" y="0"/>
                </a:lnTo>
                <a:cubicBezTo>
                  <a:pt x="5278843" y="0"/>
                  <a:pt x="5295900" y="17057"/>
                  <a:pt x="5295900" y="38099"/>
                </a:cubicBezTo>
                <a:lnTo>
                  <a:pt x="5295900" y="561976"/>
                </a:lnTo>
                <a:cubicBezTo>
                  <a:pt x="5295900" y="583018"/>
                  <a:pt x="5278843" y="600075"/>
                  <a:pt x="5257801" y="600075"/>
                </a:cubicBezTo>
                <a:lnTo>
                  <a:pt x="38099" y="600075"/>
                </a:lnTo>
                <a:cubicBezTo>
                  <a:pt x="17057" y="600075"/>
                  <a:pt x="0" y="583018"/>
                  <a:pt x="0" y="56197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38"/>
          <p:cNvSpPr/>
          <p:nvPr/>
        </p:nvSpPr>
        <p:spPr>
          <a:xfrm>
            <a:off x="4850606" y="3241477"/>
            <a:ext cx="100013" cy="114300"/>
          </a:xfrm>
          <a:custGeom>
            <a:rect b="b" l="l" r="r" t="t"/>
            <a:pathLst>
              <a:path extrusionOk="0" h="152400" w="13335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8"/>
          <p:cNvSpPr/>
          <p:nvPr/>
        </p:nvSpPr>
        <p:spPr>
          <a:xfrm>
            <a:off x="5029200" y="3212902"/>
            <a:ext cx="9286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Badge Notifiche</a:t>
            </a:r>
            <a:endParaRPr b="0" i="0" sz="1200" u="none" cap="none" strike="noStrike"/>
          </a:p>
        </p:txBody>
      </p:sp>
      <p:sp>
        <p:nvSpPr>
          <p:cNvPr id="1113" name="Google Shape;1113;p38"/>
          <p:cNvSpPr/>
          <p:nvPr/>
        </p:nvSpPr>
        <p:spPr>
          <a:xfrm>
            <a:off x="4829175" y="3412927"/>
            <a:ext cx="39076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Indicatore numerico rosso su "Inviti" per richieste pendenti</a:t>
            </a:r>
            <a:endParaRPr b="0" i="0" sz="1200" u="none" cap="none" strike="noStrike"/>
          </a:p>
        </p:txBody>
      </p:sp>
      <p:sp>
        <p:nvSpPr>
          <p:cNvPr id="1114" name="Google Shape;1114;p38"/>
          <p:cNvSpPr/>
          <p:nvPr/>
        </p:nvSpPr>
        <p:spPr>
          <a:xfrm>
            <a:off x="289322" y="4182666"/>
            <a:ext cx="2071688" cy="671513"/>
          </a:xfrm>
          <a:custGeom>
            <a:rect b="b" l="l" r="r" t="t"/>
            <a:pathLst>
              <a:path extrusionOk="0" h="895350" w="276225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19147"/>
                </a:lnTo>
                <a:cubicBezTo>
                  <a:pt x="2762250" y="861233"/>
                  <a:pt x="2728133" y="895350"/>
                  <a:pt x="26860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38"/>
          <p:cNvSpPr/>
          <p:nvPr/>
        </p:nvSpPr>
        <p:spPr>
          <a:xfrm>
            <a:off x="1262658" y="4279106"/>
            <a:ext cx="125016" cy="142875"/>
          </a:xfrm>
          <a:custGeom>
            <a:rect b="b" l="l" r="r" t="t"/>
            <a:pathLst>
              <a:path extrusionOk="0" h="190500" w="166688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8"/>
          <p:cNvSpPr/>
          <p:nvPr/>
        </p:nvSpPr>
        <p:spPr>
          <a:xfrm>
            <a:off x="350044" y="4450556"/>
            <a:ext cx="1950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 Reale</a:t>
            </a:r>
            <a:endParaRPr b="0" i="0" sz="1200" u="none" cap="none" strike="noStrike"/>
          </a:p>
        </p:txBody>
      </p:sp>
      <p:sp>
        <p:nvSpPr>
          <p:cNvPr id="1117" name="Google Shape;1117;p38"/>
          <p:cNvSpPr/>
          <p:nvPr/>
        </p:nvSpPr>
        <p:spPr>
          <a:xfrm>
            <a:off x="353616" y="4622006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Nessun refresh manuale</a:t>
            </a:r>
            <a:endParaRPr b="0" i="0" sz="1200" u="none" cap="none" strike="noStrike"/>
          </a:p>
        </p:txBody>
      </p:sp>
      <p:sp>
        <p:nvSpPr>
          <p:cNvPr id="1118" name="Google Shape;1118;p38"/>
          <p:cNvSpPr/>
          <p:nvPr/>
        </p:nvSpPr>
        <p:spPr>
          <a:xfrm>
            <a:off x="2453879" y="4182666"/>
            <a:ext cx="2071688" cy="671513"/>
          </a:xfrm>
          <a:custGeom>
            <a:rect b="b" l="l" r="r" t="t"/>
            <a:pathLst>
              <a:path extrusionOk="0" h="895350" w="276225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19147"/>
                </a:lnTo>
                <a:cubicBezTo>
                  <a:pt x="2762250" y="861233"/>
                  <a:pt x="2728133" y="895350"/>
                  <a:pt x="26860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8"/>
          <p:cNvSpPr/>
          <p:nvPr/>
        </p:nvSpPr>
        <p:spPr>
          <a:xfrm>
            <a:off x="3409355" y="4279106"/>
            <a:ext cx="160735" cy="142875"/>
          </a:xfrm>
          <a:custGeom>
            <a:rect b="b" l="l" r="r" t="t"/>
            <a:pathLst>
              <a:path extrusionOk="0" h="190500" w="214313">
                <a:moveTo>
                  <a:pt x="0" y="41672"/>
                </a:moveTo>
                <a:cubicBezTo>
                  <a:pt x="0" y="26231"/>
                  <a:pt x="11757" y="13543"/>
                  <a:pt x="26789" y="12055"/>
                </a:cubicBezTo>
                <a:lnTo>
                  <a:pt x="26789" y="11906"/>
                </a:lnTo>
                <a:lnTo>
                  <a:pt x="130969" y="11906"/>
                </a:lnTo>
                <a:cubicBezTo>
                  <a:pt x="150688" y="11906"/>
                  <a:pt x="166688" y="27905"/>
                  <a:pt x="166688" y="47625"/>
                </a:cubicBezTo>
                <a:lnTo>
                  <a:pt x="166688" y="113109"/>
                </a:lnTo>
                <a:lnTo>
                  <a:pt x="101203" y="113109"/>
                </a:lnTo>
                <a:cubicBezTo>
                  <a:pt x="86395" y="113109"/>
                  <a:pt x="74414" y="125090"/>
                  <a:pt x="74414" y="139898"/>
                </a:cubicBezTo>
                <a:lnTo>
                  <a:pt x="74414" y="162223"/>
                </a:lnTo>
                <a:cubicBezTo>
                  <a:pt x="74414" y="171264"/>
                  <a:pt x="67084" y="178594"/>
                  <a:pt x="58043" y="178594"/>
                </a:cubicBezTo>
                <a:cubicBezTo>
                  <a:pt x="49002" y="178594"/>
                  <a:pt x="41672" y="171264"/>
                  <a:pt x="41672" y="162223"/>
                </a:cubicBezTo>
                <a:lnTo>
                  <a:pt x="41672" y="77391"/>
                </a:lnTo>
                <a:lnTo>
                  <a:pt x="17859" y="77391"/>
                </a:lnTo>
                <a:cubicBezTo>
                  <a:pt x="8000" y="77391"/>
                  <a:pt x="0" y="69391"/>
                  <a:pt x="0" y="59531"/>
                </a:cubicBezTo>
                <a:lnTo>
                  <a:pt x="0" y="41672"/>
                </a:lnTo>
                <a:close/>
                <a:moveTo>
                  <a:pt x="88106" y="178594"/>
                </a:moveTo>
                <a:cubicBezTo>
                  <a:pt x="90748" y="173720"/>
                  <a:pt x="92273" y="168139"/>
                  <a:pt x="92273" y="162223"/>
                </a:cubicBezTo>
                <a:lnTo>
                  <a:pt x="92273" y="139898"/>
                </a:lnTo>
                <a:cubicBezTo>
                  <a:pt x="92273" y="134950"/>
                  <a:pt x="96255" y="130969"/>
                  <a:pt x="101203" y="130969"/>
                </a:cubicBezTo>
                <a:lnTo>
                  <a:pt x="193477" y="130969"/>
                </a:lnTo>
                <a:cubicBezTo>
                  <a:pt x="198425" y="130969"/>
                  <a:pt x="202406" y="134950"/>
                  <a:pt x="202406" y="139898"/>
                </a:cubicBezTo>
                <a:lnTo>
                  <a:pt x="202406" y="148828"/>
                </a:lnTo>
                <a:cubicBezTo>
                  <a:pt x="202406" y="165274"/>
                  <a:pt x="189086" y="178594"/>
                  <a:pt x="172641" y="178594"/>
                </a:cubicBezTo>
                <a:lnTo>
                  <a:pt x="88106" y="178594"/>
                </a:lnTo>
                <a:close/>
                <a:moveTo>
                  <a:pt x="29766" y="29766"/>
                </a:moveTo>
                <a:cubicBezTo>
                  <a:pt x="23180" y="29766"/>
                  <a:pt x="17859" y="35086"/>
                  <a:pt x="17859" y="41672"/>
                </a:cubicBezTo>
                <a:lnTo>
                  <a:pt x="17859" y="59531"/>
                </a:lnTo>
                <a:lnTo>
                  <a:pt x="41672" y="59531"/>
                </a:lnTo>
                <a:lnTo>
                  <a:pt x="41672" y="41672"/>
                </a:lnTo>
                <a:cubicBezTo>
                  <a:pt x="41672" y="35086"/>
                  <a:pt x="36351" y="29766"/>
                  <a:pt x="29766" y="29766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8"/>
          <p:cNvSpPr/>
          <p:nvPr/>
        </p:nvSpPr>
        <p:spPr>
          <a:xfrm>
            <a:off x="2514600" y="4450556"/>
            <a:ext cx="1950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Auto-Scrolling</a:t>
            </a:r>
            <a:endParaRPr b="0" i="0" sz="1200" u="none" cap="none" strike="noStrike"/>
          </a:p>
        </p:txBody>
      </p:sp>
      <p:sp>
        <p:nvSpPr>
          <p:cNvPr id="1121" name="Google Shape;1121;p38"/>
          <p:cNvSpPr/>
          <p:nvPr/>
        </p:nvSpPr>
        <p:spPr>
          <a:xfrm>
            <a:off x="2518172" y="4622006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 su ultimi messaggi</a:t>
            </a:r>
            <a:endParaRPr b="0" i="0" sz="1200" u="none" cap="none" strike="noStrike"/>
          </a:p>
        </p:txBody>
      </p:sp>
      <p:sp>
        <p:nvSpPr>
          <p:cNvPr id="1122" name="Google Shape;1122;p38"/>
          <p:cNvSpPr/>
          <p:nvPr/>
        </p:nvSpPr>
        <p:spPr>
          <a:xfrm>
            <a:off x="4618435" y="4182666"/>
            <a:ext cx="2071688" cy="671513"/>
          </a:xfrm>
          <a:custGeom>
            <a:rect b="b" l="l" r="r" t="t"/>
            <a:pathLst>
              <a:path extrusionOk="0" h="895350" w="276225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19147"/>
                </a:lnTo>
                <a:cubicBezTo>
                  <a:pt x="2762250" y="861233"/>
                  <a:pt x="2728133" y="895350"/>
                  <a:pt x="26860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8"/>
          <p:cNvSpPr/>
          <p:nvPr/>
        </p:nvSpPr>
        <p:spPr>
          <a:xfrm>
            <a:off x="5582841" y="4279106"/>
            <a:ext cx="142875" cy="142875"/>
          </a:xfrm>
          <a:custGeom>
            <a:rect b="b" l="l" r="r" t="t"/>
            <a:pathLst>
              <a:path extrusionOk="0" h="190500" w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8"/>
          <p:cNvSpPr/>
          <p:nvPr/>
        </p:nvSpPr>
        <p:spPr>
          <a:xfrm>
            <a:off x="4679156" y="4450556"/>
            <a:ext cx="1950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Anteprime Live</a:t>
            </a:r>
            <a:endParaRPr b="0" i="0" sz="1200" u="none" cap="none" strike="noStrike"/>
          </a:p>
        </p:txBody>
      </p:sp>
      <p:sp>
        <p:nvSpPr>
          <p:cNvPr id="1125" name="Google Shape;1125;p38"/>
          <p:cNvSpPr/>
          <p:nvPr/>
        </p:nvSpPr>
        <p:spPr>
          <a:xfrm>
            <a:off x="4682728" y="4622006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Ultimo messaggio sidebar</a:t>
            </a:r>
            <a:endParaRPr b="0" i="0" sz="1200" u="none" cap="none" strike="noStrike"/>
          </a:p>
        </p:txBody>
      </p:sp>
      <p:sp>
        <p:nvSpPr>
          <p:cNvPr id="1126" name="Google Shape;1126;p38"/>
          <p:cNvSpPr/>
          <p:nvPr/>
        </p:nvSpPr>
        <p:spPr>
          <a:xfrm>
            <a:off x="6782991" y="4182666"/>
            <a:ext cx="2071688" cy="671513"/>
          </a:xfrm>
          <a:custGeom>
            <a:rect b="b" l="l" r="r" t="t"/>
            <a:pathLst>
              <a:path extrusionOk="0" h="895350" w="2762250">
                <a:moveTo>
                  <a:pt x="76203" y="0"/>
                </a:moveTo>
                <a:lnTo>
                  <a:pt x="2686047" y="0"/>
                </a:lnTo>
                <a:cubicBezTo>
                  <a:pt x="2728133" y="0"/>
                  <a:pt x="2762250" y="34117"/>
                  <a:pt x="2762250" y="76203"/>
                </a:cubicBezTo>
                <a:lnTo>
                  <a:pt x="2762250" y="819147"/>
                </a:lnTo>
                <a:cubicBezTo>
                  <a:pt x="2762250" y="861233"/>
                  <a:pt x="2728133" y="895350"/>
                  <a:pt x="26860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8"/>
          <p:cNvSpPr/>
          <p:nvPr/>
        </p:nvSpPr>
        <p:spPr>
          <a:xfrm>
            <a:off x="7738467" y="4279106"/>
            <a:ext cx="160735" cy="142875"/>
          </a:xfrm>
          <a:custGeom>
            <a:rect b="b" l="l" r="r" t="t"/>
            <a:pathLst>
              <a:path extrusionOk="0" h="190500" w="214313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8"/>
          <p:cNvSpPr/>
          <p:nvPr/>
        </p:nvSpPr>
        <p:spPr>
          <a:xfrm>
            <a:off x="6843713" y="4450556"/>
            <a:ext cx="1950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Indicatore Connessione</a:t>
            </a:r>
            <a:endParaRPr b="0" i="0" sz="1200" u="none" cap="none" strike="noStrike"/>
          </a:p>
        </p:txBody>
      </p:sp>
      <p:sp>
        <p:nvSpPr>
          <p:cNvPr id="1129" name="Google Shape;1129;p38"/>
          <p:cNvSpPr/>
          <p:nvPr/>
        </p:nvSpPr>
        <p:spPr>
          <a:xfrm>
            <a:off x="6847285" y="4622006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Icona verde accanto nome</a:t>
            </a:r>
            <a:endParaRPr b="0" i="0" sz="1200" u="none" cap="none" strike="noStrike"/>
          </a:p>
        </p:txBody>
      </p:sp>
      <p:sp>
        <p:nvSpPr>
          <p:cNvPr id="1130" name="Google Shape;113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39"/>
          <p:cNvSpPr/>
          <p:nvPr/>
        </p:nvSpPr>
        <p:spPr>
          <a:xfrm>
            <a:off x="285750" y="285750"/>
            <a:ext cx="8629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Features</a:t>
            </a:r>
            <a:endParaRPr b="0" i="0" sz="1200" u="none" cap="none" strike="noStrike"/>
          </a:p>
        </p:txBody>
      </p:sp>
      <p:sp>
        <p:nvSpPr>
          <p:cNvPr id="1137" name="Google Shape;1137;p39"/>
          <p:cNvSpPr/>
          <p:nvPr/>
        </p:nvSpPr>
        <p:spPr>
          <a:xfrm>
            <a:off x="285750" y="485775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Chat Page</a:t>
            </a:r>
            <a:endParaRPr b="0" i="0" sz="1200" u="none" cap="none" strike="noStrike"/>
          </a:p>
        </p:txBody>
      </p:sp>
      <p:pic>
        <p:nvPicPr>
          <p:cNvPr id="1138" name="Google Shape;1138;p39" title="chat_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00" y="800100"/>
            <a:ext cx="7732588" cy="41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"/>
          <p:cNvSpPr/>
          <p:nvPr/>
        </p:nvSpPr>
        <p:spPr>
          <a:xfrm>
            <a:off x="285750" y="285750"/>
            <a:ext cx="8629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Features</a:t>
            </a:r>
            <a:endParaRPr b="0" i="0" sz="1200" u="none" cap="none" strike="noStrike"/>
          </a:p>
        </p:txBody>
      </p:sp>
      <p:sp>
        <p:nvSpPr>
          <p:cNvPr id="1146" name="Google Shape;1146;p40"/>
          <p:cNvSpPr/>
          <p:nvPr/>
        </p:nvSpPr>
        <p:spPr>
          <a:xfrm>
            <a:off x="285750" y="485775"/>
            <a:ext cx="8701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Invitation</a:t>
            </a:r>
            <a:r>
              <a:rPr b="1" lang="it" sz="2000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 Page</a:t>
            </a:r>
            <a:endParaRPr b="0" i="0" sz="1200" u="none" cap="none" strike="noStrike"/>
          </a:p>
        </p:txBody>
      </p:sp>
      <p:pic>
        <p:nvPicPr>
          <p:cNvPr id="1147" name="Google Shape;1147;p40" title="invites_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25" y="800100"/>
            <a:ext cx="7746555" cy="41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y4bsfq5vo2wc/chapter7_future.png" id="1154" name="Google Shape;1154;p41"/>
          <p:cNvPicPr preferRelativeResize="0"/>
          <p:nvPr/>
        </p:nvPicPr>
        <p:blipFill rotWithShape="1">
          <a:blip r:embed="rId3">
            <a:alphaModFix amt="50000"/>
          </a:blip>
          <a:srcRect b="780" l="0" r="0" t="781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155" name="Google Shape;1155;p4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156" name="Google Shape;1156;p41"/>
          <p:cNvSpPr/>
          <p:nvPr/>
        </p:nvSpPr>
        <p:spPr>
          <a:xfrm>
            <a:off x="285750" y="1645742"/>
            <a:ext cx="276430" cy="196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b="0" i="0" sz="1200" u="none" cap="none" strike="noStrike"/>
          </a:p>
        </p:txBody>
      </p:sp>
      <p:sp>
        <p:nvSpPr>
          <p:cNvPr id="1157" name="Google Shape;1157;p41"/>
          <p:cNvSpPr/>
          <p:nvPr/>
        </p:nvSpPr>
        <p:spPr>
          <a:xfrm>
            <a:off x="285750" y="2031504"/>
            <a:ext cx="88296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Sviluppi Futuri</a:t>
            </a:r>
            <a:endParaRPr b="0" i="0" sz="1200" u="none" cap="none" strike="noStrike"/>
          </a:p>
        </p:txBody>
      </p:sp>
      <p:sp>
        <p:nvSpPr>
          <p:cNvPr id="1158" name="Google Shape;1158;p41"/>
          <p:cNvSpPr/>
          <p:nvPr/>
        </p:nvSpPr>
        <p:spPr>
          <a:xfrm>
            <a:off x="285750" y="2845892"/>
            <a:ext cx="4907756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Miglioramenti e nuove feature</a:t>
            </a:r>
            <a:endParaRPr b="0" i="0" sz="1200" u="none" cap="none" strike="noStrike"/>
          </a:p>
        </p:txBody>
      </p:sp>
      <p:sp>
        <p:nvSpPr>
          <p:cNvPr id="1159" name="Google Shape;1159;p41"/>
          <p:cNvSpPr/>
          <p:nvPr/>
        </p:nvSpPr>
        <p:spPr>
          <a:xfrm>
            <a:off x="285750" y="3483471"/>
            <a:ext cx="914400" cy="28575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pic>
        <p:nvPicPr>
          <p:cNvPr id="1160" name="Google Shape;11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025" y="326975"/>
            <a:ext cx="2330525" cy="10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2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Roadmap</a:t>
            </a:r>
            <a:endParaRPr b="0" i="0" sz="1200" u="none" cap="none" strike="noStrike"/>
          </a:p>
        </p:txBody>
      </p:sp>
      <p:sp>
        <p:nvSpPr>
          <p:cNvPr id="1168" name="Google Shape;1168;p42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Proposte di Evoluzione</a:t>
            </a:r>
            <a:endParaRPr b="0" i="0" sz="1200" u="none" cap="none" strike="noStrike"/>
          </a:p>
        </p:txBody>
      </p:sp>
      <p:sp>
        <p:nvSpPr>
          <p:cNvPr id="1169" name="Google Shape;1169;p42"/>
          <p:cNvSpPr/>
          <p:nvPr/>
        </p:nvSpPr>
        <p:spPr>
          <a:xfrm>
            <a:off x="285750" y="928688"/>
            <a:ext cx="4229100" cy="3257550"/>
          </a:xfrm>
          <a:custGeom>
            <a:rect b="b" l="l" r="r" t="t"/>
            <a:pathLst>
              <a:path extrusionOk="0" h="43434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267217"/>
                </a:lnTo>
                <a:cubicBezTo>
                  <a:pt x="5638800" y="4309292"/>
                  <a:pt x="5604692" y="4343400"/>
                  <a:pt x="5562617" y="4343400"/>
                </a:cubicBezTo>
                <a:lnTo>
                  <a:pt x="76183" y="4343400"/>
                </a:lnTo>
                <a:cubicBezTo>
                  <a:pt x="34108" y="4343400"/>
                  <a:pt x="0" y="4309292"/>
                  <a:pt x="0" y="42672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2"/>
          <p:cNvSpPr/>
          <p:nvPr/>
        </p:nvSpPr>
        <p:spPr>
          <a:xfrm>
            <a:off x="285750" y="928688"/>
            <a:ext cx="4229100" cy="28575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42"/>
          <p:cNvSpPr/>
          <p:nvPr/>
        </p:nvSpPr>
        <p:spPr>
          <a:xfrm>
            <a:off x="400050" y="1057275"/>
            <a:ext cx="342900" cy="3429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42"/>
          <p:cNvSpPr/>
          <p:nvPr/>
        </p:nvSpPr>
        <p:spPr>
          <a:xfrm>
            <a:off x="485775" y="1143000"/>
            <a:ext cx="171450" cy="171450"/>
          </a:xfrm>
          <a:custGeom>
            <a:rect b="b" l="l" r="r" t="t"/>
            <a:pathLst>
              <a:path extrusionOk="0" h="228600" w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2"/>
          <p:cNvSpPr/>
          <p:nvPr/>
        </p:nvSpPr>
        <p:spPr>
          <a:xfrm>
            <a:off x="828675" y="1114425"/>
            <a:ext cx="19073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Migliorie Architetturali</a:t>
            </a:r>
            <a:endParaRPr b="0" i="0" sz="1200" u="none" cap="none" strike="noStrike"/>
          </a:p>
        </p:txBody>
      </p:sp>
      <p:sp>
        <p:nvSpPr>
          <p:cNvPr id="1174" name="Google Shape;1174;p42"/>
          <p:cNvSpPr/>
          <p:nvPr/>
        </p:nvSpPr>
        <p:spPr>
          <a:xfrm>
            <a:off x="400050" y="1603772"/>
            <a:ext cx="4000500" cy="700088"/>
          </a:xfrm>
          <a:custGeom>
            <a:rect b="b" l="l" r="r" t="t"/>
            <a:pathLst>
              <a:path extrusionOk="0" h="933450" w="5334000">
                <a:moveTo>
                  <a:pt x="38103" y="0"/>
                </a:moveTo>
                <a:lnTo>
                  <a:pt x="5295897" y="0"/>
                </a:lnTo>
                <a:cubicBezTo>
                  <a:pt x="5316941" y="0"/>
                  <a:pt x="5334000" y="17059"/>
                  <a:pt x="5334000" y="38103"/>
                </a:cubicBezTo>
                <a:lnTo>
                  <a:pt x="5334000" y="895347"/>
                </a:lnTo>
                <a:cubicBezTo>
                  <a:pt x="5334000" y="916391"/>
                  <a:pt x="5316941" y="933450"/>
                  <a:pt x="5295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2"/>
          <p:cNvSpPr/>
          <p:nvPr/>
        </p:nvSpPr>
        <p:spPr>
          <a:xfrm>
            <a:off x="500063" y="1721644"/>
            <a:ext cx="114300" cy="114300"/>
          </a:xfrm>
          <a:custGeom>
            <a:rect b="b" l="l" r="r" t="t"/>
            <a:pathLst>
              <a:path extrusionOk="0" h="152400" w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2"/>
          <p:cNvSpPr/>
          <p:nvPr/>
        </p:nvSpPr>
        <p:spPr>
          <a:xfrm>
            <a:off x="671513" y="1689497"/>
            <a:ext cx="3700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Microservizi</a:t>
            </a:r>
            <a:endParaRPr b="0" i="0" sz="1200" u="none" cap="none" strike="noStrike"/>
          </a:p>
        </p:txBody>
      </p:sp>
      <p:sp>
        <p:nvSpPr>
          <p:cNvPr id="1177" name="Google Shape;1177;p42"/>
          <p:cNvSpPr/>
          <p:nvPr/>
        </p:nvSpPr>
        <p:spPr>
          <a:xfrm>
            <a:off x="485775" y="1889522"/>
            <a:ext cx="3879056" cy="32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Separazione autenticazione, chat e notifiche in servizi distinti per scalabilità indipendente.</a:t>
            </a:r>
            <a:endParaRPr b="0" i="0" sz="1200" u="none" cap="none" strike="noStrike"/>
          </a:p>
        </p:txBody>
      </p:sp>
      <p:sp>
        <p:nvSpPr>
          <p:cNvPr id="1178" name="Google Shape;1178;p42"/>
          <p:cNvSpPr/>
          <p:nvPr/>
        </p:nvSpPr>
        <p:spPr>
          <a:xfrm>
            <a:off x="400050" y="2428904"/>
            <a:ext cx="4000500" cy="700088"/>
          </a:xfrm>
          <a:custGeom>
            <a:rect b="b" l="l" r="r" t="t"/>
            <a:pathLst>
              <a:path extrusionOk="0" h="714375" w="53340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676277"/>
                </a:lnTo>
                <a:cubicBezTo>
                  <a:pt x="5334000" y="697318"/>
                  <a:pt x="5316943" y="714375"/>
                  <a:pt x="5295902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2"/>
          <p:cNvSpPr/>
          <p:nvPr/>
        </p:nvSpPr>
        <p:spPr>
          <a:xfrm>
            <a:off x="485750" y="2534171"/>
            <a:ext cx="142875" cy="114300"/>
          </a:xfrm>
          <a:custGeom>
            <a:rect b="b" l="l" r="r" t="t"/>
            <a:pathLst>
              <a:path extrusionOk="0" h="152400" w="190500">
                <a:moveTo>
                  <a:pt x="104150" y="70336"/>
                </a:moveTo>
                <a:lnTo>
                  <a:pt x="84475" y="70336"/>
                </a:lnTo>
                <a:lnTo>
                  <a:pt x="84475" y="52655"/>
                </a:lnTo>
                <a:lnTo>
                  <a:pt x="104150" y="52655"/>
                </a:lnTo>
                <a:lnTo>
                  <a:pt x="104150" y="70336"/>
                </a:lnTo>
                <a:close/>
                <a:moveTo>
                  <a:pt x="104150" y="9525"/>
                </a:moveTo>
                <a:lnTo>
                  <a:pt x="84475" y="9525"/>
                </a:lnTo>
                <a:lnTo>
                  <a:pt x="84475" y="27593"/>
                </a:lnTo>
                <a:lnTo>
                  <a:pt x="104150" y="27593"/>
                </a:lnTo>
                <a:lnTo>
                  <a:pt x="104150" y="9525"/>
                </a:lnTo>
                <a:close/>
                <a:moveTo>
                  <a:pt x="127427" y="52626"/>
                </a:moveTo>
                <a:lnTo>
                  <a:pt x="107752" y="52626"/>
                </a:lnTo>
                <a:lnTo>
                  <a:pt x="107752" y="70306"/>
                </a:lnTo>
                <a:lnTo>
                  <a:pt x="127427" y="70306"/>
                </a:lnTo>
                <a:lnTo>
                  <a:pt x="127427" y="52626"/>
                </a:lnTo>
                <a:close/>
                <a:moveTo>
                  <a:pt x="80903" y="31165"/>
                </a:moveTo>
                <a:lnTo>
                  <a:pt x="61228" y="31165"/>
                </a:lnTo>
                <a:lnTo>
                  <a:pt x="61228" y="49054"/>
                </a:lnTo>
                <a:lnTo>
                  <a:pt x="80903" y="49054"/>
                </a:lnTo>
                <a:lnTo>
                  <a:pt x="80903" y="31165"/>
                </a:lnTo>
                <a:close/>
                <a:moveTo>
                  <a:pt x="104150" y="31165"/>
                </a:moveTo>
                <a:lnTo>
                  <a:pt x="84475" y="31165"/>
                </a:lnTo>
                <a:lnTo>
                  <a:pt x="84475" y="49054"/>
                </a:lnTo>
                <a:lnTo>
                  <a:pt x="104150" y="49054"/>
                </a:lnTo>
                <a:lnTo>
                  <a:pt x="104150" y="31165"/>
                </a:lnTo>
                <a:close/>
                <a:moveTo>
                  <a:pt x="186541" y="60930"/>
                </a:moveTo>
                <a:cubicBezTo>
                  <a:pt x="182255" y="58043"/>
                  <a:pt x="172373" y="57001"/>
                  <a:pt x="164783" y="58430"/>
                </a:cubicBezTo>
                <a:cubicBezTo>
                  <a:pt x="163800" y="51286"/>
                  <a:pt x="159812" y="45065"/>
                  <a:pt x="152549" y="39469"/>
                </a:cubicBezTo>
                <a:lnTo>
                  <a:pt x="148382" y="36701"/>
                </a:lnTo>
                <a:lnTo>
                  <a:pt x="145613" y="40868"/>
                </a:lnTo>
                <a:cubicBezTo>
                  <a:pt x="140137" y="49143"/>
                  <a:pt x="138648" y="62776"/>
                  <a:pt x="144512" y="71765"/>
                </a:cubicBezTo>
                <a:cubicBezTo>
                  <a:pt x="141923" y="73164"/>
                  <a:pt x="136833" y="75069"/>
                  <a:pt x="130106" y="74950"/>
                </a:cubicBezTo>
                <a:lnTo>
                  <a:pt x="714" y="74950"/>
                </a:lnTo>
                <a:cubicBezTo>
                  <a:pt x="-1875" y="90071"/>
                  <a:pt x="2441" y="109716"/>
                  <a:pt x="13811" y="123200"/>
                </a:cubicBezTo>
                <a:cubicBezTo>
                  <a:pt x="24854" y="136267"/>
                  <a:pt x="41404" y="142905"/>
                  <a:pt x="63044" y="142905"/>
                </a:cubicBezTo>
                <a:cubicBezTo>
                  <a:pt x="109895" y="142905"/>
                  <a:pt x="144572" y="121325"/>
                  <a:pt x="160794" y="82123"/>
                </a:cubicBezTo>
                <a:cubicBezTo>
                  <a:pt x="167164" y="82242"/>
                  <a:pt x="180915" y="82153"/>
                  <a:pt x="187970" y="68669"/>
                </a:cubicBezTo>
                <a:cubicBezTo>
                  <a:pt x="188416" y="67925"/>
                  <a:pt x="189934" y="64740"/>
                  <a:pt x="190500" y="63579"/>
                </a:cubicBezTo>
                <a:lnTo>
                  <a:pt x="186541" y="60930"/>
                </a:lnTo>
                <a:close/>
                <a:moveTo>
                  <a:pt x="34409" y="52626"/>
                </a:moveTo>
                <a:lnTo>
                  <a:pt x="14764" y="52626"/>
                </a:lnTo>
                <a:lnTo>
                  <a:pt x="14764" y="70306"/>
                </a:lnTo>
                <a:lnTo>
                  <a:pt x="34439" y="70306"/>
                </a:lnTo>
                <a:lnTo>
                  <a:pt x="34439" y="52626"/>
                </a:lnTo>
                <a:lnTo>
                  <a:pt x="34409" y="52626"/>
                </a:lnTo>
                <a:close/>
                <a:moveTo>
                  <a:pt x="57656" y="52626"/>
                </a:moveTo>
                <a:lnTo>
                  <a:pt x="37981" y="52626"/>
                </a:lnTo>
                <a:lnTo>
                  <a:pt x="37981" y="70306"/>
                </a:lnTo>
                <a:lnTo>
                  <a:pt x="57656" y="70306"/>
                </a:lnTo>
                <a:lnTo>
                  <a:pt x="57656" y="52626"/>
                </a:lnTo>
                <a:close/>
                <a:moveTo>
                  <a:pt x="80903" y="52626"/>
                </a:moveTo>
                <a:lnTo>
                  <a:pt x="61228" y="52626"/>
                </a:lnTo>
                <a:lnTo>
                  <a:pt x="61228" y="70306"/>
                </a:lnTo>
                <a:lnTo>
                  <a:pt x="80903" y="70306"/>
                </a:lnTo>
                <a:lnTo>
                  <a:pt x="80903" y="52626"/>
                </a:lnTo>
                <a:close/>
                <a:moveTo>
                  <a:pt x="57656" y="31165"/>
                </a:moveTo>
                <a:lnTo>
                  <a:pt x="37981" y="31165"/>
                </a:lnTo>
                <a:lnTo>
                  <a:pt x="37981" y="49054"/>
                </a:lnTo>
                <a:lnTo>
                  <a:pt x="57656" y="49054"/>
                </a:lnTo>
                <a:lnTo>
                  <a:pt x="57656" y="31165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671488" y="2505596"/>
            <a:ext cx="37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Containerizzazione</a:t>
            </a:r>
            <a:endParaRPr b="0" i="0" sz="1200" u="none" cap="none" strike="noStrike"/>
          </a:p>
        </p:txBody>
      </p:sp>
      <p:sp>
        <p:nvSpPr>
          <p:cNvPr id="1181" name="Google Shape;1181;p42"/>
          <p:cNvSpPr/>
          <p:nvPr/>
        </p:nvSpPr>
        <p:spPr>
          <a:xfrm>
            <a:off x="500075" y="2736944"/>
            <a:ext cx="3879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Compose per avvio completo con un comando, isolamento dipendenze.</a:t>
            </a:r>
            <a:endParaRPr b="0" i="0" sz="1200" u="none" cap="none" strike="noStrike"/>
          </a:p>
        </p:txBody>
      </p:sp>
      <p:sp>
        <p:nvSpPr>
          <p:cNvPr id="1182" name="Google Shape;1182;p42"/>
          <p:cNvSpPr/>
          <p:nvPr/>
        </p:nvSpPr>
        <p:spPr>
          <a:xfrm>
            <a:off x="400050" y="3420071"/>
            <a:ext cx="4000500" cy="535781"/>
          </a:xfrm>
          <a:custGeom>
            <a:rect b="b" l="l" r="r" t="t"/>
            <a:pathLst>
              <a:path extrusionOk="0" h="714375" w="53340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676277"/>
                </a:lnTo>
                <a:cubicBezTo>
                  <a:pt x="5334000" y="697318"/>
                  <a:pt x="5316943" y="714375"/>
                  <a:pt x="5295902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485775" y="3537942"/>
            <a:ext cx="142875" cy="114300"/>
          </a:xfrm>
          <a:custGeom>
            <a:rect b="b" l="l" r="r" t="t"/>
            <a:pathLst>
              <a:path extrusionOk="0" h="152400" w="1905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2"/>
          <p:cNvSpPr/>
          <p:nvPr/>
        </p:nvSpPr>
        <p:spPr>
          <a:xfrm>
            <a:off x="671513" y="3505796"/>
            <a:ext cx="3700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CI/CD Pipeline</a:t>
            </a:r>
            <a:endParaRPr b="0" i="0" sz="1200" u="none" cap="none" strike="noStrike"/>
          </a:p>
        </p:txBody>
      </p:sp>
      <p:sp>
        <p:nvSpPr>
          <p:cNvPr id="1185" name="Google Shape;1185;p42"/>
          <p:cNvSpPr/>
          <p:nvPr/>
        </p:nvSpPr>
        <p:spPr>
          <a:xfrm>
            <a:off x="485775" y="3705821"/>
            <a:ext cx="3879056" cy="164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Automazione test, build e deploy con GitHub Actions o GitLab CI.</a:t>
            </a:r>
            <a:endParaRPr b="0" i="0" sz="1200" u="none" cap="none" strike="noStrike"/>
          </a:p>
        </p:txBody>
      </p:sp>
      <p:sp>
        <p:nvSpPr>
          <p:cNvPr id="1186" name="Google Shape;1186;p42"/>
          <p:cNvSpPr/>
          <p:nvPr/>
        </p:nvSpPr>
        <p:spPr>
          <a:xfrm>
            <a:off x="4629150" y="928688"/>
            <a:ext cx="4229100" cy="3257550"/>
          </a:xfrm>
          <a:custGeom>
            <a:rect b="b" l="l" r="r" t="t"/>
            <a:pathLst>
              <a:path extrusionOk="0" h="43434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267217"/>
                </a:lnTo>
                <a:cubicBezTo>
                  <a:pt x="5638800" y="4309292"/>
                  <a:pt x="5604692" y="4343400"/>
                  <a:pt x="5562617" y="4343400"/>
                </a:cubicBezTo>
                <a:lnTo>
                  <a:pt x="76183" y="4343400"/>
                </a:lnTo>
                <a:cubicBezTo>
                  <a:pt x="34108" y="4343400"/>
                  <a:pt x="0" y="4309292"/>
                  <a:pt x="0" y="42672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42"/>
          <p:cNvSpPr/>
          <p:nvPr/>
        </p:nvSpPr>
        <p:spPr>
          <a:xfrm>
            <a:off x="4629150" y="928688"/>
            <a:ext cx="4229100" cy="28575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2"/>
          <p:cNvSpPr/>
          <p:nvPr/>
        </p:nvSpPr>
        <p:spPr>
          <a:xfrm>
            <a:off x="4743450" y="1057275"/>
            <a:ext cx="342900" cy="3429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2"/>
          <p:cNvSpPr/>
          <p:nvPr/>
        </p:nvSpPr>
        <p:spPr>
          <a:xfrm>
            <a:off x="4829175" y="1143000"/>
            <a:ext cx="171450" cy="17145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2"/>
          <p:cNvSpPr/>
          <p:nvPr/>
        </p:nvSpPr>
        <p:spPr>
          <a:xfrm>
            <a:off x="5172075" y="1114425"/>
            <a:ext cx="1278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Nuove Feature</a:t>
            </a:r>
            <a:endParaRPr b="0" i="0" sz="1200" u="none" cap="none" strike="noStrike"/>
          </a:p>
        </p:txBody>
      </p:sp>
      <p:sp>
        <p:nvSpPr>
          <p:cNvPr id="1191" name="Google Shape;1191;p42"/>
          <p:cNvSpPr/>
          <p:nvPr/>
        </p:nvSpPr>
        <p:spPr>
          <a:xfrm>
            <a:off x="4743450" y="1603776"/>
            <a:ext cx="4000500" cy="700087"/>
          </a:xfrm>
          <a:custGeom>
            <a:rect b="b" l="l" r="r" t="t"/>
            <a:pathLst>
              <a:path extrusionOk="0" h="714375" w="53340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676277"/>
                </a:lnTo>
                <a:cubicBezTo>
                  <a:pt x="5334000" y="697318"/>
                  <a:pt x="5316943" y="714375"/>
                  <a:pt x="5295902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2"/>
          <p:cNvSpPr/>
          <p:nvPr/>
        </p:nvSpPr>
        <p:spPr>
          <a:xfrm>
            <a:off x="4850606" y="1721644"/>
            <a:ext cx="100013" cy="114300"/>
          </a:xfrm>
          <a:custGeom>
            <a:rect b="b" l="l" r="r" t="t"/>
            <a:pathLst>
              <a:path extrusionOk="0" h="152400" w="13335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42"/>
          <p:cNvSpPr/>
          <p:nvPr/>
        </p:nvSpPr>
        <p:spPr>
          <a:xfrm>
            <a:off x="5014913" y="1689497"/>
            <a:ext cx="37004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Notifiche Push</a:t>
            </a:r>
            <a:endParaRPr b="0" i="0" sz="1200" u="none" cap="none" strike="noStrike"/>
          </a:p>
        </p:txBody>
      </p:sp>
      <p:sp>
        <p:nvSpPr>
          <p:cNvPr id="1194" name="Google Shape;1194;p42"/>
          <p:cNvSpPr/>
          <p:nvPr/>
        </p:nvSpPr>
        <p:spPr>
          <a:xfrm>
            <a:off x="4829175" y="1889522"/>
            <a:ext cx="3879056" cy="164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Firebase Cloud Messaging per notifiche su smartphone quando l'app è in background.</a:t>
            </a:r>
            <a:endParaRPr b="0" i="0" sz="1200" u="none" cap="none" strike="noStrike"/>
          </a:p>
        </p:txBody>
      </p:sp>
      <p:sp>
        <p:nvSpPr>
          <p:cNvPr id="1195" name="Google Shape;1195;p42"/>
          <p:cNvSpPr/>
          <p:nvPr/>
        </p:nvSpPr>
        <p:spPr>
          <a:xfrm>
            <a:off x="4743450" y="2430650"/>
            <a:ext cx="4000500" cy="700088"/>
          </a:xfrm>
          <a:custGeom>
            <a:rect b="b" l="l" r="r" t="t"/>
            <a:pathLst>
              <a:path extrusionOk="0" h="933450" w="5334000">
                <a:moveTo>
                  <a:pt x="38103" y="0"/>
                </a:moveTo>
                <a:lnTo>
                  <a:pt x="5295897" y="0"/>
                </a:lnTo>
                <a:cubicBezTo>
                  <a:pt x="5316941" y="0"/>
                  <a:pt x="5334000" y="17059"/>
                  <a:pt x="5334000" y="38103"/>
                </a:cubicBezTo>
                <a:lnTo>
                  <a:pt x="5334000" y="895347"/>
                </a:lnTo>
                <a:cubicBezTo>
                  <a:pt x="5334000" y="916391"/>
                  <a:pt x="5316941" y="933450"/>
                  <a:pt x="5295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42"/>
          <p:cNvSpPr/>
          <p:nvPr/>
        </p:nvSpPr>
        <p:spPr>
          <a:xfrm>
            <a:off x="4857725" y="2534171"/>
            <a:ext cx="85725" cy="114300"/>
          </a:xfrm>
          <a:custGeom>
            <a:rect b="b" l="l" r="r" t="t"/>
            <a:pathLst>
              <a:path extrusionOk="0" h="152400" w="1143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2"/>
          <p:cNvSpPr/>
          <p:nvPr/>
        </p:nvSpPr>
        <p:spPr>
          <a:xfrm>
            <a:off x="5014888" y="2505596"/>
            <a:ext cx="37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Supporto Mobile</a:t>
            </a:r>
            <a:endParaRPr b="0" i="0" sz="1200" u="none" cap="none" strike="noStrike"/>
          </a:p>
        </p:txBody>
      </p:sp>
      <p:sp>
        <p:nvSpPr>
          <p:cNvPr id="1198" name="Google Shape;1198;p42"/>
          <p:cNvSpPr/>
          <p:nvPr/>
        </p:nvSpPr>
        <p:spPr>
          <a:xfrm>
            <a:off x="4829200" y="2710150"/>
            <a:ext cx="387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Progressive Web App (PWA) per uso offline e installazione su smartphone senza store.</a:t>
            </a:r>
            <a:endParaRPr b="0" i="0" sz="1200" u="none" cap="none" strike="noStrike"/>
          </a:p>
        </p:txBody>
      </p:sp>
      <p:sp>
        <p:nvSpPr>
          <p:cNvPr id="1199" name="Google Shape;1199;p42"/>
          <p:cNvSpPr/>
          <p:nvPr/>
        </p:nvSpPr>
        <p:spPr>
          <a:xfrm>
            <a:off x="4743450" y="3420071"/>
            <a:ext cx="4000500" cy="535781"/>
          </a:xfrm>
          <a:custGeom>
            <a:rect b="b" l="l" r="r" t="t"/>
            <a:pathLst>
              <a:path extrusionOk="0" h="714375" w="5334000">
                <a:moveTo>
                  <a:pt x="38098" y="0"/>
                </a:moveTo>
                <a:lnTo>
                  <a:pt x="5295902" y="0"/>
                </a:lnTo>
                <a:cubicBezTo>
                  <a:pt x="5316943" y="0"/>
                  <a:pt x="5334000" y="17057"/>
                  <a:pt x="5334000" y="38098"/>
                </a:cubicBezTo>
                <a:lnTo>
                  <a:pt x="5334000" y="676277"/>
                </a:lnTo>
                <a:cubicBezTo>
                  <a:pt x="5334000" y="697318"/>
                  <a:pt x="5316943" y="714375"/>
                  <a:pt x="5295902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2"/>
          <p:cNvSpPr/>
          <p:nvPr/>
        </p:nvSpPr>
        <p:spPr>
          <a:xfrm>
            <a:off x="4836319" y="3537942"/>
            <a:ext cx="128588" cy="114300"/>
          </a:xfrm>
          <a:custGeom>
            <a:rect b="b" l="l" r="r" t="t"/>
            <a:pathLst>
              <a:path extrusionOk="0" h="152400" w="1714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2"/>
          <p:cNvSpPr/>
          <p:nvPr/>
        </p:nvSpPr>
        <p:spPr>
          <a:xfrm>
            <a:off x="5014913" y="3505796"/>
            <a:ext cx="37004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Ruoli e Permessi</a:t>
            </a:r>
            <a:endParaRPr b="0" i="0" sz="1200" u="none" cap="none" strike="noStrike"/>
          </a:p>
        </p:txBody>
      </p:sp>
      <p:sp>
        <p:nvSpPr>
          <p:cNvPr id="1202" name="Google Shape;1202;p42"/>
          <p:cNvSpPr/>
          <p:nvPr/>
        </p:nvSpPr>
        <p:spPr>
          <a:xfrm>
            <a:off x="4829175" y="3705821"/>
            <a:ext cx="3879056" cy="164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Admin, moderatore, membro con permessi granulari e strumenti di moderazione.</a:t>
            </a:r>
            <a:endParaRPr b="0" i="0" sz="1200" u="none" cap="none" strike="noStrike"/>
          </a:p>
        </p:txBody>
      </p:sp>
      <p:sp>
        <p:nvSpPr>
          <p:cNvPr id="1203" name="Google Shape;1203;p42"/>
          <p:cNvSpPr/>
          <p:nvPr/>
        </p:nvSpPr>
        <p:spPr>
          <a:xfrm>
            <a:off x="289322" y="4275535"/>
            <a:ext cx="8565356" cy="578644"/>
          </a:xfrm>
          <a:custGeom>
            <a:rect b="b" l="l" r="r" t="t"/>
            <a:pathLst>
              <a:path extrusionOk="0" h="771525" w="1142047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2"/>
          <p:cNvSpPr/>
          <p:nvPr/>
        </p:nvSpPr>
        <p:spPr>
          <a:xfrm>
            <a:off x="410766" y="4479131"/>
            <a:ext cx="150019" cy="171450"/>
          </a:xfrm>
          <a:custGeom>
            <a:rect b="b" l="l" r="r" t="t"/>
            <a:pathLst>
              <a:path extrusionOk="0" h="228600" w="200025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42"/>
          <p:cNvSpPr/>
          <p:nvPr/>
        </p:nvSpPr>
        <p:spPr>
          <a:xfrm>
            <a:off x="678656" y="4364831"/>
            <a:ext cx="42076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Integrazioni Esterne</a:t>
            </a:r>
            <a:endParaRPr b="0" i="0" sz="1200" u="none" cap="none" strike="noStrike"/>
          </a:p>
        </p:txBody>
      </p:sp>
      <p:sp>
        <p:nvSpPr>
          <p:cNvPr id="1206" name="Google Shape;1206;p42"/>
          <p:cNvSpPr/>
          <p:nvPr/>
        </p:nvSpPr>
        <p:spPr>
          <a:xfrm>
            <a:off x="678656" y="4593431"/>
            <a:ext cx="4200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OAuth (Google Login), cloud storage (Google Drive), analytics (Google Analytics).</a:t>
            </a:r>
            <a:endParaRPr b="0" i="0" sz="1200" u="none" cap="none" strike="noStrike"/>
          </a:p>
        </p:txBody>
      </p:sp>
      <p:sp>
        <p:nvSpPr>
          <p:cNvPr id="1207" name="Google Shape;12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3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Considerations</a:t>
            </a:r>
            <a:endParaRPr b="0" i="0" sz="1200" u="none" cap="none" strike="noStrike"/>
          </a:p>
        </p:txBody>
      </p:sp>
      <p:sp>
        <p:nvSpPr>
          <p:cNvPr id="1214" name="Google Shape;1214;p43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0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Riflessioni sulla Sicurezza</a:t>
            </a:r>
            <a:endParaRPr b="0" i="0" sz="1200" u="none" cap="none" strike="noStrike"/>
          </a:p>
        </p:txBody>
      </p:sp>
      <p:sp>
        <p:nvSpPr>
          <p:cNvPr id="1215" name="Google Shape;1215;p43"/>
          <p:cNvSpPr/>
          <p:nvPr/>
        </p:nvSpPr>
        <p:spPr>
          <a:xfrm>
            <a:off x="300038" y="914400"/>
            <a:ext cx="5622131" cy="1857375"/>
          </a:xfrm>
          <a:custGeom>
            <a:rect b="b" l="l" r="r" t="t"/>
            <a:pathLst>
              <a:path extrusionOk="0" h="2476500" w="7496175">
                <a:moveTo>
                  <a:pt x="38100" y="0"/>
                </a:moveTo>
                <a:lnTo>
                  <a:pt x="7419973" y="0"/>
                </a:lnTo>
                <a:cubicBezTo>
                  <a:pt x="7462058" y="0"/>
                  <a:pt x="7496175" y="34117"/>
                  <a:pt x="7496175" y="76202"/>
                </a:cubicBezTo>
                <a:lnTo>
                  <a:pt x="7496175" y="2400298"/>
                </a:lnTo>
                <a:cubicBezTo>
                  <a:pt x="7496175" y="2442383"/>
                  <a:pt x="7462058" y="2476500"/>
                  <a:pt x="7419973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3"/>
          <p:cNvSpPr/>
          <p:nvPr/>
        </p:nvSpPr>
        <p:spPr>
          <a:xfrm>
            <a:off x="300038" y="914400"/>
            <a:ext cx="28575" cy="1857375"/>
          </a:xfrm>
          <a:custGeom>
            <a:rect b="b" l="l" r="r" t="t"/>
            <a:pathLst>
              <a:path extrusionOk="0" h="2476500" w="381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3"/>
          <p:cNvSpPr/>
          <p:nvPr/>
        </p:nvSpPr>
        <p:spPr>
          <a:xfrm>
            <a:off x="428625" y="1028700"/>
            <a:ext cx="54506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Sistema JWT - Punti di Forza</a:t>
            </a:r>
            <a:endParaRPr b="0" i="0" sz="1200" u="none" cap="none" strike="noStrike"/>
          </a:p>
        </p:txBody>
      </p:sp>
      <p:sp>
        <p:nvSpPr>
          <p:cNvPr id="1218" name="Google Shape;1218;p43"/>
          <p:cNvSpPr/>
          <p:nvPr/>
        </p:nvSpPr>
        <p:spPr>
          <a:xfrm>
            <a:off x="428625" y="1314450"/>
            <a:ext cx="54363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</a:t>
            </a:r>
            <a:r>
              <a:rPr b="1" i="0" lang="it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JSON Web Tokens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gestiscono sessioni in modo stateless. La firma crittografica garantisce che il token non sia stato modificato.</a:t>
            </a:r>
            <a:endParaRPr b="0" i="0" sz="1200" u="none" cap="none" strike="noStrike"/>
          </a:p>
        </p:txBody>
      </p:sp>
      <p:sp>
        <p:nvSpPr>
          <p:cNvPr id="1219" name="Google Shape;1219;p43"/>
          <p:cNvSpPr/>
          <p:nvPr/>
        </p:nvSpPr>
        <p:spPr>
          <a:xfrm>
            <a:off x="428625" y="1771650"/>
            <a:ext cx="5379244" cy="885825"/>
          </a:xfrm>
          <a:custGeom>
            <a:rect b="b" l="l" r="r" t="t"/>
            <a:pathLst>
              <a:path extrusionOk="0" h="1181100" w="7172325">
                <a:moveTo>
                  <a:pt x="38102" y="0"/>
                </a:moveTo>
                <a:lnTo>
                  <a:pt x="7134223" y="0"/>
                </a:lnTo>
                <a:cubicBezTo>
                  <a:pt x="7155252" y="0"/>
                  <a:pt x="7172325" y="17073"/>
                  <a:pt x="7172325" y="38102"/>
                </a:cubicBezTo>
                <a:lnTo>
                  <a:pt x="7172325" y="1142998"/>
                </a:lnTo>
                <a:cubicBezTo>
                  <a:pt x="7172325" y="1164041"/>
                  <a:pt x="7155266" y="1181100"/>
                  <a:pt x="7134223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3"/>
          <p:cNvSpPr/>
          <p:nvPr/>
        </p:nvSpPr>
        <p:spPr>
          <a:xfrm>
            <a:off x="514350" y="1857375"/>
            <a:ext cx="52649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Struttura JWT</a:t>
            </a:r>
            <a:endParaRPr b="0" i="0" sz="1200" u="none" cap="none" strike="noStrike"/>
          </a:p>
        </p:txBody>
      </p:sp>
      <p:sp>
        <p:nvSpPr>
          <p:cNvPr id="1221" name="Google Shape;1221;p43"/>
          <p:cNvSpPr/>
          <p:nvPr/>
        </p:nvSpPr>
        <p:spPr>
          <a:xfrm>
            <a:off x="514350" y="2085975"/>
            <a:ext cx="525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algoritmo e tipo</a:t>
            </a:r>
            <a:endParaRPr b="0" i="0" sz="1200" u="none" cap="none" strike="noStrike"/>
          </a:p>
        </p:txBody>
      </p:sp>
      <p:sp>
        <p:nvSpPr>
          <p:cNvPr id="1222" name="Google Shape;1222;p43"/>
          <p:cNvSpPr/>
          <p:nvPr/>
        </p:nvSpPr>
        <p:spPr>
          <a:xfrm>
            <a:off x="514350" y="2257425"/>
            <a:ext cx="525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Payload: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claims (sub, user_id, exp)</a:t>
            </a:r>
            <a:endParaRPr b="0" i="0" sz="1200" u="none" cap="none" strike="noStrike"/>
          </a:p>
        </p:txBody>
      </p:sp>
      <p:sp>
        <p:nvSpPr>
          <p:cNvPr id="1223" name="Google Shape;1223;p43"/>
          <p:cNvSpPr/>
          <p:nvPr/>
        </p:nvSpPr>
        <p:spPr>
          <a:xfrm>
            <a:off x="514350" y="2428875"/>
            <a:ext cx="525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Signature:</a:t>
            </a: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HMAC-SHA256</a:t>
            </a:r>
            <a:endParaRPr b="0" i="0" sz="1200" u="none" cap="none" strike="noStrike"/>
          </a:p>
        </p:txBody>
      </p:sp>
      <p:sp>
        <p:nvSpPr>
          <p:cNvPr id="1224" name="Google Shape;1224;p43"/>
          <p:cNvSpPr/>
          <p:nvPr/>
        </p:nvSpPr>
        <p:spPr>
          <a:xfrm>
            <a:off x="300050" y="2886075"/>
            <a:ext cx="5622131" cy="1595199"/>
          </a:xfrm>
          <a:custGeom>
            <a:rect b="b" l="l" r="r" t="t"/>
            <a:pathLst>
              <a:path extrusionOk="0" h="2000250" w="7496175">
                <a:moveTo>
                  <a:pt x="38100" y="0"/>
                </a:moveTo>
                <a:lnTo>
                  <a:pt x="7419965" y="0"/>
                </a:lnTo>
                <a:cubicBezTo>
                  <a:pt x="7462055" y="0"/>
                  <a:pt x="7496175" y="34120"/>
                  <a:pt x="7496175" y="76210"/>
                </a:cubicBezTo>
                <a:lnTo>
                  <a:pt x="7496175" y="1924040"/>
                </a:lnTo>
                <a:cubicBezTo>
                  <a:pt x="7496175" y="1966130"/>
                  <a:pt x="7462055" y="2000250"/>
                  <a:pt x="7419965" y="2000250"/>
                </a:cubicBezTo>
                <a:lnTo>
                  <a:pt x="38100" y="2000250"/>
                </a:lnTo>
                <a:cubicBezTo>
                  <a:pt x="17058" y="2000250"/>
                  <a:pt x="0" y="1983192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3"/>
          <p:cNvSpPr/>
          <p:nvPr/>
        </p:nvSpPr>
        <p:spPr>
          <a:xfrm>
            <a:off x="300050" y="2886075"/>
            <a:ext cx="28575" cy="1595199"/>
          </a:xfrm>
          <a:custGeom>
            <a:rect b="b" l="l" r="r" t="t"/>
            <a:pathLst>
              <a:path extrusionOk="0" h="2000250" w="38100">
                <a:moveTo>
                  <a:pt x="38100" y="0"/>
                </a:moveTo>
                <a:lnTo>
                  <a:pt x="38100" y="0"/>
                </a:lnTo>
                <a:lnTo>
                  <a:pt x="38100" y="2000250"/>
                </a:lnTo>
                <a:lnTo>
                  <a:pt x="38100" y="2000250"/>
                </a:lnTo>
                <a:cubicBezTo>
                  <a:pt x="17072" y="2000250"/>
                  <a:pt x="0" y="1983178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3"/>
          <p:cNvSpPr/>
          <p:nvPr/>
        </p:nvSpPr>
        <p:spPr>
          <a:xfrm>
            <a:off x="428625" y="3000375"/>
            <a:ext cx="54506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1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Token Theft - Rischi</a:t>
            </a:r>
            <a:endParaRPr b="0" i="0" sz="1200" u="none" cap="none" strike="noStrike"/>
          </a:p>
        </p:txBody>
      </p:sp>
      <p:sp>
        <p:nvSpPr>
          <p:cNvPr id="1227" name="Google Shape;1227;p43"/>
          <p:cNvSpPr/>
          <p:nvPr/>
        </p:nvSpPr>
        <p:spPr>
          <a:xfrm>
            <a:off x="428625" y="3286125"/>
            <a:ext cx="54363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payload JWT è </a:t>
            </a:r>
            <a:r>
              <a:rPr b="1" i="0" lang="it" sz="9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leggibile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(Base64). Se intercettato, un attacker può impersonare l'utente fino alla scadenza.</a:t>
            </a:r>
            <a:endParaRPr b="0" i="0" sz="1200" u="none" cap="none" strike="noStrike"/>
          </a:p>
        </p:txBody>
      </p:sp>
      <p:sp>
        <p:nvSpPr>
          <p:cNvPr id="1228" name="Google Shape;1228;p43"/>
          <p:cNvSpPr/>
          <p:nvPr/>
        </p:nvSpPr>
        <p:spPr>
          <a:xfrm>
            <a:off x="432197" y="3746897"/>
            <a:ext cx="2643188" cy="521494"/>
          </a:xfrm>
          <a:custGeom>
            <a:rect b="b" l="l" r="r" t="t"/>
            <a:pathLst>
              <a:path extrusionOk="0" h="695325" w="3524250">
                <a:moveTo>
                  <a:pt x="38097" y="0"/>
                </a:moveTo>
                <a:lnTo>
                  <a:pt x="3486153" y="0"/>
                </a:lnTo>
                <a:cubicBezTo>
                  <a:pt x="3507179" y="0"/>
                  <a:pt x="3524250" y="17071"/>
                  <a:pt x="3524250" y="38097"/>
                </a:cubicBezTo>
                <a:lnTo>
                  <a:pt x="3524250" y="657228"/>
                </a:lnTo>
                <a:cubicBezTo>
                  <a:pt x="3524250" y="678254"/>
                  <a:pt x="3507179" y="695325"/>
                  <a:pt x="3486153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3"/>
          <p:cNvSpPr/>
          <p:nvPr/>
        </p:nvSpPr>
        <p:spPr>
          <a:xfrm>
            <a:off x="535781" y="3868341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43"/>
          <p:cNvSpPr/>
          <p:nvPr/>
        </p:nvSpPr>
        <p:spPr>
          <a:xfrm>
            <a:off x="685800" y="3836194"/>
            <a:ext cx="23574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Rischio</a:t>
            </a:r>
            <a:endParaRPr b="0" i="0" sz="1200" u="none" cap="none" strike="noStrike"/>
          </a:p>
        </p:txBody>
      </p:sp>
      <p:sp>
        <p:nvSpPr>
          <p:cNvPr id="1231" name="Google Shape;1231;p43"/>
          <p:cNvSpPr/>
          <p:nvPr/>
        </p:nvSpPr>
        <p:spPr>
          <a:xfrm>
            <a:off x="521494" y="4036219"/>
            <a:ext cx="2514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XSS o traffico non criptato → furto token</a:t>
            </a:r>
            <a:endParaRPr b="0" i="0" sz="1200" u="none" cap="none" strike="noStrike"/>
          </a:p>
        </p:txBody>
      </p:sp>
      <p:sp>
        <p:nvSpPr>
          <p:cNvPr id="1232" name="Google Shape;1232;p43"/>
          <p:cNvSpPr/>
          <p:nvPr/>
        </p:nvSpPr>
        <p:spPr>
          <a:xfrm>
            <a:off x="3165853" y="3746897"/>
            <a:ext cx="2643188" cy="521494"/>
          </a:xfrm>
          <a:custGeom>
            <a:rect b="b" l="l" r="r" t="t"/>
            <a:pathLst>
              <a:path extrusionOk="0" h="695325" w="3524250">
                <a:moveTo>
                  <a:pt x="38097" y="0"/>
                </a:moveTo>
                <a:lnTo>
                  <a:pt x="3486153" y="0"/>
                </a:lnTo>
                <a:cubicBezTo>
                  <a:pt x="3507179" y="0"/>
                  <a:pt x="3524250" y="17071"/>
                  <a:pt x="3524250" y="38097"/>
                </a:cubicBezTo>
                <a:lnTo>
                  <a:pt x="3524250" y="657228"/>
                </a:lnTo>
                <a:cubicBezTo>
                  <a:pt x="3524250" y="678254"/>
                  <a:pt x="3507179" y="695325"/>
                  <a:pt x="3486153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cap="flat" cmpd="sng" w="12700">
            <a:solidFill>
              <a:srgbClr val="00C95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3"/>
          <p:cNvSpPr/>
          <p:nvPr/>
        </p:nvSpPr>
        <p:spPr>
          <a:xfrm>
            <a:off x="3269438" y="3868341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5DF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43"/>
          <p:cNvSpPr/>
          <p:nvPr/>
        </p:nvSpPr>
        <p:spPr>
          <a:xfrm>
            <a:off x="3419456" y="3836194"/>
            <a:ext cx="23574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05DF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Protezione</a:t>
            </a:r>
            <a:endParaRPr b="0" i="0" sz="1200" u="none" cap="none" strike="noStrike"/>
          </a:p>
        </p:txBody>
      </p:sp>
      <p:sp>
        <p:nvSpPr>
          <p:cNvPr id="1235" name="Google Shape;1235;p43"/>
          <p:cNvSpPr/>
          <p:nvPr/>
        </p:nvSpPr>
        <p:spPr>
          <a:xfrm>
            <a:off x="3255150" y="4036219"/>
            <a:ext cx="2514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Chiave segreta server previene forging</a:t>
            </a:r>
            <a:endParaRPr b="0" i="0" sz="1200" u="none" cap="none" strike="noStrike"/>
          </a:p>
        </p:txBody>
      </p:sp>
      <p:sp>
        <p:nvSpPr>
          <p:cNvPr id="1236" name="Google Shape;1236;p43"/>
          <p:cNvSpPr/>
          <p:nvPr/>
        </p:nvSpPr>
        <p:spPr>
          <a:xfrm>
            <a:off x="6042440" y="917972"/>
            <a:ext cx="2814638" cy="1378744"/>
          </a:xfrm>
          <a:custGeom>
            <a:rect b="b" l="l" r="r" t="t"/>
            <a:pathLst>
              <a:path extrusionOk="0" h="1838325" w="3752850">
                <a:moveTo>
                  <a:pt x="76199" y="0"/>
                </a:moveTo>
                <a:lnTo>
                  <a:pt x="3676651" y="0"/>
                </a:lnTo>
                <a:cubicBezTo>
                  <a:pt x="3718707" y="0"/>
                  <a:pt x="3752850" y="34143"/>
                  <a:pt x="3752850" y="76199"/>
                </a:cubicBezTo>
                <a:lnTo>
                  <a:pt x="3752850" y="1762126"/>
                </a:lnTo>
                <a:cubicBezTo>
                  <a:pt x="3752850" y="1804182"/>
                  <a:pt x="3718707" y="1838325"/>
                  <a:pt x="367665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3"/>
          <p:cNvSpPr/>
          <p:nvPr/>
        </p:nvSpPr>
        <p:spPr>
          <a:xfrm>
            <a:off x="6160313" y="1035844"/>
            <a:ext cx="26431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Best Practices</a:t>
            </a:r>
            <a:endParaRPr b="0" i="0" sz="1200" u="none" cap="none" strike="noStrike"/>
          </a:p>
        </p:txBody>
      </p:sp>
      <p:sp>
        <p:nvSpPr>
          <p:cNvPr id="1238" name="Google Shape;1238;p43"/>
          <p:cNvSpPr/>
          <p:nvPr/>
        </p:nvSpPr>
        <p:spPr>
          <a:xfrm>
            <a:off x="6174600" y="1350169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3"/>
          <p:cNvSpPr/>
          <p:nvPr/>
        </p:nvSpPr>
        <p:spPr>
          <a:xfrm>
            <a:off x="6360338" y="1321594"/>
            <a:ext cx="22145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HTTPS/WSS: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connessioni sempre criptate</a:t>
            </a:r>
            <a:endParaRPr b="0" i="0" sz="1200" u="none" cap="none" strike="noStrike"/>
          </a:p>
        </p:txBody>
      </p:sp>
      <p:sp>
        <p:nvSpPr>
          <p:cNvPr id="1240" name="Google Shape;1240;p43"/>
          <p:cNvSpPr/>
          <p:nvPr/>
        </p:nvSpPr>
        <p:spPr>
          <a:xfrm>
            <a:off x="6174600" y="1578769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3"/>
          <p:cNvSpPr/>
          <p:nvPr/>
        </p:nvSpPr>
        <p:spPr>
          <a:xfrm>
            <a:off x="6360351" y="1550200"/>
            <a:ext cx="2291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Short expir</a:t>
            </a:r>
            <a:r>
              <a:rPr b="1" lang="it" sz="900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ation</a:t>
            </a: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token con scadenza breve</a:t>
            </a:r>
            <a:endParaRPr b="0" i="0" sz="1200" u="none" cap="none" strike="noStrike"/>
          </a:p>
        </p:txBody>
      </p:sp>
      <p:sp>
        <p:nvSpPr>
          <p:cNvPr id="1242" name="Google Shape;1242;p43"/>
          <p:cNvSpPr/>
          <p:nvPr/>
        </p:nvSpPr>
        <p:spPr>
          <a:xfrm>
            <a:off x="6174600" y="1807369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3"/>
          <p:cNvSpPr/>
          <p:nvPr/>
        </p:nvSpPr>
        <p:spPr>
          <a:xfrm>
            <a:off x="6360338" y="1778794"/>
            <a:ext cx="19216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Refresh tokens: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rotazione periodica</a:t>
            </a:r>
            <a:endParaRPr b="0" i="0" sz="1200" u="none" cap="none" strike="noStrike"/>
          </a:p>
        </p:txBody>
      </p:sp>
      <p:sp>
        <p:nvSpPr>
          <p:cNvPr id="1244" name="Google Shape;1244;p43"/>
          <p:cNvSpPr/>
          <p:nvPr/>
        </p:nvSpPr>
        <p:spPr>
          <a:xfrm>
            <a:off x="6174600" y="2035969"/>
            <a:ext cx="114300" cy="1143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3"/>
          <p:cNvSpPr/>
          <p:nvPr/>
        </p:nvSpPr>
        <p:spPr>
          <a:xfrm>
            <a:off x="6360338" y="2007394"/>
            <a:ext cx="18645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HttpOnly cookies:</a:t>
            </a:r>
            <a:r>
              <a:rPr b="0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protezione XSS</a:t>
            </a:r>
            <a:endParaRPr b="0" i="0" sz="1200" u="none" cap="none" strike="noStrike"/>
          </a:p>
        </p:txBody>
      </p:sp>
      <p:sp>
        <p:nvSpPr>
          <p:cNvPr id="1246" name="Google Shape;1246;p43"/>
          <p:cNvSpPr/>
          <p:nvPr/>
        </p:nvSpPr>
        <p:spPr>
          <a:xfrm>
            <a:off x="6038869" y="2414588"/>
            <a:ext cx="2821781" cy="1014413"/>
          </a:xfrm>
          <a:custGeom>
            <a:rect b="b" l="l" r="r" t="t"/>
            <a:pathLst>
              <a:path extrusionOk="0" h="1352550" w="3762375">
                <a:moveTo>
                  <a:pt x="76203" y="0"/>
                </a:moveTo>
                <a:lnTo>
                  <a:pt x="3686172" y="0"/>
                </a:lnTo>
                <a:cubicBezTo>
                  <a:pt x="3728258" y="0"/>
                  <a:pt x="3762375" y="34117"/>
                  <a:pt x="3762375" y="76203"/>
                </a:cubicBezTo>
                <a:lnTo>
                  <a:pt x="3762375" y="1276347"/>
                </a:lnTo>
                <a:cubicBezTo>
                  <a:pt x="3762375" y="1318433"/>
                  <a:pt x="3728258" y="1352550"/>
                  <a:pt x="368617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43"/>
          <p:cNvSpPr/>
          <p:nvPr/>
        </p:nvSpPr>
        <p:spPr>
          <a:xfrm>
            <a:off x="6153169" y="2528888"/>
            <a:ext cx="2650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Certificati TLS</a:t>
            </a:r>
            <a:endParaRPr b="0" i="0" sz="1200" u="none" cap="none" strike="noStrike"/>
          </a:p>
        </p:txBody>
      </p:sp>
      <p:sp>
        <p:nvSpPr>
          <p:cNvPr id="1248" name="Google Shape;1248;p43"/>
          <p:cNvSpPr/>
          <p:nvPr/>
        </p:nvSpPr>
        <p:spPr>
          <a:xfrm>
            <a:off x="6153169" y="2757488"/>
            <a:ext cx="2643188" cy="32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 HTTPS serve un certificato ufficiale rilasciato da una Certification Authority (CA).</a:t>
            </a:r>
            <a:endParaRPr b="0" i="0" sz="1200" u="none" cap="none" strike="noStrike"/>
          </a:p>
        </p:txBody>
      </p:sp>
      <p:sp>
        <p:nvSpPr>
          <p:cNvPr id="1249" name="Google Shape;1249;p43"/>
          <p:cNvSpPr/>
          <p:nvPr/>
        </p:nvSpPr>
        <p:spPr>
          <a:xfrm>
            <a:off x="6153169" y="3139678"/>
            <a:ext cx="607219" cy="171450"/>
          </a:xfrm>
          <a:custGeom>
            <a:rect b="b" l="l" r="r" t="t"/>
            <a:pathLst>
              <a:path extrusionOk="0" h="228600" w="809625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190499"/>
                </a:lnTo>
                <a:cubicBezTo>
                  <a:pt x="809625" y="211542"/>
                  <a:pt x="792567" y="228600"/>
                  <a:pt x="771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3"/>
          <p:cNvSpPr/>
          <p:nvPr/>
        </p:nvSpPr>
        <p:spPr>
          <a:xfrm>
            <a:off x="6153169" y="3139678"/>
            <a:ext cx="6500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7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Let's Encrypt</a:t>
            </a:r>
            <a:endParaRPr b="0" i="0" sz="1200" u="none" cap="none" strike="noStrike"/>
          </a:p>
        </p:txBody>
      </p:sp>
      <p:sp>
        <p:nvSpPr>
          <p:cNvPr id="1251" name="Google Shape;1251;p43"/>
          <p:cNvSpPr/>
          <p:nvPr/>
        </p:nvSpPr>
        <p:spPr>
          <a:xfrm>
            <a:off x="6817481" y="3139678"/>
            <a:ext cx="507206" cy="171450"/>
          </a:xfrm>
          <a:custGeom>
            <a:rect b="b" l="l" r="r" t="t"/>
            <a:pathLst>
              <a:path extrusionOk="0" h="228600" w="676275">
                <a:moveTo>
                  <a:pt x="38101" y="0"/>
                </a:moveTo>
                <a:lnTo>
                  <a:pt x="638174" y="0"/>
                </a:lnTo>
                <a:cubicBezTo>
                  <a:pt x="659217" y="0"/>
                  <a:pt x="676275" y="17058"/>
                  <a:pt x="676275" y="38101"/>
                </a:cubicBezTo>
                <a:lnTo>
                  <a:pt x="676275" y="190499"/>
                </a:lnTo>
                <a:cubicBezTo>
                  <a:pt x="676275" y="211542"/>
                  <a:pt x="659217" y="228600"/>
                  <a:pt x="6381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3"/>
          <p:cNvSpPr/>
          <p:nvPr/>
        </p:nvSpPr>
        <p:spPr>
          <a:xfrm>
            <a:off x="6817481" y="3139678"/>
            <a:ext cx="5500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7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Cloudflare</a:t>
            </a:r>
            <a:endParaRPr b="0" i="0" sz="1200" u="none" cap="none" strike="noStrike"/>
          </a:p>
        </p:txBody>
      </p:sp>
      <p:sp>
        <p:nvSpPr>
          <p:cNvPr id="1253" name="Google Shape;1253;p43"/>
          <p:cNvSpPr/>
          <p:nvPr/>
        </p:nvSpPr>
        <p:spPr>
          <a:xfrm>
            <a:off x="6038869" y="3539728"/>
            <a:ext cx="2821781" cy="942975"/>
          </a:xfrm>
          <a:custGeom>
            <a:rect b="b" l="l" r="r" t="t"/>
            <a:pathLst>
              <a:path extrusionOk="0" h="1257300" w="3762375">
                <a:moveTo>
                  <a:pt x="76205" y="0"/>
                </a:moveTo>
                <a:lnTo>
                  <a:pt x="3686170" y="0"/>
                </a:lnTo>
                <a:cubicBezTo>
                  <a:pt x="3728257" y="0"/>
                  <a:pt x="3762375" y="34118"/>
                  <a:pt x="3762375" y="76205"/>
                </a:cubicBezTo>
                <a:lnTo>
                  <a:pt x="3762375" y="1181095"/>
                </a:lnTo>
                <a:cubicBezTo>
                  <a:pt x="3762375" y="1223182"/>
                  <a:pt x="3728257" y="1257300"/>
                  <a:pt x="36861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3"/>
          <p:cNvSpPr/>
          <p:nvPr/>
        </p:nvSpPr>
        <p:spPr>
          <a:xfrm>
            <a:off x="6153169" y="3654028"/>
            <a:ext cx="2650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Implementazione Attuale</a:t>
            </a:r>
            <a:endParaRPr b="0" i="0" sz="1200" u="none" cap="none" strike="noStrike"/>
          </a:p>
        </p:txBody>
      </p:sp>
      <p:sp>
        <p:nvSpPr>
          <p:cNvPr id="1255" name="Google Shape;1255;p43"/>
          <p:cNvSpPr/>
          <p:nvPr/>
        </p:nvSpPr>
        <p:spPr>
          <a:xfrm>
            <a:off x="6173707" y="3907631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3"/>
          <p:cNvSpPr/>
          <p:nvPr/>
        </p:nvSpPr>
        <p:spPr>
          <a:xfrm>
            <a:off x="6303188" y="3882629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Token in chiaro (sviluppo)</a:t>
            </a:r>
            <a:endParaRPr b="0" i="0" sz="1200" u="none" cap="none" strike="noStrike"/>
          </a:p>
        </p:txBody>
      </p:sp>
      <p:sp>
        <p:nvSpPr>
          <p:cNvPr id="1257" name="Google Shape;1257;p43"/>
          <p:cNvSpPr/>
          <p:nvPr/>
        </p:nvSpPr>
        <p:spPr>
          <a:xfrm>
            <a:off x="6173707" y="4079081"/>
            <a:ext cx="87511" cy="100013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3"/>
          <p:cNvSpPr/>
          <p:nvPr/>
        </p:nvSpPr>
        <p:spPr>
          <a:xfrm>
            <a:off x="6303188" y="4054079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Scadenza 24 ore</a:t>
            </a:r>
            <a:endParaRPr b="0" i="0" sz="1200" u="none" cap="none" strike="noStrike"/>
          </a:p>
        </p:txBody>
      </p:sp>
      <p:sp>
        <p:nvSpPr>
          <p:cNvPr id="1259" name="Google Shape;1259;p43"/>
          <p:cNvSpPr/>
          <p:nvPr/>
        </p:nvSpPr>
        <p:spPr>
          <a:xfrm>
            <a:off x="6179958" y="4250531"/>
            <a:ext cx="75010" cy="100013"/>
          </a:xfrm>
          <a:custGeom>
            <a:rect b="b" l="l" r="r" t="t"/>
            <a:pathLst>
              <a:path extrusionOk="0" h="133350" w="100013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3"/>
          <p:cNvSpPr/>
          <p:nvPr/>
        </p:nvSpPr>
        <p:spPr>
          <a:xfrm>
            <a:off x="6303188" y="4225529"/>
            <a:ext cx="24931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 non implementato</a:t>
            </a:r>
            <a:endParaRPr b="0" i="0" sz="1200" u="none" cap="none" strike="noStrike"/>
          </a:p>
        </p:txBody>
      </p:sp>
      <p:sp>
        <p:nvSpPr>
          <p:cNvPr id="1261" name="Google Shape;126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44"/>
          <p:cNvPicPr preferRelativeResize="0"/>
          <p:nvPr/>
        </p:nvPicPr>
        <p:blipFill rotWithShape="1">
          <a:blip r:embed="rId3">
            <a:alphaModFix/>
          </a:blip>
          <a:srcRect b="1209" l="0" r="0" t="1209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268" name="Google Shape;1268;p44"/>
          <p:cNvSpPr/>
          <p:nvPr/>
        </p:nvSpPr>
        <p:spPr>
          <a:xfrm>
            <a:off x="0" y="-12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0196"/>
                </a:srgbClr>
              </a:gs>
              <a:gs pos="50000">
                <a:srgbClr val="1A1D21">
                  <a:alpha val="70196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269" name="Google Shape;1269;p44"/>
          <p:cNvSpPr/>
          <p:nvPr/>
        </p:nvSpPr>
        <p:spPr>
          <a:xfrm>
            <a:off x="4228307" y="678656"/>
            <a:ext cx="685800" cy="685800"/>
          </a:xfrm>
          <a:custGeom>
            <a:rect b="b" l="l" r="r" t="t"/>
            <a:pathLst>
              <a:path extrusionOk="0" h="914400" w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4"/>
          <p:cNvSpPr/>
          <p:nvPr/>
        </p:nvSpPr>
        <p:spPr>
          <a:xfrm>
            <a:off x="4378326" y="850106"/>
            <a:ext cx="385763" cy="342900"/>
          </a:xfrm>
          <a:custGeom>
            <a:rect b="b" l="l" r="r" t="t"/>
            <a:pathLst>
              <a:path extrusionOk="0" h="457200" w="51435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4"/>
          <p:cNvSpPr/>
          <p:nvPr/>
        </p:nvSpPr>
        <p:spPr>
          <a:xfrm>
            <a:off x="0" y="1535900"/>
            <a:ext cx="914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4100" u="none" cap="none" strike="noStrike">
                <a:solidFill>
                  <a:srgbClr val="E8E9EA"/>
                </a:solidFill>
                <a:latin typeface="Noto Sans SC"/>
                <a:ea typeface="Noto Sans SC"/>
                <a:cs typeface="Noto Sans SC"/>
                <a:sym typeface="Noto Sans SC"/>
              </a:rPr>
              <a:t>Grazie per l'attenzione</a:t>
            </a:r>
            <a:endParaRPr b="0" i="0" sz="1200" u="none" cap="none" strike="noStrike"/>
          </a:p>
        </p:txBody>
      </p:sp>
      <p:sp>
        <p:nvSpPr>
          <p:cNvPr id="1272" name="Google Shape;1272;p44"/>
          <p:cNvSpPr/>
          <p:nvPr/>
        </p:nvSpPr>
        <p:spPr>
          <a:xfrm>
            <a:off x="1785903" y="2239594"/>
            <a:ext cx="5572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E8E9EA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Domande?</a:t>
            </a:r>
            <a:endParaRPr b="0" i="0" sz="1200" u="none" cap="none" strike="noStrike"/>
          </a:p>
        </p:txBody>
      </p:sp>
      <p:sp>
        <p:nvSpPr>
          <p:cNvPr id="1273" name="Google Shape;1273;p44"/>
          <p:cNvSpPr/>
          <p:nvPr/>
        </p:nvSpPr>
        <p:spPr>
          <a:xfrm>
            <a:off x="2175272" y="2685903"/>
            <a:ext cx="4793456" cy="1150144"/>
          </a:xfrm>
          <a:custGeom>
            <a:rect b="b" l="l" r="r" t="t"/>
            <a:pathLst>
              <a:path extrusionOk="0" h="1533525" w="6391275">
                <a:moveTo>
                  <a:pt x="76201" y="0"/>
                </a:moveTo>
                <a:lnTo>
                  <a:pt x="6315074" y="0"/>
                </a:lnTo>
                <a:cubicBezTo>
                  <a:pt x="6357131" y="0"/>
                  <a:pt x="6391275" y="34144"/>
                  <a:pt x="6391275" y="76201"/>
                </a:cubicBezTo>
                <a:lnTo>
                  <a:pt x="6391275" y="1457324"/>
                </a:lnTo>
                <a:cubicBezTo>
                  <a:pt x="6391275" y="1499381"/>
                  <a:pt x="6357131" y="1533525"/>
                  <a:pt x="6315074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cap="flat" cmpd="sng" w="12700">
            <a:solidFill>
              <a:srgbClr val="D9770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4"/>
          <p:cNvSpPr/>
          <p:nvPr/>
        </p:nvSpPr>
        <p:spPr>
          <a:xfrm>
            <a:off x="2314575" y="2860925"/>
            <a:ext cx="451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Progetto Ruggine - Gruppo 50</a:t>
            </a:r>
            <a:endParaRPr b="0" i="0" sz="1200" u="none" cap="none" strike="noStrike"/>
          </a:p>
        </p:txBody>
      </p:sp>
      <p:sp>
        <p:nvSpPr>
          <p:cNvPr id="1275" name="Google Shape;1275;p44"/>
          <p:cNvSpPr/>
          <p:nvPr/>
        </p:nvSpPr>
        <p:spPr>
          <a:xfrm>
            <a:off x="2321719" y="3175250"/>
            <a:ext cx="122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Alessandro Annecchini</a:t>
            </a:r>
            <a:endParaRPr b="0" i="0" sz="1200" u="none" cap="none" strike="noStrike"/>
          </a:p>
        </p:txBody>
      </p:sp>
      <p:sp>
        <p:nvSpPr>
          <p:cNvPr id="1276" name="Google Shape;1276;p44"/>
          <p:cNvSpPr/>
          <p:nvPr/>
        </p:nvSpPr>
        <p:spPr>
          <a:xfrm>
            <a:off x="2325291" y="3518150"/>
            <a:ext cx="122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s343760</a:t>
            </a:r>
            <a:endParaRPr b="0" i="0" sz="1200" u="none" cap="none" strike="noStrike"/>
          </a:p>
        </p:txBody>
      </p:sp>
      <p:sp>
        <p:nvSpPr>
          <p:cNvPr id="1277" name="Google Shape;1277;p44"/>
          <p:cNvSpPr/>
          <p:nvPr/>
        </p:nvSpPr>
        <p:spPr>
          <a:xfrm>
            <a:off x="3722731" y="3175250"/>
            <a:ext cx="9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Riccardo Marconi</a:t>
            </a:r>
            <a:endParaRPr b="0" i="0" sz="1200" u="none" cap="none" strike="noStrike"/>
          </a:p>
        </p:txBody>
      </p:sp>
      <p:sp>
        <p:nvSpPr>
          <p:cNvPr id="1278" name="Google Shape;1278;p44"/>
          <p:cNvSpPr/>
          <p:nvPr/>
        </p:nvSpPr>
        <p:spPr>
          <a:xfrm>
            <a:off x="3726303" y="3518150"/>
            <a:ext cx="935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s342227</a:t>
            </a:r>
            <a:endParaRPr b="0" i="0" sz="1200" u="none" cap="none" strike="noStrike"/>
          </a:p>
        </p:txBody>
      </p:sp>
      <p:sp>
        <p:nvSpPr>
          <p:cNvPr id="1279" name="Google Shape;1279;p44"/>
          <p:cNvSpPr/>
          <p:nvPr/>
        </p:nvSpPr>
        <p:spPr>
          <a:xfrm>
            <a:off x="4836486" y="3175250"/>
            <a:ext cx="110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Francesco Palmisani</a:t>
            </a:r>
            <a:endParaRPr b="0" i="0" sz="1200" u="none" cap="none" strike="noStrike"/>
          </a:p>
        </p:txBody>
      </p:sp>
      <p:sp>
        <p:nvSpPr>
          <p:cNvPr id="1280" name="Google Shape;1280;p44"/>
          <p:cNvSpPr/>
          <p:nvPr/>
        </p:nvSpPr>
        <p:spPr>
          <a:xfrm>
            <a:off x="4840058" y="3518150"/>
            <a:ext cx="1100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s343429</a:t>
            </a:r>
            <a:endParaRPr b="0" i="0" sz="1200" u="none" cap="none" strike="noStrike"/>
          </a:p>
        </p:txBody>
      </p:sp>
      <p:sp>
        <p:nvSpPr>
          <p:cNvPr id="1281" name="Google Shape;1281;p44"/>
          <p:cNvSpPr/>
          <p:nvPr/>
        </p:nvSpPr>
        <p:spPr>
          <a:xfrm>
            <a:off x="6114604" y="3175250"/>
            <a:ext cx="7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Giosuè Pinto</a:t>
            </a:r>
            <a:endParaRPr b="0" i="0" sz="1200" u="none" cap="none" strike="noStrike"/>
          </a:p>
        </p:txBody>
      </p:sp>
      <p:sp>
        <p:nvSpPr>
          <p:cNvPr id="1282" name="Google Shape;1282;p44"/>
          <p:cNvSpPr/>
          <p:nvPr/>
        </p:nvSpPr>
        <p:spPr>
          <a:xfrm>
            <a:off x="6118175" y="3518150"/>
            <a:ext cx="700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s342711</a:t>
            </a:r>
            <a:endParaRPr b="0" i="0" sz="1200" u="none" cap="none" strike="noStrike"/>
          </a:p>
        </p:txBody>
      </p:sp>
      <p:sp>
        <p:nvSpPr>
          <p:cNvPr id="1283" name="Google Shape;1283;p44"/>
          <p:cNvSpPr/>
          <p:nvPr/>
        </p:nvSpPr>
        <p:spPr>
          <a:xfrm>
            <a:off x="3197285" y="4025244"/>
            <a:ext cx="283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000" u="none" cap="none" strike="noStrike">
                <a:solidFill>
                  <a:srgbClr val="E8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Corso di Programmazione di Sistema 2025/2026</a:t>
            </a:r>
            <a:endParaRPr b="0" i="0" sz="1200" u="none" cap="none" strike="noStrike"/>
          </a:p>
        </p:txBody>
      </p:sp>
      <p:pic>
        <p:nvPicPr>
          <p:cNvPr id="1284" name="Google Shape;128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4223" y="4352800"/>
            <a:ext cx="1562301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